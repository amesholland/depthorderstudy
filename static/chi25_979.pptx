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sldIdLst>
    <p:sldId id="259" r:id="rId2"/>
    <p:sldId id="412" r:id="rId3"/>
    <p:sldId id="434" r:id="rId4"/>
    <p:sldId id="437" r:id="rId5"/>
    <p:sldId id="413" r:id="rId6"/>
    <p:sldId id="418" r:id="rId7"/>
    <p:sldId id="429" r:id="rId8"/>
    <p:sldId id="419" r:id="rId9"/>
    <p:sldId id="438" r:id="rId10"/>
    <p:sldId id="423" r:id="rId11"/>
    <p:sldId id="298" r:id="rId12"/>
    <p:sldId id="436" r:id="rId13"/>
    <p:sldId id="439" r:id="rId14"/>
    <p:sldId id="445" r:id="rId15"/>
    <p:sldId id="425" r:id="rId16"/>
    <p:sldId id="295" r:id="rId17"/>
    <p:sldId id="296" r:id="rId18"/>
    <p:sldId id="446" r:id="rId19"/>
    <p:sldId id="444" r:id="rId20"/>
    <p:sldId id="306" r:id="rId21"/>
    <p:sldId id="307" r:id="rId22"/>
    <p:sldId id="308" r:id="rId23"/>
    <p:sldId id="310" r:id="rId24"/>
    <p:sldId id="311" r:id="rId25"/>
    <p:sldId id="313" r:id="rId26"/>
    <p:sldId id="315" r:id="rId27"/>
    <p:sldId id="312" r:id="rId28"/>
    <p:sldId id="447" r:id="rId29"/>
    <p:sldId id="319" r:id="rId30"/>
    <p:sldId id="275" r:id="rId31"/>
    <p:sldId id="318" r:id="rId32"/>
    <p:sldId id="276" r:id="rId3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琼" initials="琼" lastIdx="1" clrIdx="0">
    <p:extLst>
      <p:ext uri="{19B8F6BF-5375-455C-9EA6-DF929625EA0E}">
        <p15:presenceInfo xmlns:p15="http://schemas.microsoft.com/office/powerpoint/2012/main" userId="f2337c590cd8266a" providerId="Windows Live"/>
      </p:ext>
    </p:extLst>
  </p:cmAuthor>
  <p:cmAuthor id="2" name="致远 孟" initials="致远" lastIdx="1" clrIdx="1">
    <p:extLst>
      <p:ext uri="{19B8F6BF-5375-455C-9EA6-DF929625EA0E}">
        <p15:presenceInfo xmlns:p15="http://schemas.microsoft.com/office/powerpoint/2012/main" userId="1e2bde269981da7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1933F7"/>
    <a:srgbClr val="0059FF"/>
    <a:srgbClr val="31B52F"/>
    <a:srgbClr val="FF150F"/>
    <a:srgbClr val="8C3BA0"/>
    <a:srgbClr val="FFF500"/>
    <a:srgbClr val="FFAAD1"/>
    <a:srgbClr val="FF3300"/>
    <a:srgbClr val="EA6D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48"/>
    <p:restoredTop sz="80012" autoAdjust="0"/>
  </p:normalViewPr>
  <p:slideViewPr>
    <p:cSldViewPr snapToGrid="0">
      <p:cViewPr varScale="1">
        <p:scale>
          <a:sx n="122" d="100"/>
          <a:sy n="122" d="100"/>
        </p:scale>
        <p:origin x="1416" y="57"/>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1ED23E-AD51-43CE-9DB7-32479BAB5E73}" type="datetimeFigureOut">
              <a:rPr lang="zh-CN" altLang="en-US" smtClean="0"/>
              <a:t>2025/3/10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DA68BC-7AF4-4170-BD90-381677BFB93D}" type="slidenum">
              <a:rPr lang="zh-CN" altLang="en-US" smtClean="0"/>
              <a:t>‹#›</a:t>
            </a:fld>
            <a:endParaRPr lang="zh-CN" altLang="en-US"/>
          </a:p>
        </p:txBody>
      </p:sp>
    </p:spTree>
    <p:extLst>
      <p:ext uri="{BB962C8B-B14F-4D97-AF65-F5344CB8AC3E}">
        <p14:creationId xmlns:p14="http://schemas.microsoft.com/office/powerpoint/2010/main" val="3499831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1</a:t>
            </a:fld>
            <a:endParaRPr lang="zh-CN" altLang="en-US"/>
          </a:p>
        </p:txBody>
      </p:sp>
    </p:spTree>
    <p:extLst>
      <p:ext uri="{BB962C8B-B14F-4D97-AF65-F5344CB8AC3E}">
        <p14:creationId xmlns:p14="http://schemas.microsoft.com/office/powerpoint/2010/main" val="1479023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Semi-transparent visualization uses color and opacity for visual representation and can support a clear visualization of overlapped information in space, which is broadly applied in visual analytics for complex dataset.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24168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The effectiveness of semi-transparent visualization heavily relies on the choice of color and opacity in visual glyphs.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1800" dirty="0">
                <a:solidFill>
                  <a:srgbClr val="000000"/>
                </a:solidFill>
                <a:effectLst/>
                <a:latin typeface="等线" panose="02010600030101010101" pitchFamily="2" charset="-122"/>
                <a:cs typeface="Times New Roman" panose="02020603050405020304" pitchFamily="18" charset="0"/>
              </a:rPr>
              <a:t>Reasonable color and opacity settings can show correct depth layers in overlapped spaces and improve data understanding</a:t>
            </a:r>
            <a:endParaRPr lang="en-US" altLang="zh-CN" sz="1800" dirty="0">
              <a:latin typeface="Calibri" panose="020F0502020204030204" pitchFamily="34" charset="0"/>
              <a:cs typeface="Calibri" panose="020F050202020403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80483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While inappropriate settings may show wrong depth layer perception and cause visual clutter in semi-transparent visualization.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5433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2800" dirty="0">
                <a:latin typeface="Calibri" panose="020F0502020204030204" pitchFamily="34" charset="0"/>
                <a:cs typeface="Calibri" panose="020F0502020204030204" pitchFamily="34" charset="0"/>
              </a:rPr>
              <a:t>This problem becomes more severe in realistic visualization applications.</a:t>
            </a:r>
          </a:p>
          <a:p>
            <a:pPr marL="0" indent="0" algn="just">
              <a:lnSpc>
                <a:spcPct val="100000"/>
              </a:lnSpc>
              <a:buFont typeface="Arial" panose="020B0604020202020204" pitchFamily="34" charset="0"/>
              <a:buNone/>
            </a:pPr>
            <a:endParaRPr lang="en-US" altLang="zh-CN" sz="1800" dirty="0">
              <a:latin typeface="Calibri" panose="020F0502020204030204" pitchFamily="34" charset="0"/>
              <a:cs typeface="Calibri" panose="020F050202020403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72426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a typical procedure for achieving an appropriate semi-transparent visualization: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the opacity design stage, to preserve their original front-to-back depth order as much as possible, we need to set appropriate opacity for the colors.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Therefore, when choosing color and opacity combinations, we should carefully consider the following questions: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What colors and opacities should I use to make people perceive correct depth orders?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Or, from another perspective. </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What depth orders might be perceived by users?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67930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Previous studies have proposed a set of empirical design guidelines for semi-transparent visualizations</a:t>
            </a:r>
            <a:r>
              <a:rPr lang="en-US" altLang="zh-CN" sz="1800" kern="100" dirty="0">
                <a:solidFill>
                  <a:srgbClr val="C45911"/>
                </a:solidFill>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B4DA68BC-7AF4-4170-BD90-381677BFB93D}" type="slidenum">
              <a:rPr lang="zh-CN" altLang="en-US" smtClean="0"/>
              <a:t>7</a:t>
            </a:fld>
            <a:endParaRPr lang="zh-CN" altLang="en-US"/>
          </a:p>
        </p:txBody>
      </p:sp>
    </p:spTree>
    <p:extLst>
      <p:ext uri="{BB962C8B-B14F-4D97-AF65-F5344CB8AC3E}">
        <p14:creationId xmlns:p14="http://schemas.microsoft.com/office/powerpoint/2010/main" val="2797938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buFont typeface="Arial" panose="020B0604020202020204" pitchFamily="34" charset="0"/>
              <a:buNone/>
            </a:pPr>
            <a:r>
              <a:rPr lang="en-US" altLang="zh-CN" sz="1800" dirty="0">
                <a:effectLst/>
                <a:latin typeface="等线" panose="02010600030101010101" pitchFamily="2" charset="-122"/>
                <a:cs typeface="Times New Roman" panose="02020603050405020304" pitchFamily="18" charset="0"/>
              </a:rPr>
              <a:t>However, </a:t>
            </a:r>
            <a:r>
              <a:rPr lang="en-US" altLang="zh-CN" sz="1800" kern="0" dirty="0">
                <a:effectLst/>
                <a:latin typeface="LinLibertineT"/>
                <a:cs typeface="LinLibertineT"/>
              </a:rPr>
              <a:t>these considerations reveal two primary limitations of existing studies: </a:t>
            </a:r>
            <a:r>
              <a:rPr lang="en-US" altLang="zh-CN" sz="1800" dirty="0">
                <a:effectLst/>
                <a:latin typeface="等线" panose="02010600030101010101" pitchFamily="2" charset="-122"/>
                <a:cs typeface="Times New Roman" panose="02020603050405020304" pitchFamily="18" charset="0"/>
              </a:rPr>
              <a:t>they often overlook interaction effects, and they produce conflicting design recommendations.</a:t>
            </a:r>
            <a:r>
              <a:rPr lang="en-US" altLang="zh-CN" sz="1800" dirty="0">
                <a:solidFill>
                  <a:srgbClr val="000000"/>
                </a:solidFill>
                <a:effectLst/>
                <a:latin typeface="等线" panose="02010600030101010101" pitchFamily="2" charset="-122"/>
                <a:cs typeface="Times New Roman" panose="02020603050405020304" pitchFamily="18" charset="0"/>
              </a:rPr>
              <a:t> </a:t>
            </a:r>
            <a:endParaRPr lang="en-US" altLang="zh-CN" sz="1800" dirty="0">
              <a:latin typeface="Calibri" panose="020F0502020204030204" pitchFamily="34" charset="0"/>
              <a:cs typeface="Calibri" panose="020F050202020403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99415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solidFill>
                  <a:srgbClr val="000000"/>
                </a:solidFill>
                <a:effectLst/>
                <a:latin typeface="等线" panose="02010600030101010101" pitchFamily="2" charset="-122"/>
                <a:cs typeface="Times New Roman" panose="02020603050405020304" pitchFamily="18" charset="0"/>
              </a:rPr>
              <a:t>Thus</a:t>
            </a:r>
            <a:r>
              <a:rPr lang="zh-CN" altLang="zh-CN" sz="1800" dirty="0">
                <a:solidFill>
                  <a:srgbClr val="000000"/>
                </a:solidFill>
                <a:effectLst/>
                <a:ea typeface="等线" panose="02010600030101010101" pitchFamily="2" charset="-122"/>
                <a:cs typeface="Times New Roman" panose="02020603050405020304" pitchFamily="18" charset="0"/>
              </a:rPr>
              <a:t>，</a:t>
            </a:r>
            <a:r>
              <a:rPr lang="en-US" altLang="zh-CN" sz="1800" dirty="0">
                <a:solidFill>
                  <a:srgbClr val="000000"/>
                </a:solidFill>
                <a:effectLst/>
                <a:ea typeface="等线" panose="02010600030101010101" pitchFamily="2" charset="-122"/>
                <a:cs typeface="Times New Roman" panose="02020603050405020304" pitchFamily="18" charset="0"/>
              </a:rPr>
              <a:t>in this study, we mainly explore the following research question: </a:t>
            </a:r>
            <a:r>
              <a:rPr lang="en-US" altLang="zh-CN" sz="1800" i="1" dirty="0">
                <a:solidFill>
                  <a:srgbClr val="000000"/>
                </a:solidFill>
                <a:effectLst/>
                <a:ea typeface="等线" panose="02010600030101010101" pitchFamily="2" charset="-122"/>
                <a:cs typeface="Times New Roman" panose="02020603050405020304" pitchFamily="18" charset="0"/>
              </a:rPr>
              <a:t>What are the impacts of color, opacity, and their interaction on depth order perception?</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9</a:t>
            </a:fld>
            <a:endParaRPr lang="zh-CN" altLang="en-US"/>
          </a:p>
        </p:txBody>
      </p:sp>
    </p:spTree>
    <p:extLst>
      <p:ext uri="{BB962C8B-B14F-4D97-AF65-F5344CB8AC3E}">
        <p14:creationId xmlns:p14="http://schemas.microsoft.com/office/powerpoint/2010/main" val="2163582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kern="0" dirty="0">
                <a:effectLst/>
                <a:latin typeface="LinLibertineT"/>
                <a:ea typeface="等线" panose="02010600030101010101" pitchFamily="2" charset="-122"/>
                <a:cs typeface="LinLibertineT"/>
              </a:rPr>
              <a:t>This research question guided us throughout the processes of study design and data analysis.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1800" kern="0" dirty="0">
                <a:effectLst/>
                <a:latin typeface="LinLibertineT"/>
                <a:cs typeface="LinLibertineT"/>
              </a:rPr>
              <a:t>We first selected eight representative colors, three opacity levels, four layer order and arrangement, and generated a set of stimuli to ensure comprehensive coverage.</a:t>
            </a:r>
            <a:endParaRPr lang="en-US" altLang="zh-CN" sz="12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81797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35000"/>
              </a:lnSpc>
              <a:spcBef>
                <a:spcPts val="0"/>
              </a:spcBef>
              <a:spcAft>
                <a:spcPts val="0"/>
              </a:spcAft>
              <a:buClrTx/>
              <a:buSzTx/>
              <a:buFont typeface="Arial" panose="020B0604020202020204" pitchFamily="34" charset="0"/>
              <a:buNone/>
              <a:tabLst/>
              <a:defRPr/>
            </a:pPr>
            <a:r>
              <a:rPr lang="en-US" altLang="zh-CN" sz="1800" kern="0" dirty="0">
                <a:effectLst/>
                <a:latin typeface="等线" panose="02010600030101010101" pitchFamily="2" charset="-122"/>
                <a:ea typeface="等线" panose="02010600030101010101" pitchFamily="2" charset="-122"/>
                <a:cs typeface="LinLibertineT"/>
              </a:rPr>
              <a:t>Building on the previous work, our study presented participants with two overlapping disks in each trial and asked them to identify </a:t>
            </a:r>
            <a:r>
              <a:rPr lang="en-US" altLang="zh-CN" sz="1800" kern="0" dirty="0">
                <a:effectLst/>
                <a:latin typeface="等线" panose="02010600030101010101" pitchFamily="2" charset="-122"/>
                <a:ea typeface="等线" panose="02010600030101010101" pitchFamily="2" charset="-122"/>
                <a:cs typeface="LinLibertineTB"/>
              </a:rPr>
              <a:t>which disk appeared to be in the front</a:t>
            </a:r>
            <a:r>
              <a:rPr lang="en-US" altLang="zh-CN" sz="1800" kern="0" dirty="0">
                <a:effectLst/>
                <a:latin typeface="等线" panose="02010600030101010101" pitchFamily="2" charset="-122"/>
                <a:ea typeface="等线" panose="02010600030101010101" pitchFamily="2" charset="-122"/>
                <a:cs typeface="LinLibertineT"/>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35000"/>
              </a:lnSpc>
              <a:spcBef>
                <a:spcPts val="0"/>
              </a:spcBef>
              <a:spcAft>
                <a:spcPts val="0"/>
              </a:spcAft>
              <a:buClrTx/>
              <a:buSzTx/>
              <a:buFont typeface="Arial" panose="020B0604020202020204" pitchFamily="34" charset="0"/>
              <a:buNone/>
              <a:tabLst/>
              <a:defRPr/>
            </a:pPr>
            <a:endParaRPr lang="en-US" altLang="zh-CN" sz="12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10916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We conducted both a Pilot Study and a Main Experiment.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Based on the findings from the pilot study, we performed a power analysis to determine the minimum number of participants needed for the formal experiment.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In the Main Experiment, we reduce the number of trials for participants, as half an hour for all the trials is considered long for crowdsourced participants.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a:r>
              <a:rPr lang="en-US" altLang="zh-CN" sz="1800" kern="0" dirty="0">
                <a:effectLst/>
                <a:latin typeface="等线" panose="02010600030101010101" pitchFamily="2" charset="-122"/>
                <a:ea typeface="等线" panose="02010600030101010101" pitchFamily="2" charset="-122"/>
                <a:cs typeface="LinLibertineT"/>
              </a:rPr>
              <a:t>We also included 4 additional attention-check trials</a:t>
            </a:r>
            <a:r>
              <a:rPr lang="zh-CN" altLang="zh-CN" sz="1800" kern="0" dirty="0">
                <a:effectLst/>
                <a:latin typeface="等线" panose="02010600030101010101" pitchFamily="2" charset="-122"/>
                <a:ea typeface="等线" panose="02010600030101010101" pitchFamily="2" charset="-122"/>
                <a:cs typeface="LinLibertineT"/>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1800" dirty="0">
                <a:solidFill>
                  <a:srgbClr val="000000"/>
                </a:solidFill>
                <a:effectLst/>
                <a:latin typeface="等线" panose="02010600030101010101" pitchFamily="2" charset="-122"/>
                <a:cs typeface="Times New Roman" panose="02020603050405020304" pitchFamily="18" charset="0"/>
              </a:rPr>
              <a:t>In total, we collected data from 180 valid participants, resulting in a total of 20,160 trials. [highlight</a:t>
            </a:r>
            <a:r>
              <a:rPr lang="zh-CN" altLang="zh-CN" sz="1800" dirty="0">
                <a:solidFill>
                  <a:srgbClr val="000000"/>
                </a:solidFill>
                <a:effectLst/>
                <a:ea typeface="等线" panose="02010600030101010101" pitchFamily="2" charset="-122"/>
                <a:cs typeface="Times New Roman" panose="02020603050405020304" pitchFamily="18" charset="0"/>
              </a:rPr>
              <a:t>一下相应的数字</a:t>
            </a:r>
            <a:r>
              <a:rPr lang="en-US" altLang="zh-CN" sz="1800" dirty="0">
                <a:solidFill>
                  <a:srgbClr val="000000"/>
                </a:solidFill>
                <a:effectLst/>
                <a:ea typeface="等线" panose="02010600030101010101" pitchFamily="2" charset="-122"/>
                <a:cs typeface="Times New Roman" panose="02020603050405020304" pitchFamily="18" charset="0"/>
              </a:rPr>
              <a:t>]</a:t>
            </a:r>
            <a:endParaRPr lang="en-US" altLang="zh-CN" sz="12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A0E2B2-515B-4691-A8DB-65E01C00D1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49314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We first performed inferential analysis on the test factors using NHST (Null Hypothesis Significance Testing), </a:t>
            </a:r>
          </a:p>
          <a:p>
            <a:pPr algn="just"/>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and then conducted predictive analyses to build models for color and combinations </a:t>
            </a:r>
            <a:r>
              <a:rPr lang="en-US" altLang="zh-CN" sz="1800" kern="0" dirty="0">
                <a:effectLst/>
                <a:latin typeface="等线" panose="02010600030101010101" pitchFamily="2" charset="-122"/>
                <a:ea typeface="等线" panose="02010600030101010101" pitchFamily="2" charset="-122"/>
                <a:cs typeface="LinLibertineT"/>
              </a:rPr>
              <a:t>beyond those tested in our study.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1800" kern="0" dirty="0">
                <a:effectLst/>
                <a:latin typeface="等线" panose="02010600030101010101" pitchFamily="2" charset="-122"/>
                <a:cs typeface="LinLibertineT"/>
              </a:rPr>
              <a:t>We further explored the effect of lightness and saturation on depth order perception.</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13</a:t>
            </a:fld>
            <a:endParaRPr lang="zh-CN" altLang="en-US"/>
          </a:p>
        </p:txBody>
      </p:sp>
    </p:spTree>
    <p:extLst>
      <p:ext uri="{BB962C8B-B14F-4D97-AF65-F5344CB8AC3E}">
        <p14:creationId xmlns:p14="http://schemas.microsoft.com/office/powerpoint/2010/main" val="1746109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Section is inferential Analyses</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14</a:t>
            </a:fld>
            <a:endParaRPr lang="zh-CN" altLang="en-US"/>
          </a:p>
        </p:txBody>
      </p:sp>
    </p:spTree>
    <p:extLst>
      <p:ext uri="{BB962C8B-B14F-4D97-AF65-F5344CB8AC3E}">
        <p14:creationId xmlns:p14="http://schemas.microsoft.com/office/powerpoint/2010/main" val="4238651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baseline="0" dirty="0">
                <a:latin typeface="Arial" panose="020B0604020202020204" pitchFamily="34" charset="0"/>
                <a:cs typeface="Arial" panose="020B0604020202020204" pitchFamily="34" charset="0"/>
              </a:rPr>
              <a:t>Are </a:t>
            </a:r>
            <a:r>
              <a:rPr lang="en-US" altLang="zh-CN" sz="1200" i="0" dirty="0">
                <a:latin typeface="Arial" panose="020B0604020202020204" pitchFamily="34" charset="0"/>
                <a:cs typeface="Arial" panose="020B0604020202020204" pitchFamily="34" charset="0"/>
              </a:rPr>
              <a:t>there </a:t>
            </a:r>
            <a:r>
              <a:rPr lang="en-US" altLang="zh-CN" sz="1200" b="0" i="0" u="none" strike="noStrike" baseline="0" dirty="0">
                <a:latin typeface="Arial" panose="020B0604020202020204" pitchFamily="34" charset="0"/>
                <a:cs typeface="Arial" panose="020B0604020202020204" pitchFamily="34" charset="0"/>
              </a:rPr>
              <a:t>significant differences in depth order perception across various color hues?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0" kern="100" dirty="0">
                <a:solidFill>
                  <a:srgbClr val="000000"/>
                </a:solidFill>
                <a:effectLst/>
                <a:latin typeface="Arial" panose="020B0604020202020204" pitchFamily="34" charset="0"/>
                <a:ea typeface="等线" panose="02010600030101010101" pitchFamily="2" charset="-122"/>
                <a:cs typeface="Arial" panose="020B0604020202020204" pitchFamily="34" charset="0"/>
              </a:rPr>
              <a:t>The results of the Kruskal-Wallis H test reveal significant differences in error rates across the eight examined color hues.</a:t>
            </a:r>
            <a:endParaRPr lang="zh-CN" altLang="zh-CN" sz="1200" i="0" kern="100" dirty="0">
              <a:effectLst/>
              <a:latin typeface="Arial" panose="020B0604020202020204" pitchFamily="34" charset="0"/>
              <a:ea typeface="等线" panose="02010600030101010101" pitchFamily="2" charset="-122"/>
              <a:cs typeface="Arial" panose="020B0604020202020204" pitchFamily="34" charset="0"/>
            </a:endParaRPr>
          </a:p>
        </p:txBody>
      </p:sp>
      <p:sp>
        <p:nvSpPr>
          <p:cNvPr id="4" name="灯片编号占位符 3"/>
          <p:cNvSpPr>
            <a:spLocks noGrp="1"/>
          </p:cNvSpPr>
          <p:nvPr>
            <p:ph type="sldNum" sz="quarter" idx="5"/>
          </p:nvPr>
        </p:nvSpPr>
        <p:spPr/>
        <p:txBody>
          <a:bodyPr/>
          <a:lstStyle/>
          <a:p>
            <a:fld id="{B4DA68BC-7AF4-4170-BD90-381677BFB93D}" type="slidenum">
              <a:rPr lang="zh-CN" altLang="en-US" smtClean="0"/>
              <a:t>15</a:t>
            </a:fld>
            <a:endParaRPr lang="zh-CN" altLang="en-US"/>
          </a:p>
        </p:txBody>
      </p:sp>
    </p:spTree>
    <p:extLst>
      <p:ext uri="{BB962C8B-B14F-4D97-AF65-F5344CB8AC3E}">
        <p14:creationId xmlns:p14="http://schemas.microsoft.com/office/powerpoint/2010/main" val="3366023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baseline="0" dirty="0">
                <a:latin typeface="Arial" panose="020B0604020202020204" pitchFamily="34" charset="0"/>
                <a:cs typeface="Arial" panose="020B0604020202020204" pitchFamily="34" charset="0"/>
              </a:rPr>
              <a:t>Are </a:t>
            </a:r>
            <a:r>
              <a:rPr lang="en-US" altLang="zh-CN" sz="1200" i="0" dirty="0">
                <a:latin typeface="Arial" panose="020B0604020202020204" pitchFamily="34" charset="0"/>
                <a:cs typeface="Arial" panose="020B0604020202020204" pitchFamily="34" charset="0"/>
              </a:rPr>
              <a:t>there </a:t>
            </a:r>
            <a:r>
              <a:rPr lang="en-US" altLang="zh-CN" sz="1200" b="0" i="0" u="none" strike="noStrike" baseline="0" dirty="0">
                <a:latin typeface="Arial" panose="020B0604020202020204" pitchFamily="34" charset="0"/>
                <a:cs typeface="Arial" panose="020B0604020202020204" pitchFamily="34" charset="0"/>
              </a:rPr>
              <a:t>significant differences in depth order perception across various color hues?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0" kern="100" dirty="0">
                <a:solidFill>
                  <a:srgbClr val="000000"/>
                </a:solidFill>
                <a:effectLst/>
                <a:latin typeface="Arial" panose="020B0604020202020204" pitchFamily="34" charset="0"/>
                <a:ea typeface="等线" panose="02010600030101010101" pitchFamily="2" charset="-122"/>
                <a:cs typeface="Arial" panose="020B0604020202020204" pitchFamily="34" charset="0"/>
              </a:rPr>
              <a:t>The results of the Kruskal-Wallis H test reveal significant differences in error rates across the eight examined color hues.</a:t>
            </a:r>
            <a:endParaRPr lang="zh-CN" altLang="zh-CN" sz="1200" i="0" kern="100" dirty="0">
              <a:effectLst/>
              <a:latin typeface="Arial" panose="020B0604020202020204" pitchFamily="34" charset="0"/>
              <a:ea typeface="等线" panose="02010600030101010101" pitchFamily="2" charset="-122"/>
              <a:cs typeface="Arial" panose="020B0604020202020204" pitchFamily="34" charset="0"/>
            </a:endParaRPr>
          </a:p>
        </p:txBody>
      </p:sp>
      <p:sp>
        <p:nvSpPr>
          <p:cNvPr id="4" name="灯片编号占位符 3"/>
          <p:cNvSpPr>
            <a:spLocks noGrp="1"/>
          </p:cNvSpPr>
          <p:nvPr>
            <p:ph type="sldNum" sz="quarter" idx="5"/>
          </p:nvPr>
        </p:nvSpPr>
        <p:spPr/>
        <p:txBody>
          <a:bodyPr/>
          <a:lstStyle/>
          <a:p>
            <a:fld id="{B4DA68BC-7AF4-4170-BD90-381677BFB93D}" type="slidenum">
              <a:rPr lang="zh-CN" altLang="en-US" smtClean="0"/>
              <a:t>16</a:t>
            </a:fld>
            <a:endParaRPr lang="zh-CN" altLang="en-US"/>
          </a:p>
        </p:txBody>
      </p:sp>
    </p:spTree>
    <p:extLst>
      <p:ext uri="{BB962C8B-B14F-4D97-AF65-F5344CB8AC3E}">
        <p14:creationId xmlns:p14="http://schemas.microsoft.com/office/powerpoint/2010/main" val="3696198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17</a:t>
            </a:fld>
            <a:endParaRPr lang="zh-CN" altLang="en-US"/>
          </a:p>
        </p:txBody>
      </p:sp>
    </p:spTree>
    <p:extLst>
      <p:ext uri="{BB962C8B-B14F-4D97-AF65-F5344CB8AC3E}">
        <p14:creationId xmlns:p14="http://schemas.microsoft.com/office/powerpoint/2010/main" val="811259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per</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18</a:t>
            </a:fld>
            <a:endParaRPr lang="zh-CN" altLang="en-US"/>
          </a:p>
        </p:txBody>
      </p:sp>
    </p:spTree>
    <p:extLst>
      <p:ext uri="{BB962C8B-B14F-4D97-AF65-F5344CB8AC3E}">
        <p14:creationId xmlns:p14="http://schemas.microsoft.com/office/powerpoint/2010/main" val="101610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solidFill>
                  <a:srgbClr val="000000"/>
                </a:solidFill>
                <a:effectLst/>
                <a:latin typeface="等线" panose="02010600030101010101" pitchFamily="2" charset="-122"/>
                <a:cs typeface="Times New Roman" panose="02020603050405020304" pitchFamily="18" charset="0"/>
              </a:rPr>
              <a:t>We further use our experimental data to build predictive models to analyze whether viewers can correctly identify the disk in the front, and the importance of a set of features.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0000"/>
                </a:solidFill>
                <a:effectLst/>
                <a:latin typeface="等线" panose="02010600030101010101" pitchFamily="2" charset="-122"/>
                <a:cs typeface="Times New Roman" panose="02020603050405020304" pitchFamily="18" charset="0"/>
              </a:rPr>
              <a:t>The input of model consists of a set of feature values, and the output is a binary result: either 0 or 1.</a:t>
            </a:r>
            <a:endParaRPr lang="zh-CN" altLang="en-US" sz="1800" dirty="0"/>
          </a:p>
          <a:p>
            <a:endParaRPr lang="en-US" altLang="zh-CN" sz="1800" dirty="0">
              <a:solidFill>
                <a:srgbClr val="000000"/>
              </a:solidFill>
              <a:effectLst/>
              <a:latin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B4DA68BC-7AF4-4170-BD90-381677BFB93D}" type="slidenum">
              <a:rPr lang="zh-CN" altLang="en-US" smtClean="0"/>
              <a:t>19</a:t>
            </a:fld>
            <a:endParaRPr lang="zh-CN" altLang="en-US"/>
          </a:p>
        </p:txBody>
      </p:sp>
    </p:spTree>
    <p:extLst>
      <p:ext uri="{BB962C8B-B14F-4D97-AF65-F5344CB8AC3E}">
        <p14:creationId xmlns:p14="http://schemas.microsoft.com/office/powerpoint/2010/main" val="2666368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solidFill>
                  <a:srgbClr val="000000"/>
                </a:solidFill>
                <a:effectLst/>
                <a:latin typeface="等线" panose="02010600030101010101" pitchFamily="2" charset="-122"/>
                <a:cs typeface="Times New Roman" panose="02020603050405020304" pitchFamily="18" charset="0"/>
              </a:rPr>
              <a:t>To train the models, we in total have 14768 corrected answer and 4862 incorrected answer from our collected experimental data. </a:t>
            </a:r>
          </a:p>
        </p:txBody>
      </p:sp>
      <p:sp>
        <p:nvSpPr>
          <p:cNvPr id="4" name="灯片编号占位符 3"/>
          <p:cNvSpPr>
            <a:spLocks noGrp="1"/>
          </p:cNvSpPr>
          <p:nvPr>
            <p:ph type="sldNum" sz="quarter" idx="5"/>
          </p:nvPr>
        </p:nvSpPr>
        <p:spPr/>
        <p:txBody>
          <a:bodyPr/>
          <a:lstStyle/>
          <a:p>
            <a:fld id="{B4DA68BC-7AF4-4170-BD90-381677BFB93D}" type="slidenum">
              <a:rPr lang="zh-CN" altLang="en-US" smtClean="0"/>
              <a:t>20</a:t>
            </a:fld>
            <a:endParaRPr lang="zh-CN" altLang="en-US"/>
          </a:p>
        </p:txBody>
      </p:sp>
    </p:spTree>
    <p:extLst>
      <p:ext uri="{BB962C8B-B14F-4D97-AF65-F5344CB8AC3E}">
        <p14:creationId xmlns:p14="http://schemas.microsoft.com/office/powerpoint/2010/main" val="5338434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We derived 12 candidate features based on the nuances of color hue and opacity between the front and back layers to effectively capture how these properties change and interact when the layers overlap</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21</a:t>
            </a:fld>
            <a:endParaRPr lang="zh-CN" altLang="en-US"/>
          </a:p>
        </p:txBody>
      </p:sp>
    </p:spTree>
    <p:extLst>
      <p:ext uri="{BB962C8B-B14F-4D97-AF65-F5344CB8AC3E}">
        <p14:creationId xmlns:p14="http://schemas.microsoft.com/office/powerpoint/2010/main" val="3611986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solidFill>
                  <a:srgbClr val="000000"/>
                </a:solidFill>
                <a:effectLst/>
                <a:latin typeface="等线" panose="02010600030101010101" pitchFamily="2" charset="-122"/>
                <a:cs typeface="Times New Roman" panose="02020603050405020304" pitchFamily="18" charset="0"/>
              </a:rPr>
              <a:t>And we selected five simple yet effective models to predict the results.</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22</a:t>
            </a:fld>
            <a:endParaRPr lang="zh-CN" altLang="en-US"/>
          </a:p>
        </p:txBody>
      </p:sp>
    </p:spTree>
    <p:extLst>
      <p:ext uri="{BB962C8B-B14F-4D97-AF65-F5344CB8AC3E}">
        <p14:creationId xmlns:p14="http://schemas.microsoft.com/office/powerpoint/2010/main" val="18060640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solidFill>
                  <a:srgbClr val="000000"/>
                </a:solidFill>
                <a:effectLst/>
                <a:latin typeface="等线" panose="02010600030101010101" pitchFamily="2" charset="-122"/>
                <a:cs typeface="Times New Roman" panose="02020603050405020304" pitchFamily="18" charset="0"/>
              </a:rPr>
              <a:t>We focused on accuracy and F1 score to assess our models.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Accuracy provides an intuitive understanding of overall model performance, while the F1 score offers insights into the balance between precision and recall,</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23</a:t>
            </a:fld>
            <a:endParaRPr lang="zh-CN" altLang="en-US"/>
          </a:p>
        </p:txBody>
      </p:sp>
    </p:spTree>
    <p:extLst>
      <p:ext uri="{BB962C8B-B14F-4D97-AF65-F5344CB8AC3E}">
        <p14:creationId xmlns:p14="http://schemas.microsoft.com/office/powerpoint/2010/main" val="42335927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solidFill>
                  <a:srgbClr val="000000"/>
                </a:solidFill>
                <a:effectLst/>
                <a:latin typeface="等线" panose="02010600030101010101" pitchFamily="2" charset="-122"/>
                <a:cs typeface="Times New Roman" panose="02020603050405020304" pitchFamily="18" charset="0"/>
              </a:rPr>
              <a:t>Overall, the decision tree and random forest models achieve the best performance among those tested</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24</a:t>
            </a:fld>
            <a:endParaRPr lang="zh-CN" altLang="en-US"/>
          </a:p>
        </p:txBody>
      </p:sp>
    </p:spTree>
    <p:extLst>
      <p:ext uri="{BB962C8B-B14F-4D97-AF65-F5344CB8AC3E}">
        <p14:creationId xmlns:p14="http://schemas.microsoft.com/office/powerpoint/2010/main" val="17750538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dirty="0"/>
              <a:t>We found that </a:t>
            </a:r>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across all tested models, except SVM with a linear kernel, (click) the top feature is opacity</a:t>
            </a:r>
            <a:r>
              <a:rPr lang="en-US" alt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dirty="0">
                <a:solidFill>
                  <a:srgbClr val="000000"/>
                </a:solidFill>
                <a:effectLst/>
                <a:latin typeface="等线" panose="02010600030101010101" pitchFamily="2" charset="-122"/>
                <a:cs typeface="Times New Roman" panose="02020603050405020304" pitchFamily="18" charset="0"/>
              </a:rPr>
              <a:t>front --- the opacity of the front layer.</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25</a:t>
            </a:fld>
            <a:endParaRPr lang="zh-CN" altLang="en-US"/>
          </a:p>
        </p:txBody>
      </p:sp>
    </p:spTree>
    <p:extLst>
      <p:ext uri="{BB962C8B-B14F-4D97-AF65-F5344CB8AC3E}">
        <p14:creationId xmlns:p14="http://schemas.microsoft.com/office/powerpoint/2010/main" val="24918307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We also conducted a sensitivity analysis. We selected the top n (</a:t>
            </a:r>
            <a:r>
              <a:rPr lang="en-US" altLang="zh-CN" sz="1800" kern="100" dirty="0">
                <a:solidFill>
                  <a:srgbClr val="00B050"/>
                </a:solidFill>
                <a:effectLst/>
                <a:latin typeface="Cambria Math" panose="02040503050406030204" pitchFamily="18" charset="0"/>
                <a:ea typeface="等线" panose="02010600030101010101" pitchFamily="2" charset="-122"/>
                <a:cs typeface="Cambria Math" panose="02040503050406030204" pitchFamily="18" charset="0"/>
              </a:rPr>
              <a:t>𝑛</a:t>
            </a:r>
            <a:r>
              <a:rPr lang="en-US" altLang="zh-CN" sz="18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 ≤ 12) candidate features and retrained the models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The results show that </a:t>
            </a:r>
            <a:r>
              <a:rPr lang="en-US" altLang="zh-CN" sz="1800" dirty="0">
                <a:solidFill>
                  <a:srgbClr val="000000"/>
                </a:solidFill>
                <a:effectLst/>
                <a:ea typeface="等线" panose="02010600030101010101" pitchFamily="2" charset="-122"/>
                <a:cs typeface="Times New Roman" panose="02020603050405020304" pitchFamily="18" charset="0"/>
              </a:rPr>
              <a:t>the decision tree and random forest models achieved the highest accuracy with the top features [highlight]</a:t>
            </a:r>
          </a:p>
          <a:p>
            <a:pPr algn="just"/>
            <a:r>
              <a:rPr lang="en-US" altLang="zh-CN" sz="12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Through the analysis of the above methods, we identified the best-performing model as Random Forest with four features. </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26</a:t>
            </a:fld>
            <a:endParaRPr lang="zh-CN" altLang="en-US"/>
          </a:p>
        </p:txBody>
      </p:sp>
    </p:spTree>
    <p:extLst>
      <p:ext uri="{BB962C8B-B14F-4D97-AF65-F5344CB8AC3E}">
        <p14:creationId xmlns:p14="http://schemas.microsoft.com/office/powerpoint/2010/main" val="26394262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Additionally, we designed a small design tool to assist designers in assessing whether viewers can correctly perceive the depth order</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27</a:t>
            </a:fld>
            <a:endParaRPr lang="zh-CN" altLang="en-US"/>
          </a:p>
        </p:txBody>
      </p:sp>
    </p:spTree>
    <p:extLst>
      <p:ext uri="{BB962C8B-B14F-4D97-AF65-F5344CB8AC3E}">
        <p14:creationId xmlns:p14="http://schemas.microsoft.com/office/powerpoint/2010/main" val="30153683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per</a:t>
            </a:r>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28</a:t>
            </a:fld>
            <a:endParaRPr lang="zh-CN" altLang="en-US"/>
          </a:p>
        </p:txBody>
      </p:sp>
    </p:spTree>
    <p:extLst>
      <p:ext uri="{BB962C8B-B14F-4D97-AF65-F5344CB8AC3E}">
        <p14:creationId xmlns:p14="http://schemas.microsoft.com/office/powerpoint/2010/main" val="35848838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We also conducted all the aforementioned analyses on lightness and saturation as exploratory analyses, and the results consistently indicated that they have minimal influence.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29</a:t>
            </a:fld>
            <a:endParaRPr lang="zh-CN" altLang="en-US"/>
          </a:p>
        </p:txBody>
      </p:sp>
    </p:spTree>
    <p:extLst>
      <p:ext uri="{BB962C8B-B14F-4D97-AF65-F5344CB8AC3E}">
        <p14:creationId xmlns:p14="http://schemas.microsoft.com/office/powerpoint/2010/main" val="42194833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30</a:t>
            </a:fld>
            <a:endParaRPr lang="zh-CN" altLang="en-US"/>
          </a:p>
        </p:txBody>
      </p:sp>
    </p:spTree>
    <p:extLst>
      <p:ext uri="{BB962C8B-B14F-4D97-AF65-F5344CB8AC3E}">
        <p14:creationId xmlns:p14="http://schemas.microsoft.com/office/powerpoint/2010/main" val="6276260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solidFill>
                  <a:srgbClr val="000000"/>
                </a:solidFill>
                <a:effectLst/>
                <a:latin typeface="等线" panose="02010600030101010101" pitchFamily="2" charset="-122"/>
                <a:cs typeface="Times New Roman" panose="02020603050405020304" pitchFamily="18" charset="0"/>
              </a:rPr>
              <a:t>Our experiment represents the most comprehensive effort to date in evaluating the impacts of color hue and opacity on depth order perception, and the guidelines can be used to design colors in practical applications.</a:t>
            </a:r>
          </a:p>
          <a:p>
            <a:endParaRPr lang="en-US" altLang="zh-CN" sz="18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31</a:t>
            </a:fld>
            <a:endParaRPr lang="zh-CN" altLang="en-US"/>
          </a:p>
        </p:txBody>
      </p:sp>
    </p:spTree>
    <p:extLst>
      <p:ext uri="{BB962C8B-B14F-4D97-AF65-F5344CB8AC3E}">
        <p14:creationId xmlns:p14="http://schemas.microsoft.com/office/powerpoint/2010/main" val="7188029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DA68BC-7AF4-4170-BD90-381677BFB93D}" type="slidenum">
              <a:rPr lang="zh-CN" altLang="en-US" smtClean="0"/>
              <a:t>32</a:t>
            </a:fld>
            <a:endParaRPr lang="zh-CN" altLang="en-US"/>
          </a:p>
        </p:txBody>
      </p:sp>
    </p:spTree>
    <p:extLst>
      <p:ext uri="{BB962C8B-B14F-4D97-AF65-F5344CB8AC3E}">
        <p14:creationId xmlns:p14="http://schemas.microsoft.com/office/powerpoint/2010/main" val="313494313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タイトル スライド">
    <p:spTree>
      <p:nvGrpSpPr>
        <p:cNvPr id="1" name=""/>
        <p:cNvGrpSpPr/>
        <p:nvPr/>
      </p:nvGrpSpPr>
      <p:grpSpPr>
        <a:xfrm>
          <a:off x="0" y="0"/>
          <a:ext cx="0" cy="0"/>
          <a:chOff x="0" y="0"/>
          <a:chExt cx="0" cy="0"/>
        </a:xfrm>
      </p:grpSpPr>
      <p:pic>
        <p:nvPicPr>
          <p:cNvPr id="7" name="図 6" descr="グラフィカル ユーザー インターフェイス, アプリケーション&#10;&#10;自動的に生成された説明">
            <a:extLst>
              <a:ext uri="{FF2B5EF4-FFF2-40B4-BE49-F238E27FC236}">
                <a16:creationId xmlns:a16="http://schemas.microsoft.com/office/drawing/2014/main" id="{6AB54A8D-E51C-AE8B-AE74-AB11F5AAEA29}"/>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ctrTitle"/>
          </p:nvPr>
        </p:nvSpPr>
        <p:spPr>
          <a:xfrm>
            <a:off x="456939" y="1674882"/>
            <a:ext cx="8236829" cy="873189"/>
          </a:xfrm>
        </p:spPr>
        <p:txBody>
          <a:bodyPr anchor="b"/>
          <a:lstStyle>
            <a:lvl1pPr algn="ctr">
              <a:defRPr sz="4500" b="1" i="0">
                <a:latin typeface="Roboto" panose="02000000000000000000" pitchFamily="2" charset="0"/>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009490"/>
            <a:ext cx="6858000" cy="933860"/>
          </a:xfrm>
        </p:spPr>
        <p:txBody>
          <a:bodyPr/>
          <a:lstStyle>
            <a:lvl1pPr marL="0" indent="0" algn="ctr">
              <a:buNone/>
              <a:defRPr sz="1800">
                <a:latin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atin typeface="Roboto" panose="02000000000000000000" pitchFamily="2" charset="0"/>
              </a:defRPr>
            </a:lvl1pPr>
          </a:lstStyle>
          <a:p>
            <a:fld id="{52AD8388-E2C6-9548-A049-F9C0FE6CD708}" type="datetimeFigureOut">
              <a:rPr kumimoji="1" lang="ja-JP" altLang="en-US" smtClean="0"/>
              <a:pPr/>
              <a:t>2025/3/10</a:t>
            </a:fld>
            <a:endParaRPr kumimoji="1" lang="ja-JP" altLang="en-US"/>
          </a:p>
        </p:txBody>
      </p:sp>
      <p:sp>
        <p:nvSpPr>
          <p:cNvPr id="5" name="Footer Placeholder 4"/>
          <p:cNvSpPr>
            <a:spLocks noGrp="1"/>
          </p:cNvSpPr>
          <p:nvPr>
            <p:ph type="ftr" sz="quarter" idx="11"/>
          </p:nvPr>
        </p:nvSpPr>
        <p:spPr/>
        <p:txBody>
          <a:bodyPr/>
          <a:lstStyle>
            <a:lvl1pPr>
              <a:defRPr>
                <a:latin typeface="Roboto" panose="02000000000000000000" pitchFamily="2" charset="0"/>
              </a:defRPr>
            </a:lvl1pPr>
          </a:lstStyle>
          <a:p>
            <a:endParaRPr kumimoji="1" lang="ja-JP"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atin typeface="Roboto" panose="02000000000000000000" pitchFamily="2" charset="0"/>
              </a:defRPr>
            </a:lvl1pPr>
          </a:lstStyle>
          <a:p>
            <a:fld id="{84931BFA-6A79-4E4A-9C45-0BDD8E554429}" type="slidenum">
              <a:rPr kumimoji="1" lang="ja-JP" altLang="en-US" smtClean="0"/>
              <a:pPr/>
              <a:t>‹#›</a:t>
            </a:fld>
            <a:endParaRPr kumimoji="1" lang="ja-JP" altLang="en-US"/>
          </a:p>
        </p:txBody>
      </p:sp>
      <p:pic>
        <p:nvPicPr>
          <p:cNvPr id="8" name="図 7" descr="赤い背景と白い文字&#10;&#10;低い精度で自動的に生成された説明">
            <a:extLst>
              <a:ext uri="{FF2B5EF4-FFF2-40B4-BE49-F238E27FC236}">
                <a16:creationId xmlns:a16="http://schemas.microsoft.com/office/drawing/2014/main" id="{53F25BF5-8F9C-5A52-D45F-999FB8E92BB3}"/>
              </a:ext>
            </a:extLst>
          </p:cNvPr>
          <p:cNvPicPr>
            <a:picLocks noChangeAspect="1"/>
          </p:cNvPicPr>
          <p:nvPr userDrawn="1"/>
        </p:nvPicPr>
        <p:blipFill>
          <a:blip r:embed="rId3"/>
          <a:stretch>
            <a:fillRect/>
          </a:stretch>
        </p:blipFill>
        <p:spPr>
          <a:xfrm>
            <a:off x="0" y="3645828"/>
            <a:ext cx="3144384" cy="1069046"/>
          </a:xfrm>
          <a:prstGeom prst="rect">
            <a:avLst/>
          </a:prstGeom>
        </p:spPr>
      </p:pic>
      <p:pic>
        <p:nvPicPr>
          <p:cNvPr id="9" name="図 8" descr="背景パターン&#10;&#10;中程度の精度で自動的に生成された説明">
            <a:extLst>
              <a:ext uri="{FF2B5EF4-FFF2-40B4-BE49-F238E27FC236}">
                <a16:creationId xmlns:a16="http://schemas.microsoft.com/office/drawing/2014/main" id="{AF7A16EE-CC8C-3E1D-5FF0-D579C8AB2BA6}"/>
              </a:ext>
            </a:extLst>
          </p:cNvPr>
          <p:cNvPicPr>
            <a:picLocks noChangeAspect="1"/>
          </p:cNvPicPr>
          <p:nvPr userDrawn="1"/>
        </p:nvPicPr>
        <p:blipFill>
          <a:blip r:embed="rId4"/>
          <a:stretch>
            <a:fillRect/>
          </a:stretch>
        </p:blipFill>
        <p:spPr>
          <a:xfrm>
            <a:off x="6485038" y="3645829"/>
            <a:ext cx="2658962" cy="1069046"/>
          </a:xfrm>
          <a:prstGeom prst="rect">
            <a:avLst/>
          </a:prstGeom>
        </p:spPr>
      </p:pic>
      <p:pic>
        <p:nvPicPr>
          <p:cNvPr id="10" name="図 9">
            <a:extLst>
              <a:ext uri="{FF2B5EF4-FFF2-40B4-BE49-F238E27FC236}">
                <a16:creationId xmlns:a16="http://schemas.microsoft.com/office/drawing/2014/main" id="{4CFA73D8-3367-2578-1638-29C453186D5A}"/>
              </a:ext>
            </a:extLst>
          </p:cNvPr>
          <p:cNvPicPr>
            <a:picLocks noChangeAspect="1"/>
          </p:cNvPicPr>
          <p:nvPr userDrawn="1"/>
        </p:nvPicPr>
        <p:blipFill>
          <a:blip r:embed="rId5"/>
          <a:stretch>
            <a:fillRect/>
          </a:stretch>
        </p:blipFill>
        <p:spPr>
          <a:xfrm>
            <a:off x="0" y="4714875"/>
            <a:ext cx="9144000" cy="428625"/>
          </a:xfrm>
          <a:prstGeom prst="rect">
            <a:avLst/>
          </a:prstGeom>
        </p:spPr>
      </p:pic>
      <p:pic>
        <p:nvPicPr>
          <p:cNvPr id="11" name="図 10" descr="スポーツゲーム が含まれている画像&#10;&#10;自動的に生成された説明">
            <a:extLst>
              <a:ext uri="{FF2B5EF4-FFF2-40B4-BE49-F238E27FC236}">
                <a16:creationId xmlns:a16="http://schemas.microsoft.com/office/drawing/2014/main" id="{F3EB623D-58FB-F2FD-DACE-BCCB0376FDEF}"/>
              </a:ext>
            </a:extLst>
          </p:cNvPr>
          <p:cNvPicPr>
            <a:picLocks noChangeAspect="1"/>
          </p:cNvPicPr>
          <p:nvPr userDrawn="1"/>
        </p:nvPicPr>
        <p:blipFill>
          <a:blip r:embed="rId6"/>
          <a:stretch>
            <a:fillRect/>
          </a:stretch>
        </p:blipFill>
        <p:spPr>
          <a:xfrm>
            <a:off x="5378823" y="3784973"/>
            <a:ext cx="2825803" cy="933860"/>
          </a:xfrm>
          <a:prstGeom prst="rect">
            <a:avLst/>
          </a:prstGeom>
        </p:spPr>
      </p:pic>
      <p:pic>
        <p:nvPicPr>
          <p:cNvPr id="12" name="図 11" descr="ロゴ が含まれている画像&#10;&#10;自動的に生成された説明">
            <a:extLst>
              <a:ext uri="{FF2B5EF4-FFF2-40B4-BE49-F238E27FC236}">
                <a16:creationId xmlns:a16="http://schemas.microsoft.com/office/drawing/2014/main" id="{D4A13737-DBF2-7D47-9BD1-16B28DD885AC}"/>
              </a:ext>
            </a:extLst>
          </p:cNvPr>
          <p:cNvPicPr>
            <a:picLocks noChangeAspect="1"/>
          </p:cNvPicPr>
          <p:nvPr userDrawn="1"/>
        </p:nvPicPr>
        <p:blipFill>
          <a:blip r:embed="rId7"/>
          <a:stretch>
            <a:fillRect/>
          </a:stretch>
        </p:blipFill>
        <p:spPr>
          <a:xfrm>
            <a:off x="1143000" y="4139137"/>
            <a:ext cx="716038" cy="748513"/>
          </a:xfrm>
          <a:prstGeom prst="rect">
            <a:avLst/>
          </a:prstGeom>
        </p:spPr>
      </p:pic>
      <p:pic>
        <p:nvPicPr>
          <p:cNvPr id="15" name="図 14" descr="カップ, 記号, プレート, 男 が含まれている画像&#10;&#10;自動的に生成された説明">
            <a:extLst>
              <a:ext uri="{FF2B5EF4-FFF2-40B4-BE49-F238E27FC236}">
                <a16:creationId xmlns:a16="http://schemas.microsoft.com/office/drawing/2014/main" id="{DCAA4D29-1BD4-D2B9-7458-D14ACEE3F30E}"/>
              </a:ext>
            </a:extLst>
          </p:cNvPr>
          <p:cNvPicPr>
            <a:picLocks noChangeAspect="1"/>
          </p:cNvPicPr>
          <p:nvPr userDrawn="1"/>
        </p:nvPicPr>
        <p:blipFill>
          <a:blip r:embed="rId8"/>
          <a:stretch>
            <a:fillRect/>
          </a:stretch>
        </p:blipFill>
        <p:spPr>
          <a:xfrm>
            <a:off x="386222" y="350974"/>
            <a:ext cx="2371940" cy="521827"/>
          </a:xfrm>
          <a:prstGeom prst="rect">
            <a:avLst/>
          </a:prstGeom>
        </p:spPr>
      </p:pic>
    </p:spTree>
    <p:extLst>
      <p:ext uri="{BB962C8B-B14F-4D97-AF65-F5344CB8AC3E}">
        <p14:creationId xmlns:p14="http://schemas.microsoft.com/office/powerpoint/2010/main" val="4058681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11"/>
          </p:nvPr>
        </p:nvSpPr>
        <p:spPr/>
        <p:txBody>
          <a:bodyPr/>
          <a:lstStyle/>
          <a:p>
            <a:endParaRPr kumimoji="1" lang="ja-JP" altLang="en-US" dirty="0"/>
          </a:p>
        </p:txBody>
      </p:sp>
    </p:spTree>
    <p:extLst>
      <p:ext uri="{BB962C8B-B14F-4D97-AF65-F5344CB8AC3E}">
        <p14:creationId xmlns:p14="http://schemas.microsoft.com/office/powerpoint/2010/main" val="3741910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2AD8388-E2C6-9548-A049-F9C0FE6CD708}" type="datetimeFigureOut">
              <a:rPr kumimoji="1" lang="ja-JP" altLang="en-US" smtClean="0"/>
              <a:t>2025/3/10</a:t>
            </a:fld>
            <a:endParaRPr kumimoji="1" lang="ja-JP" altLang="en-US"/>
          </a:p>
        </p:txBody>
      </p:sp>
      <p:sp>
        <p:nvSpPr>
          <p:cNvPr id="5" name="Footer Placeholder 4"/>
          <p:cNvSpPr>
            <a:spLocks noGrp="1"/>
          </p:cNvSpPr>
          <p:nvPr>
            <p:ph type="ftr" sz="quarter" idx="11"/>
          </p:nvPr>
        </p:nvSpPr>
        <p:spPr/>
        <p:txBody>
          <a:bodyPr/>
          <a:lstStyle/>
          <a:p>
            <a:endParaRPr kumimoji="1" lang="ja-JP" altLang="en-US" dirty="0"/>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84931BFA-6A79-4E4A-9C45-0BDD8E554429}" type="slidenum">
              <a:rPr kumimoji="1" lang="ja-JP" altLang="en-US" smtClean="0"/>
              <a:t>‹#›</a:t>
            </a:fld>
            <a:endParaRPr kumimoji="1" lang="ja-JP" altLang="en-US"/>
          </a:p>
        </p:txBody>
      </p:sp>
    </p:spTree>
    <p:extLst>
      <p:ext uri="{BB962C8B-B14F-4D97-AF65-F5344CB8AC3E}">
        <p14:creationId xmlns:p14="http://schemas.microsoft.com/office/powerpoint/2010/main" val="621370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52AD8388-E2C6-9548-A049-F9C0FE6CD708}" type="datetimeFigureOut">
              <a:rPr kumimoji="1" lang="ja-JP" altLang="en-US" smtClean="0"/>
              <a:t>2025/3/10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84931BFA-6A79-4E4A-9C45-0BDD8E554429}" type="slidenum">
              <a:rPr kumimoji="1" lang="ja-JP" altLang="en-US" smtClean="0"/>
              <a:t>‹#›</a:t>
            </a:fld>
            <a:endParaRPr kumimoji="1" lang="ja-JP" altLang="en-US"/>
          </a:p>
        </p:txBody>
      </p:sp>
    </p:spTree>
    <p:extLst>
      <p:ext uri="{BB962C8B-B14F-4D97-AF65-F5344CB8AC3E}">
        <p14:creationId xmlns:p14="http://schemas.microsoft.com/office/powerpoint/2010/main" val="156911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629842" y="1878806"/>
            <a:ext cx="3868340" cy="276344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4629150" y="1878806"/>
            <a:ext cx="3887391" cy="276344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a:xfrm>
            <a:off x="628650" y="4767263"/>
            <a:ext cx="2057400" cy="273844"/>
          </a:xfrm>
          <a:prstGeom prst="rect">
            <a:avLst/>
          </a:prstGeom>
        </p:spPr>
        <p:txBody>
          <a:bodyPr/>
          <a:lstStyle/>
          <a:p>
            <a:fld id="{52AD8388-E2C6-9548-A049-F9C0FE6CD708}" type="datetimeFigureOut">
              <a:rPr kumimoji="1" lang="ja-JP" altLang="en-US" smtClean="0"/>
              <a:t>2025/3/10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a:xfrm>
            <a:off x="6457950" y="4767263"/>
            <a:ext cx="2057400" cy="273844"/>
          </a:xfrm>
          <a:prstGeom prst="rect">
            <a:avLst/>
          </a:prstGeom>
        </p:spPr>
        <p:txBody>
          <a:bodyPr/>
          <a:lstStyle/>
          <a:p>
            <a:fld id="{84931BFA-6A79-4E4A-9C45-0BDD8E554429}" type="slidenum">
              <a:rPr kumimoji="1" lang="ja-JP" altLang="en-US" smtClean="0"/>
              <a:t>‹#›</a:t>
            </a:fld>
            <a:endParaRPr kumimoji="1" lang="ja-JP" altLang="en-US"/>
          </a:p>
        </p:txBody>
      </p:sp>
    </p:spTree>
    <p:extLst>
      <p:ext uri="{BB962C8B-B14F-4D97-AF65-F5344CB8AC3E}">
        <p14:creationId xmlns:p14="http://schemas.microsoft.com/office/powerpoint/2010/main" val="2085474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a:xfrm>
            <a:off x="628650" y="4767263"/>
            <a:ext cx="2057400" cy="273844"/>
          </a:xfrm>
          <a:prstGeom prst="rect">
            <a:avLst/>
          </a:prstGeom>
        </p:spPr>
        <p:txBody>
          <a:bodyPr/>
          <a:lstStyle/>
          <a:p>
            <a:fld id="{52AD8388-E2C6-9548-A049-F9C0FE6CD708}" type="datetimeFigureOut">
              <a:rPr kumimoji="1" lang="ja-JP" altLang="en-US" smtClean="0"/>
              <a:t>2025/3/10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a:xfrm>
            <a:off x="6457950" y="4767263"/>
            <a:ext cx="2057400" cy="273844"/>
          </a:xfrm>
          <a:prstGeom prst="rect">
            <a:avLst/>
          </a:prstGeom>
        </p:spPr>
        <p:txBody>
          <a:bodyPr/>
          <a:lstStyle/>
          <a:p>
            <a:fld id="{84931BFA-6A79-4E4A-9C45-0BDD8E554429}" type="slidenum">
              <a:rPr kumimoji="1" lang="ja-JP" altLang="en-US" smtClean="0"/>
              <a:t>‹#›</a:t>
            </a:fld>
            <a:endParaRPr kumimoji="1" lang="ja-JP" altLang="en-US"/>
          </a:p>
        </p:txBody>
      </p:sp>
    </p:spTree>
    <p:extLst>
      <p:ext uri="{BB962C8B-B14F-4D97-AF65-F5344CB8AC3E}">
        <p14:creationId xmlns:p14="http://schemas.microsoft.com/office/powerpoint/2010/main" val="2803194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kumimoji="1" lang="ja-JP" altLang="en-US" dirty="0"/>
          </a:p>
        </p:txBody>
      </p:sp>
    </p:spTree>
    <p:extLst>
      <p:ext uri="{BB962C8B-B14F-4D97-AF65-F5344CB8AC3E}">
        <p14:creationId xmlns:p14="http://schemas.microsoft.com/office/powerpoint/2010/main" val="3961395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52AD8388-E2C6-9548-A049-F9C0FE6CD708}" type="datetimeFigureOut">
              <a:rPr kumimoji="1" lang="ja-JP" altLang="en-US" smtClean="0"/>
              <a:t>2025/3/10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84931BFA-6A79-4E4A-9C45-0BDD8E554429}" type="slidenum">
              <a:rPr kumimoji="1" lang="ja-JP" altLang="en-US" smtClean="0"/>
              <a:t>‹#›</a:t>
            </a:fld>
            <a:endParaRPr kumimoji="1" lang="ja-JP" altLang="en-US"/>
          </a:p>
        </p:txBody>
      </p:sp>
    </p:spTree>
    <p:extLst>
      <p:ext uri="{BB962C8B-B14F-4D97-AF65-F5344CB8AC3E}">
        <p14:creationId xmlns:p14="http://schemas.microsoft.com/office/powerpoint/2010/main" val="2376624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52AD8388-E2C6-9548-A049-F9C0FE6CD708}" type="datetimeFigureOut">
              <a:rPr kumimoji="1" lang="ja-JP" altLang="en-US" smtClean="0"/>
              <a:t>2025/3/10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84931BFA-6A79-4E4A-9C45-0BDD8E554429}" type="slidenum">
              <a:rPr kumimoji="1" lang="ja-JP" altLang="en-US" smtClean="0"/>
              <a:t>‹#›</a:t>
            </a:fld>
            <a:endParaRPr kumimoji="1" lang="ja-JP" altLang="en-US"/>
          </a:p>
        </p:txBody>
      </p:sp>
    </p:spTree>
    <p:extLst>
      <p:ext uri="{BB962C8B-B14F-4D97-AF65-F5344CB8AC3E}">
        <p14:creationId xmlns:p14="http://schemas.microsoft.com/office/powerpoint/2010/main" val="1797080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2AD8388-E2C6-9548-A049-F9C0FE6CD708}" type="datetimeFigureOut">
              <a:rPr kumimoji="1" lang="ja-JP" altLang="en-US" smtClean="0"/>
              <a:t>2025/3/10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84931BFA-6A79-4E4A-9C45-0BDD8E554429}" type="slidenum">
              <a:rPr kumimoji="1" lang="ja-JP" altLang="en-US" smtClean="0"/>
              <a:t>‹#›</a:t>
            </a:fld>
            <a:endParaRPr kumimoji="1" lang="ja-JP" altLang="en-US"/>
          </a:p>
        </p:txBody>
      </p:sp>
    </p:spTree>
    <p:extLst>
      <p:ext uri="{BB962C8B-B14F-4D97-AF65-F5344CB8AC3E}">
        <p14:creationId xmlns:p14="http://schemas.microsoft.com/office/powerpoint/2010/main" val="3926661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2AD8388-E2C6-9548-A049-F9C0FE6CD708}" type="datetimeFigureOut">
              <a:rPr kumimoji="1" lang="ja-JP" altLang="en-US" smtClean="0"/>
              <a:t>2025/3/10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84931BFA-6A79-4E4A-9C45-0BDD8E554429}" type="slidenum">
              <a:rPr kumimoji="1" lang="ja-JP" altLang="en-US" smtClean="0"/>
              <a:t>‹#›</a:t>
            </a:fld>
            <a:endParaRPr kumimoji="1" lang="ja-JP" altLang="en-US"/>
          </a:p>
        </p:txBody>
      </p:sp>
    </p:spTree>
    <p:extLst>
      <p:ext uri="{BB962C8B-B14F-4D97-AF65-F5344CB8AC3E}">
        <p14:creationId xmlns:p14="http://schemas.microsoft.com/office/powerpoint/2010/main" val="15472980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AC679B-6C9D-1A4F-91D3-E00774F4C65E}"/>
              </a:ext>
            </a:extLst>
          </p:cNvPr>
          <p:cNvSpPr>
            <a:spLocks noGrp="1"/>
          </p:cNvSpPr>
          <p:nvPr>
            <p:ph type="title"/>
          </p:nvPr>
        </p:nvSpPr>
        <p:spPr/>
        <p:txBody>
          <a:bodyPr/>
          <a:lstStyle/>
          <a:p>
            <a:r>
              <a:rPr lang="zh-CN" altLang="zh-CN"/>
              <a:t>单击此处编辑母版标题样式</a:t>
            </a:r>
          </a:p>
        </p:txBody>
      </p:sp>
      <p:sp>
        <p:nvSpPr>
          <p:cNvPr id="3" name="内容占位符 2">
            <a:extLst>
              <a:ext uri="{FF2B5EF4-FFF2-40B4-BE49-F238E27FC236}">
                <a16:creationId xmlns:a16="http://schemas.microsoft.com/office/drawing/2014/main" id="{BE5B4190-F12C-3841-A9E2-53B5620E45AB}"/>
              </a:ext>
            </a:extLst>
          </p:cNvPr>
          <p:cNvSpPr>
            <a:spLocks noGrp="1"/>
          </p:cNvSpPr>
          <p:nvPr>
            <p:ph idx="1"/>
          </p:nvPr>
        </p:nvSpPr>
        <p:spPr/>
        <p:txBody>
          <a:bodyPr/>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4" name="日期占位符 3">
            <a:extLst>
              <a:ext uri="{FF2B5EF4-FFF2-40B4-BE49-F238E27FC236}">
                <a16:creationId xmlns:a16="http://schemas.microsoft.com/office/drawing/2014/main" id="{1C7094C1-7AB0-8D41-990D-52097AD241C2}"/>
              </a:ext>
            </a:extLst>
          </p:cNvPr>
          <p:cNvSpPr>
            <a:spLocks noGrp="1"/>
          </p:cNvSpPr>
          <p:nvPr>
            <p:ph type="dt" idx="10"/>
          </p:nvPr>
        </p:nvSpPr>
        <p:spPr/>
        <p:txBody>
          <a:bodyPr/>
          <a:lstStyle/>
          <a:p>
            <a:fld id="{6A6E5BDD-74C0-40C6-B5F7-19A4815A8DED}" type="datetime1">
              <a:rPr lang="zh-CN" altLang="zh-CN"/>
              <a:t>2025/3/10</a:t>
            </a:fld>
            <a:endParaRPr lang="zh-CN" altLang="zh-CN"/>
          </a:p>
        </p:txBody>
      </p:sp>
      <p:sp>
        <p:nvSpPr>
          <p:cNvPr id="5" name="页脚占位符 4">
            <a:extLst>
              <a:ext uri="{FF2B5EF4-FFF2-40B4-BE49-F238E27FC236}">
                <a16:creationId xmlns:a16="http://schemas.microsoft.com/office/drawing/2014/main" id="{07F30CEB-C816-654D-B93D-EDD98F14077A}"/>
              </a:ext>
            </a:extLst>
          </p:cNvPr>
          <p:cNvSpPr>
            <a:spLocks noGrp="1"/>
          </p:cNvSpPr>
          <p:nvPr>
            <p:ph type="ftr" idx="11"/>
          </p:nvPr>
        </p:nvSpPr>
        <p:spPr/>
        <p:txBody>
          <a:bodyPr/>
          <a:lstStyle/>
          <a:p>
            <a:endParaRPr lang="zh-CN" altLang="zh-CN"/>
          </a:p>
        </p:txBody>
      </p:sp>
      <p:sp>
        <p:nvSpPr>
          <p:cNvPr id="6" name="灯片编号占位符 5">
            <a:extLst>
              <a:ext uri="{FF2B5EF4-FFF2-40B4-BE49-F238E27FC236}">
                <a16:creationId xmlns:a16="http://schemas.microsoft.com/office/drawing/2014/main" id="{CF336DA2-E044-CD49-B80E-682AA496AE2D}"/>
              </a:ext>
            </a:extLst>
          </p:cNvPr>
          <p:cNvSpPr>
            <a:spLocks noGrp="1"/>
          </p:cNvSpPr>
          <p:nvPr>
            <p:ph type="sldNum" idx="12"/>
          </p:nvPr>
        </p:nvSpPr>
        <p:spPr/>
        <p:txBody>
          <a:bodyPr/>
          <a:lstStyle/>
          <a:p>
            <a:fld id="{DC97DD8E-DE26-44B0-8CAB-F9A4BA555472}" type="slidenum">
              <a:rPr lang="zh-CN" altLang="zh-CN"/>
              <a:t>‹#›</a:t>
            </a:fld>
            <a:endParaRPr lang="zh-CN" altLang="zh-CN"/>
          </a:p>
        </p:txBody>
      </p:sp>
    </p:spTree>
    <p:extLst>
      <p:ext uri="{BB962C8B-B14F-4D97-AF65-F5344CB8AC3E}">
        <p14:creationId xmlns:p14="http://schemas.microsoft.com/office/powerpoint/2010/main" val="4061340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図 6" descr="グラフィカル ユーザー インターフェイス, アプリケーション&#10;&#10;自動的に生成された説明">
            <a:extLst>
              <a:ext uri="{FF2B5EF4-FFF2-40B4-BE49-F238E27FC236}">
                <a16:creationId xmlns:a16="http://schemas.microsoft.com/office/drawing/2014/main" id="{409DBFEB-F3A1-5056-EB6E-08061565F30B}"/>
              </a:ext>
            </a:extLst>
          </p:cNvPr>
          <p:cNvPicPr>
            <a:picLocks noChangeAspect="1"/>
          </p:cNvPicPr>
          <p:nvPr userDrawn="1"/>
        </p:nvPicPr>
        <p:blipFill>
          <a:blip r:embed="rId14"/>
          <a:stretch>
            <a:fillRect/>
          </a:stretch>
        </p:blipFill>
        <p:spPr>
          <a:xfrm>
            <a:off x="0" y="0"/>
            <a:ext cx="9144000" cy="5143500"/>
          </a:xfrm>
          <a:prstGeom prst="rect">
            <a:avLst/>
          </a:prstGeom>
        </p:spPr>
      </p:pic>
      <p:sp>
        <p:nvSpPr>
          <p:cNvPr id="9" name="Slide Number Placeholder 5">
            <a:extLst>
              <a:ext uri="{FF2B5EF4-FFF2-40B4-BE49-F238E27FC236}">
                <a16:creationId xmlns:a16="http://schemas.microsoft.com/office/drawing/2014/main" id="{E67B3C05-D25C-D32F-0B83-5ED6459D8385}"/>
              </a:ext>
            </a:extLst>
          </p:cNvPr>
          <p:cNvSpPr txBox="1">
            <a:spLocks/>
          </p:cNvSpPr>
          <p:nvPr userDrawn="1"/>
        </p:nvSpPr>
        <p:spPr>
          <a:xfrm>
            <a:off x="6457950" y="4767263"/>
            <a:ext cx="205740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kumimoji="1" lang="ja-JP" altLang="en-US" dirty="0">
              <a:latin typeface="Roboto" panose="02000000000000000000" pitchFamily="2" charset="0"/>
              <a:ea typeface="Meiryo UI" panose="020B0604030504040204" pitchFamily="34" charset="-128"/>
            </a:endParaRPr>
          </a:p>
        </p:txBody>
      </p:sp>
      <p:sp>
        <p:nvSpPr>
          <p:cNvPr id="17" name="正方形/長方形 16">
            <a:extLst>
              <a:ext uri="{FF2B5EF4-FFF2-40B4-BE49-F238E27FC236}">
                <a16:creationId xmlns:a16="http://schemas.microsoft.com/office/drawing/2014/main" id="{C3AB160B-FDC2-4A24-67A0-06A98BDEEF70}"/>
              </a:ext>
            </a:extLst>
          </p:cNvPr>
          <p:cNvSpPr/>
          <p:nvPr userDrawn="1"/>
        </p:nvSpPr>
        <p:spPr>
          <a:xfrm>
            <a:off x="0" y="0"/>
            <a:ext cx="9144000" cy="5143500"/>
          </a:xfrm>
          <a:prstGeom prst="rect">
            <a:avLst/>
          </a:prstGeom>
          <a:solidFill>
            <a:srgbClr val="FFFFFF">
              <a:alpha val="7451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Roboto" panose="02000000000000000000" pitchFamily="2" charset="0"/>
              <a:ea typeface="Meiryo UI" panose="020B0604030504040204" pitchFamily="34" charset="-128"/>
            </a:endParaRPr>
          </a:p>
        </p:txBody>
      </p:sp>
      <p:pic>
        <p:nvPicPr>
          <p:cNvPr id="15" name="図 14" descr="カップ, 記号, プレート, 男 が含まれている画像&#10;&#10;自動的に生成された説明">
            <a:extLst>
              <a:ext uri="{FF2B5EF4-FFF2-40B4-BE49-F238E27FC236}">
                <a16:creationId xmlns:a16="http://schemas.microsoft.com/office/drawing/2014/main" id="{DB7FA501-F6C0-29AF-F9A9-9B3CC716BC19}"/>
              </a:ext>
            </a:extLst>
          </p:cNvPr>
          <p:cNvPicPr>
            <a:picLocks noChangeAspect="1"/>
          </p:cNvPicPr>
          <p:nvPr userDrawn="1"/>
        </p:nvPicPr>
        <p:blipFill>
          <a:blip r:embed="rId15"/>
          <a:stretch>
            <a:fillRect/>
          </a:stretch>
        </p:blipFill>
        <p:spPr>
          <a:xfrm>
            <a:off x="7092175" y="95854"/>
            <a:ext cx="1886011" cy="414923"/>
          </a:xfrm>
          <a:prstGeom prst="rect">
            <a:avLst/>
          </a:prstGeom>
        </p:spPr>
      </p:pic>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latin typeface="Roboto" panose="02000000000000000000" pitchFamily="2" charset="0"/>
                <a:ea typeface="Meiryo UI" panose="020B0604030504040204" pitchFamily="34" charset="-128"/>
              </a:defRPr>
            </a:lvl1pPr>
          </a:lstStyle>
          <a:p>
            <a:endParaRPr kumimoji="1" lang="ja-JP"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latin typeface="Roboto" panose="02000000000000000000" pitchFamily="2" charset="0"/>
                <a:ea typeface="Meiryo UI" panose="020B0604030504040204" pitchFamily="34" charset="-128"/>
              </a:defRPr>
            </a:lvl1pPr>
          </a:lstStyle>
          <a:p>
            <a:fld id="{84931BFA-6A79-4E4A-9C45-0BDD8E554429}" type="slidenum">
              <a:rPr kumimoji="1" lang="ja-JP" altLang="en-US" smtClean="0"/>
              <a:pPr/>
              <a:t>‹#›</a:t>
            </a:fld>
            <a:endParaRPr kumimoji="1" lang="ja-JP" altLang="en-US" dirty="0"/>
          </a:p>
        </p:txBody>
      </p:sp>
    </p:spTree>
    <p:extLst>
      <p:ext uri="{BB962C8B-B14F-4D97-AF65-F5344CB8AC3E}">
        <p14:creationId xmlns:p14="http://schemas.microsoft.com/office/powerpoint/2010/main" val="1104135823"/>
      </p:ext>
    </p:extLst>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txStyles>
    <p:titleStyle>
      <a:lvl1pPr algn="l" defTabSz="685800" rtl="0" eaLnBrk="1" latinLnBrk="0" hangingPunct="1">
        <a:lnSpc>
          <a:spcPct val="90000"/>
        </a:lnSpc>
        <a:spcBef>
          <a:spcPct val="0"/>
        </a:spcBef>
        <a:buNone/>
        <a:defRPr kumimoji="1" sz="3300" kern="1200">
          <a:solidFill>
            <a:schemeClr val="tx1"/>
          </a:solidFill>
          <a:latin typeface="Roboto" panose="02000000000000000000" pitchFamily="2" charset="0"/>
          <a:ea typeface="Meiryo UI" panose="020B0604030504040204" pitchFamily="34" charset="-128"/>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Roboto" panose="02000000000000000000" pitchFamily="2" charset="0"/>
          <a:ea typeface="Meiryo UI" panose="020B0604030504040204" pitchFamily="34"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Roboto" panose="02000000000000000000" pitchFamily="2" charset="0"/>
          <a:ea typeface="Meiryo UI" panose="020B0604030504040204" pitchFamily="34"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Roboto" panose="02000000000000000000" pitchFamily="2" charset="0"/>
          <a:ea typeface="Meiryo UI" panose="020B0604030504040204" pitchFamily="34"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Roboto" panose="02000000000000000000" pitchFamily="2" charset="0"/>
          <a:ea typeface="Meiryo UI" panose="020B0604030504040204" pitchFamily="34"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Roboto" panose="02000000000000000000" pitchFamily="2" charset="0"/>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1.sv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49.png"/><Relationship Id="rId5" Type="http://schemas.openxmlformats.org/officeDocument/2006/relationships/image" Target="../media/image10.jpeg"/><Relationship Id="rId10"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B01CAD-AF22-130C-A190-8A2AA417F42F}"/>
              </a:ext>
            </a:extLst>
          </p:cNvPr>
          <p:cNvSpPr>
            <a:spLocks noGrp="1"/>
          </p:cNvSpPr>
          <p:nvPr>
            <p:ph type="ctrTitle"/>
          </p:nvPr>
        </p:nvSpPr>
        <p:spPr>
          <a:xfrm>
            <a:off x="456939" y="1097952"/>
            <a:ext cx="8236829" cy="1263239"/>
          </a:xfrm>
        </p:spPr>
        <p:txBody>
          <a:bodyPr>
            <a:noAutofit/>
          </a:bodyPr>
          <a:lstStyle/>
          <a:p>
            <a:pPr algn="l"/>
            <a:r>
              <a:rPr kumimoji="1" lang="en-US" altLang="ja-JP" sz="2800" dirty="0">
                <a:latin typeface="微软雅黑" panose="020B0503020204020204" pitchFamily="34" charset="-122"/>
                <a:ea typeface="微软雅黑" panose="020B0503020204020204" pitchFamily="34" charset="-122"/>
              </a:rPr>
              <a:t>Seeing Through the Overlap: </a:t>
            </a:r>
            <a:br>
              <a:rPr kumimoji="1" lang="en-US" altLang="ja-JP" sz="2800" dirty="0">
                <a:latin typeface="微软雅黑" panose="020B0503020204020204" pitchFamily="34" charset="-122"/>
                <a:ea typeface="微软雅黑" panose="020B0503020204020204" pitchFamily="34" charset="-122"/>
              </a:rPr>
            </a:br>
            <a:r>
              <a:rPr kumimoji="1" lang="en-US" altLang="ja-JP" sz="2800" dirty="0">
                <a:latin typeface="微软雅黑" panose="020B0503020204020204" pitchFamily="34" charset="-122"/>
                <a:ea typeface="微软雅黑" panose="020B0503020204020204" pitchFamily="34" charset="-122"/>
              </a:rPr>
              <a:t>The Impact of Color and Opacity on Depth Order Perception in Visualization</a:t>
            </a:r>
            <a:endParaRPr kumimoji="1" lang="ja-JP" altLang="en-US" sz="2800" dirty="0">
              <a:latin typeface="微软雅黑" panose="020B0503020204020204" pitchFamily="34" charset="-122"/>
              <a:ea typeface="微软雅黑" panose="020B0503020204020204" pitchFamily="34" charset="-122"/>
            </a:endParaRPr>
          </a:p>
        </p:txBody>
      </p:sp>
      <p:pic>
        <p:nvPicPr>
          <p:cNvPr id="4" name="Picture 3" descr="图片 13">
            <a:extLst>
              <a:ext uri="{FF2B5EF4-FFF2-40B4-BE49-F238E27FC236}">
                <a16:creationId xmlns:a16="http://schemas.microsoft.com/office/drawing/2014/main" id="{CE1F6DEB-5DC7-4815-89E2-E2B167FB2134}"/>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232"/>
          <a:stretch/>
        </p:blipFill>
        <p:spPr bwMode="auto">
          <a:xfrm>
            <a:off x="896087" y="3270582"/>
            <a:ext cx="425928" cy="424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2" descr="logo">
            <a:extLst>
              <a:ext uri="{FF2B5EF4-FFF2-40B4-BE49-F238E27FC236}">
                <a16:creationId xmlns:a16="http://schemas.microsoft.com/office/drawing/2014/main" id="{E1E8F397-8EFA-4E24-9A90-0D248800A3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4653" y="3250578"/>
            <a:ext cx="424411" cy="42441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校徽">
            <a:extLst>
              <a:ext uri="{FF2B5EF4-FFF2-40B4-BE49-F238E27FC236}">
                <a16:creationId xmlns:a16="http://schemas.microsoft.com/office/drawing/2014/main" id="{EFDDBAEE-086D-42BA-ADB5-FA0441C9AF1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8015" y="3245637"/>
            <a:ext cx="424411" cy="424411"/>
          </a:xfrm>
          <a:prstGeom prst="rect">
            <a:avLst/>
          </a:prstGeom>
          <a:noFill/>
          <a:extLst>
            <a:ext uri="{909E8E84-426E-40DD-AFC4-6F175D3DCCD1}">
              <a14:hiddenFill xmlns:a14="http://schemas.microsoft.com/office/drawing/2010/main">
                <a:solidFill>
                  <a:srgbClr val="FFFFFF"/>
                </a:solidFill>
              </a14:hiddenFill>
            </a:ext>
          </a:extLst>
        </p:spPr>
      </p:pic>
      <p:sp>
        <p:nvSpPr>
          <p:cNvPr id="25" name="字幕 2">
            <a:extLst>
              <a:ext uri="{FF2B5EF4-FFF2-40B4-BE49-F238E27FC236}">
                <a16:creationId xmlns:a16="http://schemas.microsoft.com/office/drawing/2014/main" id="{97F2E59F-0DB5-42E4-BC94-0E33F3FF9C32}"/>
              </a:ext>
            </a:extLst>
          </p:cNvPr>
          <p:cNvSpPr txBox="1">
            <a:spLocks/>
          </p:cNvSpPr>
          <p:nvPr/>
        </p:nvSpPr>
        <p:spPr>
          <a:xfrm>
            <a:off x="414794" y="3700883"/>
            <a:ext cx="1388513" cy="359420"/>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Roboto" panose="02000000000000000000" pitchFamily="2" charset="0"/>
                <a:ea typeface="Meiryo UI" panose="020B0604030504040204" pitchFamily="34" charset="-128"/>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Roboto" panose="02000000000000000000" pitchFamily="2" charset="0"/>
                <a:ea typeface="Meiryo UI" panose="020B0604030504040204" pitchFamily="34" charset="-128"/>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Roboto" panose="02000000000000000000" pitchFamily="2" charset="0"/>
                <a:ea typeface="Meiryo UI" panose="020B0604030504040204" pitchFamily="34" charset="-128"/>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Roboto" panose="02000000000000000000" pitchFamily="2" charset="0"/>
                <a:ea typeface="Meiryo UI" panose="020B0604030504040204" pitchFamily="34" charset="-128"/>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Roboto" panose="02000000000000000000" pitchFamily="2" charset="0"/>
                <a:ea typeface="Meiryo UI" panose="020B0604030504040204" pitchFamily="34" charset="-128"/>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nSpc>
                <a:spcPct val="150000"/>
              </a:lnSpc>
            </a:pPr>
            <a:r>
              <a:rPr lang="en-US" altLang="zh-CN" sz="800" baseline="30000" dirty="0">
                <a:latin typeface="微软雅黑" panose="020B0503020204020204" pitchFamily="34" charset="-122"/>
                <a:ea typeface="微软雅黑" panose="020B0503020204020204" pitchFamily="34" charset="-122"/>
              </a:rPr>
              <a:t>1</a:t>
            </a:r>
            <a:r>
              <a:rPr lang="en-US" altLang="zh-CN" sz="800" dirty="0">
                <a:latin typeface="微软雅黑" panose="020B0503020204020204" pitchFamily="34" charset="-122"/>
                <a:ea typeface="微软雅黑" panose="020B0503020204020204" pitchFamily="34" charset="-122"/>
              </a:rPr>
              <a:t>Shandong University</a:t>
            </a:r>
            <a:endParaRPr lang="ja-JP" altLang="en-US" sz="800" dirty="0">
              <a:latin typeface="微软雅黑" panose="020B0503020204020204" pitchFamily="34" charset="-122"/>
              <a:ea typeface="微软雅黑" panose="020B0503020204020204" pitchFamily="34" charset="-122"/>
            </a:endParaRPr>
          </a:p>
        </p:txBody>
      </p:sp>
      <p:sp>
        <p:nvSpPr>
          <p:cNvPr id="26" name="字幕 2">
            <a:extLst>
              <a:ext uri="{FF2B5EF4-FFF2-40B4-BE49-F238E27FC236}">
                <a16:creationId xmlns:a16="http://schemas.microsoft.com/office/drawing/2014/main" id="{914AD3E0-C0E6-4C0A-879A-21E815C4CABE}"/>
              </a:ext>
            </a:extLst>
          </p:cNvPr>
          <p:cNvSpPr txBox="1">
            <a:spLocks/>
          </p:cNvSpPr>
          <p:nvPr/>
        </p:nvSpPr>
        <p:spPr>
          <a:xfrm>
            <a:off x="1569851" y="3709050"/>
            <a:ext cx="1994016" cy="359420"/>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Roboto" panose="02000000000000000000" pitchFamily="2" charset="0"/>
                <a:ea typeface="Meiryo UI" panose="020B0604030504040204" pitchFamily="34" charset="-128"/>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Roboto" panose="02000000000000000000" pitchFamily="2" charset="0"/>
                <a:ea typeface="Meiryo UI" panose="020B0604030504040204" pitchFamily="34" charset="-128"/>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Roboto" panose="02000000000000000000" pitchFamily="2" charset="0"/>
                <a:ea typeface="Meiryo UI" panose="020B0604030504040204" pitchFamily="34" charset="-128"/>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Roboto" panose="02000000000000000000" pitchFamily="2" charset="0"/>
                <a:ea typeface="Meiryo UI" panose="020B0604030504040204" pitchFamily="34" charset="-128"/>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Roboto" panose="02000000000000000000" pitchFamily="2" charset="0"/>
                <a:ea typeface="Meiryo UI" panose="020B0604030504040204" pitchFamily="34" charset="-128"/>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nSpc>
                <a:spcPct val="150000"/>
              </a:lnSpc>
            </a:pPr>
            <a:r>
              <a:rPr lang="en-US" altLang="zh-CN" sz="800" baseline="30000" dirty="0">
                <a:latin typeface="微软雅黑" panose="020B0503020204020204" pitchFamily="34" charset="-122"/>
                <a:ea typeface="微软雅黑" panose="020B0503020204020204" pitchFamily="34" charset="-122"/>
              </a:rPr>
              <a:t>2</a:t>
            </a:r>
            <a:r>
              <a:rPr lang="en-US" altLang="zh-CN" sz="800" dirty="0">
                <a:latin typeface="微软雅黑" panose="020B0503020204020204" pitchFamily="34" charset="-122"/>
                <a:ea typeface="微软雅黑" panose="020B0503020204020204" pitchFamily="34" charset="-122"/>
              </a:rPr>
              <a:t>Renmin University of China</a:t>
            </a:r>
            <a:endParaRPr lang="ja-JP" altLang="en-US" sz="800" dirty="0">
              <a:latin typeface="微软雅黑" panose="020B0503020204020204" pitchFamily="34" charset="-122"/>
              <a:ea typeface="微软雅黑" panose="020B0503020204020204" pitchFamily="34" charset="-122"/>
            </a:endParaRPr>
          </a:p>
        </p:txBody>
      </p:sp>
      <p:sp>
        <p:nvSpPr>
          <p:cNvPr id="27" name="字幕 2">
            <a:extLst>
              <a:ext uri="{FF2B5EF4-FFF2-40B4-BE49-F238E27FC236}">
                <a16:creationId xmlns:a16="http://schemas.microsoft.com/office/drawing/2014/main" id="{3F2CA032-8F54-4560-B8E7-350F22F084BC}"/>
              </a:ext>
            </a:extLst>
          </p:cNvPr>
          <p:cNvSpPr txBox="1">
            <a:spLocks/>
          </p:cNvSpPr>
          <p:nvPr/>
        </p:nvSpPr>
        <p:spPr>
          <a:xfrm>
            <a:off x="3279860" y="3709050"/>
            <a:ext cx="1994016" cy="359420"/>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Roboto" panose="02000000000000000000" pitchFamily="2" charset="0"/>
                <a:ea typeface="Meiryo UI" panose="020B0604030504040204" pitchFamily="34" charset="-128"/>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Roboto" panose="02000000000000000000" pitchFamily="2" charset="0"/>
                <a:ea typeface="Meiryo UI" panose="020B0604030504040204" pitchFamily="34" charset="-128"/>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Roboto" panose="02000000000000000000" pitchFamily="2" charset="0"/>
                <a:ea typeface="Meiryo UI" panose="020B0604030504040204" pitchFamily="34" charset="-128"/>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Roboto" panose="02000000000000000000" pitchFamily="2" charset="0"/>
                <a:ea typeface="Meiryo UI" panose="020B0604030504040204" pitchFamily="34" charset="-128"/>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Roboto" panose="02000000000000000000" pitchFamily="2" charset="0"/>
                <a:ea typeface="Meiryo UI" panose="020B0604030504040204" pitchFamily="34" charset="-128"/>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nSpc>
                <a:spcPct val="150000"/>
              </a:lnSpc>
            </a:pPr>
            <a:r>
              <a:rPr lang="en-US" altLang="zh-CN" sz="800" baseline="30000" dirty="0">
                <a:latin typeface="微软雅黑" panose="020B0503020204020204" pitchFamily="34" charset="-122"/>
                <a:ea typeface="微软雅黑" panose="020B0503020204020204" pitchFamily="34" charset="-122"/>
              </a:rPr>
              <a:t>3</a:t>
            </a:r>
            <a:r>
              <a:rPr lang="en-US" altLang="zh-CN" sz="800" dirty="0">
                <a:latin typeface="微软雅黑" panose="020B0503020204020204" pitchFamily="34" charset="-122"/>
                <a:ea typeface="微软雅黑" panose="020B0503020204020204" pitchFamily="34" charset="-122"/>
              </a:rPr>
              <a:t>University of Maryland College Park</a:t>
            </a:r>
            <a:endParaRPr lang="ja-JP" altLang="en-US" sz="800" dirty="0">
              <a:latin typeface="微软雅黑" panose="020B0503020204020204" pitchFamily="34" charset="-122"/>
              <a:ea typeface="微软雅黑" panose="020B0503020204020204" pitchFamily="34" charset="-122"/>
            </a:endParaRPr>
          </a:p>
        </p:txBody>
      </p:sp>
      <p:sp>
        <p:nvSpPr>
          <p:cNvPr id="28" name="字幕 2">
            <a:extLst>
              <a:ext uri="{FF2B5EF4-FFF2-40B4-BE49-F238E27FC236}">
                <a16:creationId xmlns:a16="http://schemas.microsoft.com/office/drawing/2014/main" id="{7CA555DC-9B8B-4CEF-89C0-91D955390F30}"/>
              </a:ext>
            </a:extLst>
          </p:cNvPr>
          <p:cNvSpPr>
            <a:spLocks noGrp="1"/>
          </p:cNvSpPr>
          <p:nvPr>
            <p:ph type="subTitle" idx="1"/>
          </p:nvPr>
        </p:nvSpPr>
        <p:spPr>
          <a:xfrm>
            <a:off x="510607" y="2505264"/>
            <a:ext cx="4787443" cy="621244"/>
          </a:xfrm>
        </p:spPr>
        <p:txBody>
          <a:bodyPr>
            <a:normAutofit/>
          </a:bodyPr>
          <a:lstStyle/>
          <a:p>
            <a:pPr algn="l">
              <a:lnSpc>
                <a:spcPct val="150000"/>
              </a:lnSpc>
            </a:pPr>
            <a:r>
              <a:rPr kumimoji="1" lang="en-US" altLang="zh-CN" sz="1200" dirty="0" err="1">
                <a:latin typeface="微软雅黑" panose="020B0503020204020204" pitchFamily="34" charset="-122"/>
                <a:ea typeface="微软雅黑" panose="020B0503020204020204" pitchFamily="34" charset="-122"/>
              </a:rPr>
              <a:t>Zhiyuan</a:t>
            </a:r>
            <a:r>
              <a:rPr kumimoji="1" lang="en-US" altLang="zh-CN" sz="1200" dirty="0">
                <a:latin typeface="微软雅黑" panose="020B0503020204020204" pitchFamily="34" charset="-122"/>
                <a:ea typeface="微软雅黑" panose="020B0503020204020204" pitchFamily="34" charset="-122"/>
              </a:rPr>
              <a:t> Meng</a:t>
            </a:r>
            <a:r>
              <a:rPr kumimoji="1" lang="en-US" altLang="zh-CN" sz="1200" baseline="30000" dirty="0">
                <a:latin typeface="微软雅黑" panose="020B0503020204020204" pitchFamily="34" charset="-122"/>
                <a:ea typeface="微软雅黑" panose="020B0503020204020204" pitchFamily="34" charset="-122"/>
              </a:rPr>
              <a:t>1</a:t>
            </a:r>
            <a:r>
              <a:rPr kumimoji="1" lang="en-US" altLang="zh-CN"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Yunpeng</a:t>
            </a:r>
            <a:r>
              <a:rPr kumimoji="1" lang="en-US" altLang="zh-CN" sz="1200" dirty="0">
                <a:latin typeface="微软雅黑" panose="020B0503020204020204" pitchFamily="34" charset="-122"/>
                <a:ea typeface="微软雅黑" panose="020B0503020204020204" pitchFamily="34" charset="-122"/>
              </a:rPr>
              <a:t> Yang</a:t>
            </a:r>
            <a:r>
              <a:rPr kumimoji="1" lang="en-US" altLang="zh-CN" sz="1200" baseline="30000" dirty="0">
                <a:latin typeface="微软雅黑" panose="020B0503020204020204" pitchFamily="34" charset="-122"/>
                <a:ea typeface="微软雅黑" panose="020B0503020204020204" pitchFamily="34" charset="-122"/>
              </a:rPr>
              <a:t>1</a:t>
            </a:r>
            <a:r>
              <a:rPr kumimoji="1" lang="en-US" altLang="zh-CN"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Qiong</a:t>
            </a:r>
            <a:r>
              <a:rPr kumimoji="1" lang="en-US" altLang="zh-CN" sz="1200" dirty="0">
                <a:latin typeface="微软雅黑" panose="020B0503020204020204" pitchFamily="34" charset="-122"/>
                <a:ea typeface="微软雅黑" panose="020B0503020204020204" pitchFamily="34" charset="-122"/>
              </a:rPr>
              <a:t> Zeng</a:t>
            </a:r>
            <a:r>
              <a:rPr kumimoji="1" lang="en-US" altLang="zh-CN" sz="1200" baseline="30000" dirty="0">
                <a:latin typeface="微软雅黑" panose="020B0503020204020204" pitchFamily="34" charset="-122"/>
                <a:ea typeface="微软雅黑" panose="020B0503020204020204" pitchFamily="34" charset="-122"/>
              </a:rPr>
              <a:t>1</a:t>
            </a:r>
            <a:r>
              <a:rPr lang="en-US" altLang="zh-CN" sz="1200" baseline="30000" dirty="0">
                <a:latin typeface="微软雅黑" panose="020B0503020204020204" pitchFamily="34" charset="-122"/>
                <a:ea typeface="微软雅黑" panose="020B0503020204020204" pitchFamily="34" charset="-122"/>
              </a:rPr>
              <a:t>,*</a:t>
            </a:r>
            <a:r>
              <a:rPr kumimoji="1" lang="en-US" altLang="zh-CN"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Kecheng</a:t>
            </a:r>
            <a:r>
              <a:rPr kumimoji="1" lang="en-US" altLang="zh-CN" sz="1200" dirty="0">
                <a:latin typeface="微软雅黑" panose="020B0503020204020204" pitchFamily="34" charset="-122"/>
                <a:ea typeface="微软雅黑" panose="020B0503020204020204" pitchFamily="34" charset="-122"/>
              </a:rPr>
              <a:t>  Lu</a:t>
            </a:r>
            <a:r>
              <a:rPr lang="en-US" altLang="zh-CN" sz="1200" baseline="30000" dirty="0">
                <a:latin typeface="微软雅黑" panose="020B0503020204020204" pitchFamily="34" charset="-122"/>
                <a:ea typeface="微软雅黑" panose="020B0503020204020204" pitchFamily="34" charset="-122"/>
              </a:rPr>
              <a:t>2</a:t>
            </a:r>
            <a:r>
              <a:rPr kumimoji="1" lang="en-US" altLang="zh-CN" sz="1200" dirty="0">
                <a:latin typeface="微软雅黑" panose="020B0503020204020204" pitchFamily="34" charset="-122"/>
                <a:ea typeface="微软雅黑" panose="020B0503020204020204" pitchFamily="34" charset="-122"/>
              </a:rPr>
              <a:t>, Lin Lu</a:t>
            </a:r>
            <a:r>
              <a:rPr kumimoji="1" lang="en-US" altLang="zh-CN" sz="1200" baseline="30000" dirty="0">
                <a:latin typeface="微软雅黑" panose="020B0503020204020204" pitchFamily="34" charset="-122"/>
                <a:ea typeface="微软雅黑" panose="020B0503020204020204" pitchFamily="34" charset="-122"/>
              </a:rPr>
              <a:t>1</a:t>
            </a:r>
            <a:r>
              <a:rPr kumimoji="1" lang="en-US" altLang="zh-CN"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Changhe</a:t>
            </a:r>
            <a:r>
              <a:rPr kumimoji="1" lang="en-US" altLang="zh-CN" sz="1200" dirty="0">
                <a:latin typeface="微软雅黑" panose="020B0503020204020204" pitchFamily="34" charset="-122"/>
                <a:ea typeface="微软雅黑" panose="020B0503020204020204" pitchFamily="34" charset="-122"/>
              </a:rPr>
              <a:t> Tu</a:t>
            </a:r>
            <a:r>
              <a:rPr kumimoji="1" lang="en-US" altLang="zh-CN" sz="1200" baseline="30000" dirty="0">
                <a:latin typeface="微软雅黑" panose="020B0503020204020204" pitchFamily="34" charset="-122"/>
                <a:ea typeface="微软雅黑" panose="020B0503020204020204" pitchFamily="34" charset="-122"/>
              </a:rPr>
              <a:t>1</a:t>
            </a:r>
            <a:r>
              <a:rPr kumimoji="1" lang="en-US" altLang="zh-CN"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Fumeng</a:t>
            </a:r>
            <a:r>
              <a:rPr kumimoji="1" lang="en-US" altLang="zh-CN" sz="1200" dirty="0">
                <a:latin typeface="微软雅黑" panose="020B0503020204020204" pitchFamily="34" charset="-122"/>
                <a:ea typeface="微软雅黑" panose="020B0503020204020204" pitchFamily="34" charset="-122"/>
              </a:rPr>
              <a:t> Yang</a:t>
            </a:r>
            <a:r>
              <a:rPr lang="en-US" altLang="zh-CN" sz="1200" baseline="30000" dirty="0">
                <a:latin typeface="微软雅黑" panose="020B0503020204020204" pitchFamily="34" charset="-122"/>
                <a:ea typeface="微软雅黑" panose="020B0503020204020204" pitchFamily="34" charset="-122"/>
              </a:rPr>
              <a:t>3</a:t>
            </a:r>
            <a:r>
              <a:rPr lang="en-US" altLang="zh-CN" sz="1200" dirty="0">
                <a:latin typeface="微软雅黑" panose="020B0503020204020204" pitchFamily="34" charset="-122"/>
                <a:ea typeface="微软雅黑" panose="020B0503020204020204" pitchFamily="34" charset="-122"/>
              </a:rPr>
              <a:t>, </a:t>
            </a:r>
            <a:r>
              <a:rPr lang="en-US" altLang="zh-CN" sz="1200" dirty="0" err="1">
                <a:latin typeface="微软雅黑" panose="020B0503020204020204" pitchFamily="34" charset="-122"/>
                <a:ea typeface="微软雅黑" panose="020B0503020204020204" pitchFamily="34" charset="-122"/>
              </a:rPr>
              <a:t>Yunhai</a:t>
            </a:r>
            <a:r>
              <a:rPr lang="en-US" altLang="zh-CN" sz="1200" dirty="0">
                <a:latin typeface="微软雅黑" panose="020B0503020204020204" pitchFamily="34" charset="-122"/>
                <a:ea typeface="微软雅黑" panose="020B0503020204020204" pitchFamily="34" charset="-122"/>
              </a:rPr>
              <a:t> Wang</a:t>
            </a:r>
            <a:r>
              <a:rPr lang="en-US" altLang="zh-CN" sz="1200" baseline="30000" dirty="0">
                <a:latin typeface="微软雅黑" panose="020B0503020204020204" pitchFamily="34" charset="-122"/>
                <a:ea typeface="微软雅黑" panose="020B0503020204020204" pitchFamily="34" charset="-122"/>
              </a:rPr>
              <a:t>2</a:t>
            </a:r>
            <a:endParaRPr kumimoji="1" lang="ja-JP" altLang="en-US" sz="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41665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0F0B5FD-3708-431D-8265-173FA24D3DAF}"/>
              </a:ext>
            </a:extLst>
          </p:cNvPr>
          <p:cNvSpPr/>
          <p:nvPr/>
        </p:nvSpPr>
        <p:spPr>
          <a:xfrm>
            <a:off x="460385" y="1033315"/>
            <a:ext cx="8422358" cy="369332"/>
          </a:xfrm>
          <a:prstGeom prst="rect">
            <a:avLst/>
          </a:prstGeom>
        </p:spPr>
        <p:txBody>
          <a:bodyPr wrap="square">
            <a:spAutoFit/>
          </a:bodyPr>
          <a:lstStyle/>
          <a:p>
            <a:pPr algn="just"/>
            <a:endParaRPr lang="en-US" altLang="zh-CN" dirty="0">
              <a:latin typeface="Calibri" panose="020F0502020204030204" pitchFamily="34" charset="0"/>
              <a:cs typeface="Calibri" panose="020F0502020204030204" pitchFamily="34" charset="0"/>
            </a:endParaRPr>
          </a:p>
        </p:txBody>
      </p:sp>
      <p:pic>
        <p:nvPicPr>
          <p:cNvPr id="10" name="图片 9">
            <a:extLst>
              <a:ext uri="{FF2B5EF4-FFF2-40B4-BE49-F238E27FC236}">
                <a16:creationId xmlns:a16="http://schemas.microsoft.com/office/drawing/2014/main" id="{B6E654C7-2D8B-41BA-888B-4245F32DDD4E}"/>
              </a:ext>
            </a:extLst>
          </p:cNvPr>
          <p:cNvPicPr>
            <a:picLocks noChangeAspect="1"/>
          </p:cNvPicPr>
          <p:nvPr/>
        </p:nvPicPr>
        <p:blipFill>
          <a:blip r:embed="rId3">
            <a:clrChange>
              <a:clrFrom>
                <a:srgbClr val="FEFEFE"/>
              </a:clrFrom>
              <a:clrTo>
                <a:srgbClr val="FEFEFE">
                  <a:alpha val="0"/>
                </a:srgbClr>
              </a:clrTo>
            </a:clrChange>
          </a:blip>
          <a:stretch>
            <a:fillRect/>
          </a:stretch>
        </p:blipFill>
        <p:spPr>
          <a:xfrm>
            <a:off x="591362" y="3677177"/>
            <a:ext cx="3012677" cy="1200132"/>
          </a:xfrm>
          <a:prstGeom prst="rect">
            <a:avLst/>
          </a:prstGeom>
        </p:spPr>
      </p:pic>
      <p:pic>
        <p:nvPicPr>
          <p:cNvPr id="15" name="Picture 2" descr="Density estimates of the butterfat percentage in the milk of four cattle breeds. Data Source: Canadian Record of Performance for Purebred Dairy Cattle">
            <a:extLst>
              <a:ext uri="{FF2B5EF4-FFF2-40B4-BE49-F238E27FC236}">
                <a16:creationId xmlns:a16="http://schemas.microsoft.com/office/drawing/2014/main" id="{EC951C38-FA05-4C93-BB41-A9D42FB7721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9598" y="1879962"/>
            <a:ext cx="2647234" cy="1633722"/>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1A5D8A2F-68A8-4579-8BDC-5B8CC1FF3F54}"/>
              </a:ext>
            </a:extLst>
          </p:cNvPr>
          <p:cNvPicPr>
            <a:picLocks noChangeAspect="1"/>
          </p:cNvPicPr>
          <p:nvPr/>
        </p:nvPicPr>
        <p:blipFill>
          <a:blip r:embed="rId5">
            <a:clrChange>
              <a:clrFrom>
                <a:srgbClr val="FEFEFE"/>
              </a:clrFrom>
              <a:clrTo>
                <a:srgbClr val="FEFEFE">
                  <a:alpha val="0"/>
                </a:srgbClr>
              </a:clrTo>
            </a:clrChange>
          </a:blip>
          <a:stretch>
            <a:fillRect/>
          </a:stretch>
        </p:blipFill>
        <p:spPr>
          <a:xfrm>
            <a:off x="3599582" y="812468"/>
            <a:ext cx="3071938" cy="1808000"/>
          </a:xfrm>
          <a:prstGeom prst="rect">
            <a:avLst/>
          </a:prstGeom>
        </p:spPr>
      </p:pic>
      <p:pic>
        <p:nvPicPr>
          <p:cNvPr id="8" name="图片 7">
            <a:extLst>
              <a:ext uri="{FF2B5EF4-FFF2-40B4-BE49-F238E27FC236}">
                <a16:creationId xmlns:a16="http://schemas.microsoft.com/office/drawing/2014/main" id="{CEF7046B-69A2-4EB2-B2EA-82BE998B72F6}"/>
              </a:ext>
            </a:extLst>
          </p:cNvPr>
          <p:cNvPicPr>
            <a:picLocks noChangeAspect="1"/>
          </p:cNvPicPr>
          <p:nvPr/>
        </p:nvPicPr>
        <p:blipFill rotWithShape="1">
          <a:blip r:embed="rId6">
            <a:clrChange>
              <a:clrFrom>
                <a:srgbClr val="FEFEFE"/>
              </a:clrFrom>
              <a:clrTo>
                <a:srgbClr val="FEFEFE">
                  <a:alpha val="0"/>
                </a:srgbClr>
              </a:clrTo>
            </a:clrChange>
          </a:blip>
          <a:srcRect r="21376"/>
          <a:stretch/>
        </p:blipFill>
        <p:spPr>
          <a:xfrm>
            <a:off x="6876600" y="905886"/>
            <a:ext cx="2116521" cy="1621165"/>
          </a:xfrm>
          <a:prstGeom prst="rect">
            <a:avLst/>
          </a:prstGeom>
        </p:spPr>
      </p:pic>
      <p:pic>
        <p:nvPicPr>
          <p:cNvPr id="11" name="图片 10">
            <a:extLst>
              <a:ext uri="{FF2B5EF4-FFF2-40B4-BE49-F238E27FC236}">
                <a16:creationId xmlns:a16="http://schemas.microsoft.com/office/drawing/2014/main" id="{DE5F9F5D-B2E1-4AB0-8FC0-D94A547158C1}"/>
              </a:ext>
            </a:extLst>
          </p:cNvPr>
          <p:cNvPicPr>
            <a:picLocks noChangeAspect="1"/>
          </p:cNvPicPr>
          <p:nvPr/>
        </p:nvPicPr>
        <p:blipFill>
          <a:blip r:embed="rId7">
            <a:clrChange>
              <a:clrFrom>
                <a:srgbClr val="FEFEFE"/>
              </a:clrFrom>
              <a:clrTo>
                <a:srgbClr val="FEFEFE">
                  <a:alpha val="0"/>
                </a:srgbClr>
              </a:clrTo>
            </a:clrChange>
          </a:blip>
          <a:stretch>
            <a:fillRect/>
          </a:stretch>
        </p:blipFill>
        <p:spPr>
          <a:xfrm>
            <a:off x="6167854" y="3034466"/>
            <a:ext cx="2714889" cy="1587954"/>
          </a:xfrm>
          <a:prstGeom prst="rect">
            <a:avLst/>
          </a:prstGeom>
        </p:spPr>
      </p:pic>
      <p:pic>
        <p:nvPicPr>
          <p:cNvPr id="4" name="图片 3">
            <a:extLst>
              <a:ext uri="{FF2B5EF4-FFF2-40B4-BE49-F238E27FC236}">
                <a16:creationId xmlns:a16="http://schemas.microsoft.com/office/drawing/2014/main" id="{0E16FBE3-8DE4-4F4F-96E2-EE8B563DB394}"/>
              </a:ext>
            </a:extLst>
          </p:cNvPr>
          <p:cNvPicPr>
            <a:picLocks noChangeAspect="1"/>
          </p:cNvPicPr>
          <p:nvPr/>
        </p:nvPicPr>
        <p:blipFill>
          <a:blip r:embed="rId8">
            <a:clrChange>
              <a:clrFrom>
                <a:srgbClr val="FEFEFE"/>
              </a:clrFrom>
              <a:clrTo>
                <a:srgbClr val="FEFEFE">
                  <a:alpha val="0"/>
                </a:srgbClr>
              </a:clrTo>
            </a:clrChange>
          </a:blip>
          <a:stretch>
            <a:fillRect/>
          </a:stretch>
        </p:blipFill>
        <p:spPr>
          <a:xfrm>
            <a:off x="3893655" y="2889774"/>
            <a:ext cx="1716969" cy="1961253"/>
          </a:xfrm>
          <a:prstGeom prst="rect">
            <a:avLst/>
          </a:prstGeom>
        </p:spPr>
      </p:pic>
      <p:sp>
        <p:nvSpPr>
          <p:cNvPr id="13" name="文本框 12">
            <a:extLst>
              <a:ext uri="{FF2B5EF4-FFF2-40B4-BE49-F238E27FC236}">
                <a16:creationId xmlns:a16="http://schemas.microsoft.com/office/drawing/2014/main" id="{A1B581E5-0272-4088-9921-0D3752E59C40}"/>
              </a:ext>
            </a:extLst>
          </p:cNvPr>
          <p:cNvSpPr txBox="1"/>
          <p:nvPr/>
        </p:nvSpPr>
        <p:spPr>
          <a:xfrm>
            <a:off x="6556420" y="4692643"/>
            <a:ext cx="1989286" cy="184666"/>
          </a:xfrm>
          <a:prstGeom prst="rect">
            <a:avLst/>
          </a:prstGeom>
          <a:noFill/>
        </p:spPr>
        <p:txBody>
          <a:bodyPr wrap="square" rtlCol="0">
            <a:spAutoFit/>
          </a:bodyPr>
          <a:lstStyle/>
          <a:p>
            <a:pPr algn="ctr"/>
            <a:r>
              <a:rPr lang="en-US" altLang="zh-CN" sz="600" dirty="0" err="1">
                <a:solidFill>
                  <a:schemeClr val="bg1">
                    <a:lumMod val="50000"/>
                  </a:schemeClr>
                </a:solidFill>
              </a:rPr>
              <a:t>Hummal</a:t>
            </a:r>
            <a:r>
              <a:rPr lang="en-US" altLang="zh-CN" sz="600" dirty="0">
                <a:solidFill>
                  <a:schemeClr val="bg1">
                    <a:lumMod val="50000"/>
                  </a:schemeClr>
                </a:solidFill>
              </a:rPr>
              <a:t> et al. 2010</a:t>
            </a:r>
            <a:endParaRPr lang="zh-CN" altLang="en-US" sz="600" dirty="0">
              <a:solidFill>
                <a:schemeClr val="bg1">
                  <a:lumMod val="50000"/>
                </a:schemeClr>
              </a:solidFill>
            </a:endParaRPr>
          </a:p>
        </p:txBody>
      </p:sp>
      <p:sp>
        <p:nvSpPr>
          <p:cNvPr id="16" name="文本框 15">
            <a:extLst>
              <a:ext uri="{FF2B5EF4-FFF2-40B4-BE49-F238E27FC236}">
                <a16:creationId xmlns:a16="http://schemas.microsoft.com/office/drawing/2014/main" id="{CFB05AF9-0285-423F-B61C-F37B40EBC443}"/>
              </a:ext>
            </a:extLst>
          </p:cNvPr>
          <p:cNvSpPr txBox="1"/>
          <p:nvPr/>
        </p:nvSpPr>
        <p:spPr>
          <a:xfrm>
            <a:off x="913788" y="3492511"/>
            <a:ext cx="1989286" cy="184666"/>
          </a:xfrm>
          <a:prstGeom prst="rect">
            <a:avLst/>
          </a:prstGeom>
          <a:noFill/>
        </p:spPr>
        <p:txBody>
          <a:bodyPr wrap="square" rtlCol="0">
            <a:spAutoFit/>
          </a:bodyPr>
          <a:lstStyle/>
          <a:p>
            <a:pPr algn="ctr"/>
            <a:r>
              <a:rPr lang="en-US" altLang="zh-CN" sz="600" dirty="0">
                <a:solidFill>
                  <a:schemeClr val="bg1">
                    <a:lumMod val="50000"/>
                  </a:schemeClr>
                </a:solidFill>
              </a:rPr>
              <a:t>https://clauswilke.com/dataviz</a:t>
            </a:r>
            <a:endParaRPr lang="zh-CN" altLang="en-US" sz="600" dirty="0">
              <a:solidFill>
                <a:schemeClr val="bg1">
                  <a:lumMod val="50000"/>
                </a:schemeClr>
              </a:solidFill>
            </a:endParaRPr>
          </a:p>
        </p:txBody>
      </p:sp>
      <p:sp>
        <p:nvSpPr>
          <p:cNvPr id="17" name="文本框 16">
            <a:extLst>
              <a:ext uri="{FF2B5EF4-FFF2-40B4-BE49-F238E27FC236}">
                <a16:creationId xmlns:a16="http://schemas.microsoft.com/office/drawing/2014/main" id="{AE3D1AF6-2B84-42B6-8306-134060E0F936}"/>
              </a:ext>
            </a:extLst>
          </p:cNvPr>
          <p:cNvSpPr txBox="1"/>
          <p:nvPr/>
        </p:nvSpPr>
        <p:spPr>
          <a:xfrm>
            <a:off x="958572" y="4877309"/>
            <a:ext cx="1989286" cy="184666"/>
          </a:xfrm>
          <a:prstGeom prst="rect">
            <a:avLst/>
          </a:prstGeom>
          <a:noFill/>
        </p:spPr>
        <p:txBody>
          <a:bodyPr wrap="square" rtlCol="0">
            <a:spAutoFit/>
          </a:bodyPr>
          <a:lstStyle/>
          <a:p>
            <a:pPr algn="ctr"/>
            <a:r>
              <a:rPr lang="en-US" altLang="zh-CN" sz="600" dirty="0" err="1">
                <a:solidFill>
                  <a:schemeClr val="bg1">
                    <a:lumMod val="50000"/>
                  </a:schemeClr>
                </a:solidFill>
              </a:rPr>
              <a:t>Sarikaya</a:t>
            </a:r>
            <a:r>
              <a:rPr lang="en-US" altLang="zh-CN" sz="600" dirty="0">
                <a:solidFill>
                  <a:schemeClr val="bg1">
                    <a:lumMod val="50000"/>
                  </a:schemeClr>
                </a:solidFill>
              </a:rPr>
              <a:t> et al. 2018</a:t>
            </a:r>
            <a:endParaRPr lang="zh-CN" altLang="en-US" sz="600" dirty="0">
              <a:solidFill>
                <a:schemeClr val="bg1">
                  <a:lumMod val="50000"/>
                </a:schemeClr>
              </a:solidFill>
            </a:endParaRPr>
          </a:p>
        </p:txBody>
      </p:sp>
      <p:sp>
        <p:nvSpPr>
          <p:cNvPr id="18" name="文本框 17">
            <a:extLst>
              <a:ext uri="{FF2B5EF4-FFF2-40B4-BE49-F238E27FC236}">
                <a16:creationId xmlns:a16="http://schemas.microsoft.com/office/drawing/2014/main" id="{DD125F4E-48DB-4346-9D7A-940D8FC80EB1}"/>
              </a:ext>
            </a:extLst>
          </p:cNvPr>
          <p:cNvSpPr txBox="1"/>
          <p:nvPr/>
        </p:nvSpPr>
        <p:spPr>
          <a:xfrm>
            <a:off x="4140908" y="2623111"/>
            <a:ext cx="1989286" cy="184666"/>
          </a:xfrm>
          <a:prstGeom prst="rect">
            <a:avLst/>
          </a:prstGeom>
          <a:noFill/>
        </p:spPr>
        <p:txBody>
          <a:bodyPr wrap="square" rtlCol="0">
            <a:spAutoFit/>
          </a:bodyPr>
          <a:lstStyle/>
          <a:p>
            <a:pPr algn="ctr"/>
            <a:r>
              <a:rPr lang="en-US" altLang="zh-CN" sz="600" dirty="0">
                <a:solidFill>
                  <a:schemeClr val="bg1">
                    <a:lumMod val="50000"/>
                  </a:schemeClr>
                </a:solidFill>
              </a:rPr>
              <a:t>Collins et al. 2009</a:t>
            </a:r>
            <a:endParaRPr lang="zh-CN" altLang="en-US" sz="600" dirty="0">
              <a:solidFill>
                <a:schemeClr val="bg1">
                  <a:lumMod val="50000"/>
                </a:schemeClr>
              </a:solidFill>
            </a:endParaRPr>
          </a:p>
        </p:txBody>
      </p:sp>
      <p:sp>
        <p:nvSpPr>
          <p:cNvPr id="19" name="文本框 18">
            <a:extLst>
              <a:ext uri="{FF2B5EF4-FFF2-40B4-BE49-F238E27FC236}">
                <a16:creationId xmlns:a16="http://schemas.microsoft.com/office/drawing/2014/main" id="{D3ACAF2E-0583-47E2-A179-0684ACBEB0CB}"/>
              </a:ext>
            </a:extLst>
          </p:cNvPr>
          <p:cNvSpPr txBox="1"/>
          <p:nvPr/>
        </p:nvSpPr>
        <p:spPr>
          <a:xfrm>
            <a:off x="3893654" y="4827898"/>
            <a:ext cx="1989286" cy="184666"/>
          </a:xfrm>
          <a:prstGeom prst="rect">
            <a:avLst/>
          </a:prstGeom>
          <a:noFill/>
        </p:spPr>
        <p:txBody>
          <a:bodyPr wrap="square" rtlCol="0">
            <a:spAutoFit/>
          </a:bodyPr>
          <a:lstStyle/>
          <a:p>
            <a:pPr algn="ctr"/>
            <a:r>
              <a:rPr lang="en-US" altLang="zh-CN" sz="600" dirty="0">
                <a:solidFill>
                  <a:schemeClr val="bg1">
                    <a:lumMod val="50000"/>
                  </a:schemeClr>
                </a:solidFill>
              </a:rPr>
              <a:t>https://thenode.biologists.com</a:t>
            </a:r>
            <a:endParaRPr lang="zh-CN" altLang="en-US" sz="600" dirty="0">
              <a:solidFill>
                <a:schemeClr val="bg1">
                  <a:lumMod val="50000"/>
                </a:schemeClr>
              </a:solidFill>
            </a:endParaRPr>
          </a:p>
        </p:txBody>
      </p:sp>
      <p:sp>
        <p:nvSpPr>
          <p:cNvPr id="20" name="文本框 19">
            <a:extLst>
              <a:ext uri="{FF2B5EF4-FFF2-40B4-BE49-F238E27FC236}">
                <a16:creationId xmlns:a16="http://schemas.microsoft.com/office/drawing/2014/main" id="{5977C077-E37E-4308-900B-3727FC7523E0}"/>
              </a:ext>
            </a:extLst>
          </p:cNvPr>
          <p:cNvSpPr txBox="1"/>
          <p:nvPr/>
        </p:nvSpPr>
        <p:spPr>
          <a:xfrm>
            <a:off x="6940217" y="2604490"/>
            <a:ext cx="1989286" cy="184666"/>
          </a:xfrm>
          <a:prstGeom prst="rect">
            <a:avLst/>
          </a:prstGeom>
          <a:noFill/>
        </p:spPr>
        <p:txBody>
          <a:bodyPr wrap="square" rtlCol="0">
            <a:spAutoFit/>
          </a:bodyPr>
          <a:lstStyle/>
          <a:p>
            <a:pPr algn="ctr"/>
            <a:r>
              <a:rPr lang="en-US" altLang="zh-CN" sz="600" dirty="0">
                <a:solidFill>
                  <a:schemeClr val="bg1">
                    <a:lumMod val="50000"/>
                  </a:schemeClr>
                </a:solidFill>
              </a:rPr>
              <a:t>https://clauswilke.com/dataviz</a:t>
            </a:r>
            <a:endParaRPr lang="zh-CN" altLang="en-US" sz="600" dirty="0">
              <a:solidFill>
                <a:schemeClr val="bg1">
                  <a:lumMod val="50000"/>
                </a:schemeClr>
              </a:solidFill>
            </a:endParaRPr>
          </a:p>
        </p:txBody>
      </p:sp>
      <p:grpSp>
        <p:nvGrpSpPr>
          <p:cNvPr id="2" name="组合 1">
            <a:extLst>
              <a:ext uri="{FF2B5EF4-FFF2-40B4-BE49-F238E27FC236}">
                <a16:creationId xmlns:a16="http://schemas.microsoft.com/office/drawing/2014/main" id="{1228B603-02CF-44C1-9DB3-7A4673B811E7}"/>
              </a:ext>
            </a:extLst>
          </p:cNvPr>
          <p:cNvGrpSpPr/>
          <p:nvPr/>
        </p:nvGrpSpPr>
        <p:grpSpPr>
          <a:xfrm>
            <a:off x="570763" y="702008"/>
            <a:ext cx="2764904" cy="1228013"/>
            <a:chOff x="570763" y="702008"/>
            <a:chExt cx="2764904" cy="1228013"/>
          </a:xfrm>
        </p:grpSpPr>
        <p:pic>
          <p:nvPicPr>
            <p:cNvPr id="12" name="图片 11">
              <a:extLst>
                <a:ext uri="{FF2B5EF4-FFF2-40B4-BE49-F238E27FC236}">
                  <a16:creationId xmlns:a16="http://schemas.microsoft.com/office/drawing/2014/main" id="{402FD3B4-0FA0-4B8F-94B8-34B3B32D9C52}"/>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570763" y="702008"/>
              <a:ext cx="2764904" cy="1014461"/>
            </a:xfrm>
            <a:prstGeom prst="rect">
              <a:avLst/>
            </a:prstGeom>
          </p:spPr>
        </p:pic>
        <p:sp>
          <p:nvSpPr>
            <p:cNvPr id="21" name="文本框 20">
              <a:extLst>
                <a:ext uri="{FF2B5EF4-FFF2-40B4-BE49-F238E27FC236}">
                  <a16:creationId xmlns:a16="http://schemas.microsoft.com/office/drawing/2014/main" id="{79C5F391-0CF4-4939-A6B8-3C810956B38D}"/>
                </a:ext>
              </a:extLst>
            </p:cNvPr>
            <p:cNvSpPr txBox="1"/>
            <p:nvPr/>
          </p:nvSpPr>
          <p:spPr>
            <a:xfrm>
              <a:off x="971020" y="1745355"/>
              <a:ext cx="1989286" cy="184666"/>
            </a:xfrm>
            <a:prstGeom prst="rect">
              <a:avLst/>
            </a:prstGeom>
            <a:noFill/>
          </p:spPr>
          <p:txBody>
            <a:bodyPr wrap="square" rtlCol="0">
              <a:spAutoFit/>
            </a:bodyPr>
            <a:lstStyle/>
            <a:p>
              <a:pPr algn="ctr"/>
              <a:r>
                <a:rPr lang="en-US" altLang="zh-CN" sz="600" dirty="0">
                  <a:solidFill>
                    <a:schemeClr val="bg1">
                      <a:lumMod val="50000"/>
                    </a:schemeClr>
                  </a:solidFill>
                </a:rPr>
                <a:t>Bruckner et al. 2005</a:t>
              </a:r>
              <a:endParaRPr lang="zh-CN" altLang="en-US" sz="600" dirty="0">
                <a:solidFill>
                  <a:schemeClr val="bg1">
                    <a:lumMod val="50000"/>
                  </a:schemeClr>
                </a:solidFill>
              </a:endParaRPr>
            </a:p>
          </p:txBody>
        </p:sp>
      </p:grpSp>
    </p:spTree>
    <p:extLst>
      <p:ext uri="{BB962C8B-B14F-4D97-AF65-F5344CB8AC3E}">
        <p14:creationId xmlns:p14="http://schemas.microsoft.com/office/powerpoint/2010/main" val="2758917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2">
            <a:extLst>
              <a:ext uri="{FF2B5EF4-FFF2-40B4-BE49-F238E27FC236}">
                <a16:creationId xmlns:a16="http://schemas.microsoft.com/office/drawing/2014/main" id="{6C61E7DD-63FF-4207-8762-4F6E10E001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1660" y="654934"/>
            <a:ext cx="5032800" cy="3334232"/>
          </a:xfrm>
          <a:prstGeom prst="rect">
            <a:avLst/>
          </a:prstGeom>
        </p:spPr>
      </p:pic>
      <p:sp>
        <p:nvSpPr>
          <p:cNvPr id="6" name="文本框 5">
            <a:extLst>
              <a:ext uri="{FF2B5EF4-FFF2-40B4-BE49-F238E27FC236}">
                <a16:creationId xmlns:a16="http://schemas.microsoft.com/office/drawing/2014/main" id="{31AB99A0-2E06-46E1-9008-E2D3C9413A45}"/>
              </a:ext>
            </a:extLst>
          </p:cNvPr>
          <p:cNvSpPr txBox="1"/>
          <p:nvPr/>
        </p:nvSpPr>
        <p:spPr>
          <a:xfrm>
            <a:off x="1324118" y="4119836"/>
            <a:ext cx="6706843" cy="584775"/>
          </a:xfrm>
          <a:prstGeom prst="rect">
            <a:avLst/>
          </a:prstGeom>
          <a:noFill/>
        </p:spPr>
        <p:txBody>
          <a:bodyPr wrap="square">
            <a:spAutoFit/>
          </a:bodyPr>
          <a:lstStyle/>
          <a:p>
            <a:pPr algn="just"/>
            <a:r>
              <a:rPr lang="en-US" altLang="zh-CN" sz="1600" dirty="0">
                <a:latin typeface="Arial" panose="020B0604020202020204" pitchFamily="34" charset="0"/>
                <a:cs typeface="Arial" panose="020B0604020202020204" pitchFamily="34" charset="0"/>
              </a:rPr>
              <a:t>Reasonable color and opacity settings can show correct depth layers in overlapped spaces and improve data understanding.</a:t>
            </a:r>
          </a:p>
        </p:txBody>
      </p:sp>
    </p:spTree>
    <p:extLst>
      <p:ext uri="{BB962C8B-B14F-4D97-AF65-F5344CB8AC3E}">
        <p14:creationId xmlns:p14="http://schemas.microsoft.com/office/powerpoint/2010/main" val="702242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a:extLst>
              <a:ext uri="{FF2B5EF4-FFF2-40B4-BE49-F238E27FC236}">
                <a16:creationId xmlns:a16="http://schemas.microsoft.com/office/drawing/2014/main" id="{2AE0D140-2894-4295-97EC-56542FC429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38451" y="700672"/>
            <a:ext cx="5059217" cy="3288494"/>
          </a:xfrm>
          <a:prstGeom prst="rect">
            <a:avLst/>
          </a:prstGeom>
        </p:spPr>
      </p:pic>
      <p:sp>
        <p:nvSpPr>
          <p:cNvPr id="6" name="文本框 5">
            <a:extLst>
              <a:ext uri="{FF2B5EF4-FFF2-40B4-BE49-F238E27FC236}">
                <a16:creationId xmlns:a16="http://schemas.microsoft.com/office/drawing/2014/main" id="{FC2C9F8F-C7F0-4A3D-8FFE-B1B6B686C3EB}"/>
              </a:ext>
            </a:extLst>
          </p:cNvPr>
          <p:cNvSpPr txBox="1"/>
          <p:nvPr/>
        </p:nvSpPr>
        <p:spPr>
          <a:xfrm>
            <a:off x="506839" y="4222993"/>
            <a:ext cx="8417705" cy="338554"/>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Inappropriate settings may show wrong depth layer perception and cause </a:t>
            </a:r>
            <a:r>
              <a:rPr lang="en-US" altLang="zh-CN" sz="1600" b="1" dirty="0">
                <a:latin typeface="Arial" panose="020B0604020202020204" pitchFamily="34" charset="0"/>
                <a:cs typeface="Arial" panose="020B0604020202020204" pitchFamily="34" charset="0"/>
              </a:rPr>
              <a:t>visual clutter</a:t>
            </a:r>
            <a:r>
              <a:rPr lang="en-US" altLang="zh-CN" sz="1600" dirty="0">
                <a:latin typeface="Arial" panose="020B0604020202020204" pitchFamily="34" charset="0"/>
                <a:cs typeface="Arial" panose="020B0604020202020204" pitchFamily="34" charset="0"/>
              </a:rPr>
              <a:t>.</a:t>
            </a:r>
            <a:endParaRPr lang="zh-CN"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3393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0F0B5FD-3708-431D-8265-173FA24D3DAF}"/>
              </a:ext>
            </a:extLst>
          </p:cNvPr>
          <p:cNvSpPr/>
          <p:nvPr/>
        </p:nvSpPr>
        <p:spPr>
          <a:xfrm>
            <a:off x="443160" y="4297064"/>
            <a:ext cx="8082153" cy="369332"/>
          </a:xfrm>
          <a:prstGeom prst="rect">
            <a:avLst/>
          </a:prstGeom>
        </p:spPr>
        <p:txBody>
          <a:bodyPr wrap="square">
            <a:spAutoFit/>
          </a:bodyPr>
          <a:lstStyle/>
          <a:p>
            <a:pPr algn="ctr"/>
            <a:r>
              <a:rPr lang="en-US" altLang="zh-CN" dirty="0">
                <a:latin typeface="Calibri" panose="020F0502020204030204" pitchFamily="34" charset="0"/>
                <a:cs typeface="Calibri" panose="020F0502020204030204" pitchFamily="34" charset="0"/>
              </a:rPr>
              <a:t>This problem becomes more severe in realistic visualization applications.</a:t>
            </a:r>
          </a:p>
        </p:txBody>
      </p:sp>
      <p:pic>
        <p:nvPicPr>
          <p:cNvPr id="3" name="图片 2">
            <a:extLst>
              <a:ext uri="{FF2B5EF4-FFF2-40B4-BE49-F238E27FC236}">
                <a16:creationId xmlns:a16="http://schemas.microsoft.com/office/drawing/2014/main" id="{CC0F5FB7-B993-4E06-B6B5-57581394185E}"/>
              </a:ext>
            </a:extLst>
          </p:cNvPr>
          <p:cNvPicPr>
            <a:picLocks noChangeAspect="1"/>
          </p:cNvPicPr>
          <p:nvPr/>
        </p:nvPicPr>
        <p:blipFill rotWithShape="1">
          <a:blip r:embed="rId3">
            <a:clrChange>
              <a:clrFrom>
                <a:srgbClr val="FEFEFE"/>
              </a:clrFrom>
              <a:clrTo>
                <a:srgbClr val="FEFEFE">
                  <a:alpha val="0"/>
                </a:srgbClr>
              </a:clrTo>
            </a:clrChange>
          </a:blip>
          <a:srcRect l="4353"/>
          <a:stretch/>
        </p:blipFill>
        <p:spPr>
          <a:xfrm>
            <a:off x="890646" y="657790"/>
            <a:ext cx="1459355" cy="1456558"/>
          </a:xfrm>
          <a:prstGeom prst="rect">
            <a:avLst/>
          </a:prstGeom>
        </p:spPr>
      </p:pic>
      <p:pic>
        <p:nvPicPr>
          <p:cNvPr id="4" name="图片 3">
            <a:extLst>
              <a:ext uri="{FF2B5EF4-FFF2-40B4-BE49-F238E27FC236}">
                <a16:creationId xmlns:a16="http://schemas.microsoft.com/office/drawing/2014/main" id="{FC5113A8-AEBB-497E-86ED-A91883CB7411}"/>
              </a:ext>
            </a:extLst>
          </p:cNvPr>
          <p:cNvPicPr>
            <a:picLocks noChangeAspect="1"/>
          </p:cNvPicPr>
          <p:nvPr/>
        </p:nvPicPr>
        <p:blipFill>
          <a:blip r:embed="rId4">
            <a:clrChange>
              <a:clrFrom>
                <a:srgbClr val="FEFEFE"/>
              </a:clrFrom>
              <a:clrTo>
                <a:srgbClr val="FEFEFE">
                  <a:alpha val="0"/>
                </a:srgbClr>
              </a:clrTo>
            </a:clrChange>
          </a:blip>
          <a:stretch>
            <a:fillRect/>
          </a:stretch>
        </p:blipFill>
        <p:spPr>
          <a:xfrm>
            <a:off x="602110" y="2434722"/>
            <a:ext cx="2486882" cy="1488845"/>
          </a:xfrm>
          <a:prstGeom prst="rect">
            <a:avLst/>
          </a:prstGeom>
        </p:spPr>
      </p:pic>
      <p:pic>
        <p:nvPicPr>
          <p:cNvPr id="6" name="图片 5">
            <a:extLst>
              <a:ext uri="{FF2B5EF4-FFF2-40B4-BE49-F238E27FC236}">
                <a16:creationId xmlns:a16="http://schemas.microsoft.com/office/drawing/2014/main" id="{8C30954D-B1E4-4F00-B6C1-92D7FB10D22D}"/>
              </a:ext>
            </a:extLst>
          </p:cNvPr>
          <p:cNvPicPr>
            <a:picLocks noChangeAspect="1"/>
          </p:cNvPicPr>
          <p:nvPr/>
        </p:nvPicPr>
        <p:blipFill>
          <a:blip r:embed="rId5">
            <a:clrChange>
              <a:clrFrom>
                <a:srgbClr val="FEFEFE"/>
              </a:clrFrom>
              <a:clrTo>
                <a:srgbClr val="FEFEFE">
                  <a:alpha val="0"/>
                </a:srgbClr>
              </a:clrTo>
            </a:clrChange>
          </a:blip>
          <a:stretch>
            <a:fillRect/>
          </a:stretch>
        </p:blipFill>
        <p:spPr>
          <a:xfrm>
            <a:off x="2789115" y="729450"/>
            <a:ext cx="3144561" cy="1289290"/>
          </a:xfrm>
          <a:prstGeom prst="rect">
            <a:avLst/>
          </a:prstGeom>
        </p:spPr>
      </p:pic>
      <p:pic>
        <p:nvPicPr>
          <p:cNvPr id="8" name="图片 7">
            <a:extLst>
              <a:ext uri="{FF2B5EF4-FFF2-40B4-BE49-F238E27FC236}">
                <a16:creationId xmlns:a16="http://schemas.microsoft.com/office/drawing/2014/main" id="{169C1DB2-6B03-4356-B393-26CEAA238A93}"/>
              </a:ext>
            </a:extLst>
          </p:cNvPr>
          <p:cNvPicPr>
            <a:picLocks noChangeAspect="1"/>
          </p:cNvPicPr>
          <p:nvPr/>
        </p:nvPicPr>
        <p:blipFill>
          <a:blip r:embed="rId6">
            <a:clrChange>
              <a:clrFrom>
                <a:srgbClr val="FEFEFE"/>
              </a:clrFrom>
              <a:clrTo>
                <a:srgbClr val="FEFEFE">
                  <a:alpha val="0"/>
                </a:srgbClr>
              </a:clrTo>
            </a:clrChange>
          </a:blip>
          <a:stretch>
            <a:fillRect/>
          </a:stretch>
        </p:blipFill>
        <p:spPr>
          <a:xfrm>
            <a:off x="3700494" y="2315682"/>
            <a:ext cx="1712009" cy="1684440"/>
          </a:xfrm>
          <a:prstGeom prst="rect">
            <a:avLst/>
          </a:prstGeom>
        </p:spPr>
      </p:pic>
      <p:pic>
        <p:nvPicPr>
          <p:cNvPr id="2050" name="Picture 2">
            <a:extLst>
              <a:ext uri="{FF2B5EF4-FFF2-40B4-BE49-F238E27FC236}">
                <a16:creationId xmlns:a16="http://schemas.microsoft.com/office/drawing/2014/main" id="{6CFA5876-BABF-4A52-9D15-6E1EE7E4D359}"/>
              </a:ext>
            </a:extLst>
          </p:cNvPr>
          <p:cNvPicPr>
            <a:picLocks noChangeAspect="1" noChangeArrowheads="1"/>
          </p:cNvPicPr>
          <p:nvPr/>
        </p:nvPicPr>
        <p:blipFill>
          <a:blip r:embed="rId7">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295291" y="728289"/>
            <a:ext cx="1940941" cy="12892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36EA637-F09A-4B23-B3A1-96A948024BD3}"/>
              </a:ext>
            </a:extLst>
          </p:cNvPr>
          <p:cNvPicPr>
            <a:picLocks noChangeAspect="1" noChangeArrowheads="1"/>
          </p:cNvPicPr>
          <p:nvPr/>
        </p:nvPicPr>
        <p:blipFill>
          <a:blip r:embed="rId8">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295291" y="2343487"/>
            <a:ext cx="1940941" cy="1580080"/>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CD23A583-A430-40E7-81EB-EB1550B586DF}"/>
              </a:ext>
            </a:extLst>
          </p:cNvPr>
          <p:cNvSpPr txBox="1"/>
          <p:nvPr/>
        </p:nvSpPr>
        <p:spPr>
          <a:xfrm>
            <a:off x="850908" y="4000843"/>
            <a:ext cx="1989286" cy="184666"/>
          </a:xfrm>
          <a:prstGeom prst="rect">
            <a:avLst/>
          </a:prstGeom>
          <a:noFill/>
        </p:spPr>
        <p:txBody>
          <a:bodyPr wrap="square" rtlCol="0">
            <a:spAutoFit/>
          </a:bodyPr>
          <a:lstStyle/>
          <a:p>
            <a:pPr algn="ctr"/>
            <a:r>
              <a:rPr lang="en-US" altLang="zh-CN" sz="600" dirty="0">
                <a:solidFill>
                  <a:schemeClr val="bg1">
                    <a:lumMod val="50000"/>
                  </a:schemeClr>
                </a:solidFill>
              </a:rPr>
              <a:t>https://clauswilke.com/dataviz</a:t>
            </a:r>
            <a:endParaRPr lang="zh-CN" altLang="en-US" sz="600" dirty="0">
              <a:solidFill>
                <a:schemeClr val="bg1">
                  <a:lumMod val="50000"/>
                </a:schemeClr>
              </a:solidFill>
            </a:endParaRPr>
          </a:p>
        </p:txBody>
      </p:sp>
      <p:sp>
        <p:nvSpPr>
          <p:cNvPr id="12" name="文本框 11">
            <a:extLst>
              <a:ext uri="{FF2B5EF4-FFF2-40B4-BE49-F238E27FC236}">
                <a16:creationId xmlns:a16="http://schemas.microsoft.com/office/drawing/2014/main" id="{EF38E21C-8806-4DC5-B499-E7539C704B07}"/>
              </a:ext>
            </a:extLst>
          </p:cNvPr>
          <p:cNvSpPr txBox="1"/>
          <p:nvPr/>
        </p:nvSpPr>
        <p:spPr>
          <a:xfrm>
            <a:off x="3366752" y="2114348"/>
            <a:ext cx="1989286" cy="184666"/>
          </a:xfrm>
          <a:prstGeom prst="rect">
            <a:avLst/>
          </a:prstGeom>
          <a:noFill/>
        </p:spPr>
        <p:txBody>
          <a:bodyPr wrap="square" rtlCol="0">
            <a:spAutoFit/>
          </a:bodyPr>
          <a:lstStyle/>
          <a:p>
            <a:pPr algn="ctr"/>
            <a:r>
              <a:rPr lang="en-US" altLang="zh-CN" sz="600" dirty="0">
                <a:solidFill>
                  <a:schemeClr val="bg1">
                    <a:lumMod val="50000"/>
                  </a:schemeClr>
                </a:solidFill>
              </a:rPr>
              <a:t>Tyagi et al. 2019</a:t>
            </a:r>
            <a:endParaRPr lang="zh-CN" altLang="en-US" sz="600" dirty="0">
              <a:solidFill>
                <a:schemeClr val="bg1">
                  <a:lumMod val="50000"/>
                </a:schemeClr>
              </a:solidFill>
            </a:endParaRPr>
          </a:p>
        </p:txBody>
      </p:sp>
      <p:sp>
        <p:nvSpPr>
          <p:cNvPr id="13" name="文本框 12">
            <a:extLst>
              <a:ext uri="{FF2B5EF4-FFF2-40B4-BE49-F238E27FC236}">
                <a16:creationId xmlns:a16="http://schemas.microsoft.com/office/drawing/2014/main" id="{6C8A370B-A688-437B-81C4-050A142126CF}"/>
              </a:ext>
            </a:extLst>
          </p:cNvPr>
          <p:cNvSpPr txBox="1"/>
          <p:nvPr/>
        </p:nvSpPr>
        <p:spPr>
          <a:xfrm>
            <a:off x="548428" y="2182202"/>
            <a:ext cx="1989286" cy="184666"/>
          </a:xfrm>
          <a:prstGeom prst="rect">
            <a:avLst/>
          </a:prstGeom>
          <a:noFill/>
        </p:spPr>
        <p:txBody>
          <a:bodyPr wrap="square" rtlCol="0">
            <a:spAutoFit/>
          </a:bodyPr>
          <a:lstStyle/>
          <a:p>
            <a:pPr algn="ctr"/>
            <a:r>
              <a:rPr lang="en-US" altLang="zh-CN" sz="600" dirty="0">
                <a:solidFill>
                  <a:schemeClr val="bg1">
                    <a:lumMod val="50000"/>
                  </a:schemeClr>
                </a:solidFill>
              </a:rPr>
              <a:t>https://thenode.biologists.com</a:t>
            </a:r>
            <a:endParaRPr lang="zh-CN" altLang="en-US" sz="600" dirty="0">
              <a:solidFill>
                <a:schemeClr val="bg1">
                  <a:lumMod val="50000"/>
                </a:schemeClr>
              </a:solidFill>
            </a:endParaRPr>
          </a:p>
        </p:txBody>
      </p:sp>
      <p:sp>
        <p:nvSpPr>
          <p:cNvPr id="14" name="文本框 13">
            <a:extLst>
              <a:ext uri="{FF2B5EF4-FFF2-40B4-BE49-F238E27FC236}">
                <a16:creationId xmlns:a16="http://schemas.microsoft.com/office/drawing/2014/main" id="{A8743268-BDAA-4631-A502-570B17157142}"/>
              </a:ext>
            </a:extLst>
          </p:cNvPr>
          <p:cNvSpPr txBox="1"/>
          <p:nvPr/>
        </p:nvSpPr>
        <p:spPr>
          <a:xfrm>
            <a:off x="3622900" y="4075406"/>
            <a:ext cx="1989286" cy="184666"/>
          </a:xfrm>
          <a:prstGeom prst="rect">
            <a:avLst/>
          </a:prstGeom>
          <a:noFill/>
        </p:spPr>
        <p:txBody>
          <a:bodyPr wrap="square" rtlCol="0">
            <a:spAutoFit/>
          </a:bodyPr>
          <a:lstStyle/>
          <a:p>
            <a:pPr algn="ctr"/>
            <a:r>
              <a:rPr lang="en-US" altLang="zh-CN" sz="600" dirty="0">
                <a:solidFill>
                  <a:schemeClr val="bg1">
                    <a:lumMod val="50000"/>
                  </a:schemeClr>
                </a:solidFill>
              </a:rPr>
              <a:t>Han et al. 2020</a:t>
            </a:r>
            <a:endParaRPr lang="zh-CN" altLang="en-US" sz="600" dirty="0">
              <a:solidFill>
                <a:schemeClr val="bg1">
                  <a:lumMod val="50000"/>
                </a:schemeClr>
              </a:solidFill>
            </a:endParaRPr>
          </a:p>
        </p:txBody>
      </p:sp>
      <p:sp>
        <p:nvSpPr>
          <p:cNvPr id="15" name="文本框 14">
            <a:extLst>
              <a:ext uri="{FF2B5EF4-FFF2-40B4-BE49-F238E27FC236}">
                <a16:creationId xmlns:a16="http://schemas.microsoft.com/office/drawing/2014/main" id="{70805C6E-60D8-442B-8A77-2CA6F145969A}"/>
              </a:ext>
            </a:extLst>
          </p:cNvPr>
          <p:cNvSpPr txBox="1"/>
          <p:nvPr/>
        </p:nvSpPr>
        <p:spPr>
          <a:xfrm>
            <a:off x="6295291" y="2105632"/>
            <a:ext cx="1989286" cy="184666"/>
          </a:xfrm>
          <a:prstGeom prst="rect">
            <a:avLst/>
          </a:prstGeom>
          <a:noFill/>
        </p:spPr>
        <p:txBody>
          <a:bodyPr wrap="square" rtlCol="0">
            <a:spAutoFit/>
          </a:bodyPr>
          <a:lstStyle/>
          <a:p>
            <a:pPr algn="ctr"/>
            <a:r>
              <a:rPr lang="en-US" altLang="zh-CN" sz="600" dirty="0">
                <a:solidFill>
                  <a:schemeClr val="bg1">
                    <a:lumMod val="50000"/>
                  </a:schemeClr>
                </a:solidFill>
              </a:rPr>
              <a:t>Han et al. 2020</a:t>
            </a:r>
            <a:endParaRPr lang="zh-CN" altLang="en-US" sz="600" dirty="0">
              <a:solidFill>
                <a:schemeClr val="bg1">
                  <a:lumMod val="50000"/>
                </a:schemeClr>
              </a:solidFill>
            </a:endParaRPr>
          </a:p>
        </p:txBody>
      </p:sp>
      <p:sp>
        <p:nvSpPr>
          <p:cNvPr id="16" name="文本框 15">
            <a:extLst>
              <a:ext uri="{FF2B5EF4-FFF2-40B4-BE49-F238E27FC236}">
                <a16:creationId xmlns:a16="http://schemas.microsoft.com/office/drawing/2014/main" id="{725DDD76-3A65-4891-AD7F-7CAB20C1CB31}"/>
              </a:ext>
            </a:extLst>
          </p:cNvPr>
          <p:cNvSpPr txBox="1"/>
          <p:nvPr/>
        </p:nvSpPr>
        <p:spPr>
          <a:xfrm>
            <a:off x="6363632" y="4000843"/>
            <a:ext cx="1989286" cy="184666"/>
          </a:xfrm>
          <a:prstGeom prst="rect">
            <a:avLst/>
          </a:prstGeom>
          <a:noFill/>
        </p:spPr>
        <p:txBody>
          <a:bodyPr wrap="square" rtlCol="0">
            <a:spAutoFit/>
          </a:bodyPr>
          <a:lstStyle/>
          <a:p>
            <a:pPr algn="ctr"/>
            <a:r>
              <a:rPr lang="en-US" altLang="zh-CN" sz="600" dirty="0">
                <a:solidFill>
                  <a:schemeClr val="bg1">
                    <a:lumMod val="50000"/>
                  </a:schemeClr>
                </a:solidFill>
              </a:rPr>
              <a:t>Xiang et al. 2019</a:t>
            </a:r>
            <a:endParaRPr lang="zh-CN" altLang="en-US" sz="600" dirty="0">
              <a:solidFill>
                <a:schemeClr val="bg1">
                  <a:lumMod val="50000"/>
                </a:schemeClr>
              </a:solidFill>
            </a:endParaRPr>
          </a:p>
        </p:txBody>
      </p:sp>
    </p:spTree>
    <p:extLst>
      <p:ext uri="{BB962C8B-B14F-4D97-AF65-F5344CB8AC3E}">
        <p14:creationId xmlns:p14="http://schemas.microsoft.com/office/powerpoint/2010/main" val="3544742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B19E42AD-6072-40CB-BFC5-CEE9E8D13A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405" y="879231"/>
            <a:ext cx="2105606" cy="1808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a:extLst>
              <a:ext uri="{FF2B5EF4-FFF2-40B4-BE49-F238E27FC236}">
                <a16:creationId xmlns:a16="http://schemas.microsoft.com/office/drawing/2014/main" id="{B8EB4E97-AA87-40DE-B97A-7585594A49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7006" y="879232"/>
            <a:ext cx="2112475" cy="180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8B8C6F2C-1C5B-4B6E-A5A3-B1F1C653F59A}"/>
              </a:ext>
            </a:extLst>
          </p:cNvPr>
          <p:cNvSpPr txBox="1"/>
          <p:nvPr/>
        </p:nvSpPr>
        <p:spPr>
          <a:xfrm>
            <a:off x="2233057" y="2505241"/>
            <a:ext cx="2140354" cy="623248"/>
          </a:xfrm>
          <a:prstGeom prst="rect">
            <a:avLst/>
          </a:prstGeom>
          <a:noFill/>
        </p:spPr>
        <p:txBody>
          <a:bodyPr wrap="square">
            <a:spAutoFit/>
          </a:bodyPr>
          <a:lstStyle/>
          <a:p>
            <a:pPr algn="ctr"/>
            <a:r>
              <a:rPr lang="en-US" altLang="zh-CN" sz="1350" b="1" dirty="0"/>
              <a:t>Color Design</a:t>
            </a:r>
          </a:p>
          <a:p>
            <a:pPr algn="ctr"/>
            <a:r>
              <a:rPr lang="en-US" altLang="zh-CN" sz="1050" dirty="0"/>
              <a:t>(color palette, color assignment, color fine-tune)</a:t>
            </a:r>
          </a:p>
        </p:txBody>
      </p:sp>
      <p:sp>
        <p:nvSpPr>
          <p:cNvPr id="12" name="文本框 11">
            <a:extLst>
              <a:ext uri="{FF2B5EF4-FFF2-40B4-BE49-F238E27FC236}">
                <a16:creationId xmlns:a16="http://schemas.microsoft.com/office/drawing/2014/main" id="{7EE7F40D-C4E8-4F8E-B0B5-C05538F40F12}"/>
              </a:ext>
            </a:extLst>
          </p:cNvPr>
          <p:cNvSpPr txBox="1"/>
          <p:nvPr/>
        </p:nvSpPr>
        <p:spPr>
          <a:xfrm>
            <a:off x="4598962" y="2508393"/>
            <a:ext cx="1682354" cy="669414"/>
          </a:xfrm>
          <a:prstGeom prst="rect">
            <a:avLst/>
          </a:prstGeom>
          <a:noFill/>
        </p:spPr>
        <p:txBody>
          <a:bodyPr wrap="square">
            <a:spAutoFit/>
          </a:bodyPr>
          <a:lstStyle/>
          <a:p>
            <a:pPr algn="ctr"/>
            <a:r>
              <a:rPr lang="en-US" altLang="zh-CN" sz="1350" b="1" dirty="0"/>
              <a:t>Opacity Design</a:t>
            </a:r>
          </a:p>
          <a:p>
            <a:pPr algn="ctr"/>
            <a:r>
              <a:rPr lang="en-US" altLang="zh-CN" sz="1050" dirty="0"/>
              <a:t>(opacity assignment)</a:t>
            </a:r>
          </a:p>
          <a:p>
            <a:pPr algn="ctr"/>
            <a:endParaRPr lang="en-US" altLang="zh-CN" sz="1350" b="1" dirty="0"/>
          </a:p>
        </p:txBody>
      </p:sp>
      <p:sp>
        <p:nvSpPr>
          <p:cNvPr id="16" name="文本框 15">
            <a:extLst>
              <a:ext uri="{FF2B5EF4-FFF2-40B4-BE49-F238E27FC236}">
                <a16:creationId xmlns:a16="http://schemas.microsoft.com/office/drawing/2014/main" id="{0313F4A6-7A51-4D49-9BA7-1804CCAA1BF3}"/>
              </a:ext>
            </a:extLst>
          </p:cNvPr>
          <p:cNvSpPr txBox="1"/>
          <p:nvPr/>
        </p:nvSpPr>
        <p:spPr>
          <a:xfrm>
            <a:off x="347695" y="2505241"/>
            <a:ext cx="1497509" cy="484748"/>
          </a:xfrm>
          <a:prstGeom prst="rect">
            <a:avLst/>
          </a:prstGeom>
          <a:noFill/>
        </p:spPr>
        <p:txBody>
          <a:bodyPr wrap="square">
            <a:spAutoFit/>
          </a:bodyPr>
          <a:lstStyle/>
          <a:p>
            <a:pPr algn="ctr"/>
            <a:r>
              <a:rPr lang="en-US" altLang="zh-CN" sz="1350" b="1" dirty="0"/>
              <a:t>Mark Selection</a:t>
            </a:r>
          </a:p>
          <a:p>
            <a:pPr algn="ctr"/>
            <a:r>
              <a:rPr lang="en-US" altLang="zh-CN" sz="1050" dirty="0"/>
              <a:t>(point, face, line</a:t>
            </a:r>
            <a:r>
              <a:rPr lang="en-US" altLang="zh-CN" sz="1200" dirty="0"/>
              <a:t>) </a:t>
            </a:r>
            <a:endParaRPr lang="zh-CN" altLang="en-US" sz="1200" dirty="0"/>
          </a:p>
        </p:txBody>
      </p:sp>
      <p:grpSp>
        <p:nvGrpSpPr>
          <p:cNvPr id="40" name="组合 39">
            <a:extLst>
              <a:ext uri="{FF2B5EF4-FFF2-40B4-BE49-F238E27FC236}">
                <a16:creationId xmlns:a16="http://schemas.microsoft.com/office/drawing/2014/main" id="{90F410D9-0F38-4561-9332-82D037058231}"/>
              </a:ext>
            </a:extLst>
          </p:cNvPr>
          <p:cNvGrpSpPr/>
          <p:nvPr/>
        </p:nvGrpSpPr>
        <p:grpSpPr>
          <a:xfrm>
            <a:off x="392787" y="1142099"/>
            <a:ext cx="1516544" cy="1170963"/>
            <a:chOff x="974311" y="2672089"/>
            <a:chExt cx="2437397" cy="1825561"/>
          </a:xfrm>
        </p:grpSpPr>
        <p:sp>
          <p:nvSpPr>
            <p:cNvPr id="17" name="椭圆 16">
              <a:extLst>
                <a:ext uri="{FF2B5EF4-FFF2-40B4-BE49-F238E27FC236}">
                  <a16:creationId xmlns:a16="http://schemas.microsoft.com/office/drawing/2014/main" id="{9BDB94B7-CB5F-48C4-9B86-204F2F1CC812}"/>
                </a:ext>
              </a:extLst>
            </p:cNvPr>
            <p:cNvSpPr/>
            <p:nvPr/>
          </p:nvSpPr>
          <p:spPr>
            <a:xfrm>
              <a:off x="1700213" y="2672089"/>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椭圆 17">
              <a:extLst>
                <a:ext uri="{FF2B5EF4-FFF2-40B4-BE49-F238E27FC236}">
                  <a16:creationId xmlns:a16="http://schemas.microsoft.com/office/drawing/2014/main" id="{9ACAFC69-BDED-4F4F-840D-1EF8B9268F2A}"/>
                </a:ext>
              </a:extLst>
            </p:cNvPr>
            <p:cNvSpPr/>
            <p:nvPr/>
          </p:nvSpPr>
          <p:spPr>
            <a:xfrm>
              <a:off x="1476376" y="2936366"/>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椭圆 18">
              <a:extLst>
                <a:ext uri="{FF2B5EF4-FFF2-40B4-BE49-F238E27FC236}">
                  <a16:creationId xmlns:a16="http://schemas.microsoft.com/office/drawing/2014/main" id="{9DAA6C1D-0AEA-467A-B5D7-30188901F26E}"/>
                </a:ext>
              </a:extLst>
            </p:cNvPr>
            <p:cNvSpPr/>
            <p:nvPr/>
          </p:nvSpPr>
          <p:spPr>
            <a:xfrm>
              <a:off x="1866901" y="3069489"/>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椭圆 19">
              <a:extLst>
                <a:ext uri="{FF2B5EF4-FFF2-40B4-BE49-F238E27FC236}">
                  <a16:creationId xmlns:a16="http://schemas.microsoft.com/office/drawing/2014/main" id="{22651160-6937-40F9-9F63-1FF7C7AB499E}"/>
                </a:ext>
              </a:extLst>
            </p:cNvPr>
            <p:cNvSpPr/>
            <p:nvPr/>
          </p:nvSpPr>
          <p:spPr>
            <a:xfrm rot="1031425">
              <a:off x="1633538" y="3191801"/>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a:extLst>
                <a:ext uri="{FF2B5EF4-FFF2-40B4-BE49-F238E27FC236}">
                  <a16:creationId xmlns:a16="http://schemas.microsoft.com/office/drawing/2014/main" id="{64A5E109-74C9-4917-BD0C-FAEDC68BFFE5}"/>
                </a:ext>
              </a:extLst>
            </p:cNvPr>
            <p:cNvSpPr/>
            <p:nvPr/>
          </p:nvSpPr>
          <p:spPr>
            <a:xfrm rot="1031425">
              <a:off x="1409701" y="3456078"/>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椭圆 21">
              <a:extLst>
                <a:ext uri="{FF2B5EF4-FFF2-40B4-BE49-F238E27FC236}">
                  <a16:creationId xmlns:a16="http://schemas.microsoft.com/office/drawing/2014/main" id="{8B936E19-D938-4564-AC82-C6E034A011DF}"/>
                </a:ext>
              </a:extLst>
            </p:cNvPr>
            <p:cNvSpPr/>
            <p:nvPr/>
          </p:nvSpPr>
          <p:spPr>
            <a:xfrm rot="1031425">
              <a:off x="1800226" y="3589201"/>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椭圆 22">
              <a:extLst>
                <a:ext uri="{FF2B5EF4-FFF2-40B4-BE49-F238E27FC236}">
                  <a16:creationId xmlns:a16="http://schemas.microsoft.com/office/drawing/2014/main" id="{CB689070-7DE6-4E83-8ED0-C1CEC7C762DD}"/>
                </a:ext>
              </a:extLst>
            </p:cNvPr>
            <p:cNvSpPr/>
            <p:nvPr/>
          </p:nvSpPr>
          <p:spPr>
            <a:xfrm rot="1031425">
              <a:off x="2237183" y="3408127"/>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a:extLst>
                <a:ext uri="{FF2B5EF4-FFF2-40B4-BE49-F238E27FC236}">
                  <a16:creationId xmlns:a16="http://schemas.microsoft.com/office/drawing/2014/main" id="{931BBA9E-3C15-45BF-AF80-0F2441A0E3AA}"/>
                </a:ext>
              </a:extLst>
            </p:cNvPr>
            <p:cNvSpPr/>
            <p:nvPr/>
          </p:nvSpPr>
          <p:spPr>
            <a:xfrm rot="1031425">
              <a:off x="2074258" y="3021316"/>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椭圆 24">
              <a:extLst>
                <a:ext uri="{FF2B5EF4-FFF2-40B4-BE49-F238E27FC236}">
                  <a16:creationId xmlns:a16="http://schemas.microsoft.com/office/drawing/2014/main" id="{C00A3615-AA40-468B-96EA-A4DF7500FDC4}"/>
                </a:ext>
              </a:extLst>
            </p:cNvPr>
            <p:cNvSpPr/>
            <p:nvPr/>
          </p:nvSpPr>
          <p:spPr>
            <a:xfrm rot="1031425">
              <a:off x="2403871" y="3805527"/>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a:extLst>
                <a:ext uri="{FF2B5EF4-FFF2-40B4-BE49-F238E27FC236}">
                  <a16:creationId xmlns:a16="http://schemas.microsoft.com/office/drawing/2014/main" id="{E441F1F5-D287-4BA4-A728-965B4A64F45F}"/>
                </a:ext>
              </a:extLst>
            </p:cNvPr>
            <p:cNvSpPr/>
            <p:nvPr/>
          </p:nvSpPr>
          <p:spPr>
            <a:xfrm rot="1031425">
              <a:off x="1891713" y="3349261"/>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椭圆 26">
              <a:extLst>
                <a:ext uri="{FF2B5EF4-FFF2-40B4-BE49-F238E27FC236}">
                  <a16:creationId xmlns:a16="http://schemas.microsoft.com/office/drawing/2014/main" id="{5CB6431D-9FB8-4F8C-A890-E563FD174323}"/>
                </a:ext>
              </a:extLst>
            </p:cNvPr>
            <p:cNvSpPr/>
            <p:nvPr/>
          </p:nvSpPr>
          <p:spPr>
            <a:xfrm rot="1031425">
              <a:off x="2058401" y="3746661"/>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a:extLst>
                <a:ext uri="{FF2B5EF4-FFF2-40B4-BE49-F238E27FC236}">
                  <a16:creationId xmlns:a16="http://schemas.microsoft.com/office/drawing/2014/main" id="{A3549450-984F-4BD9-95D0-56026CA52AD5}"/>
                </a:ext>
              </a:extLst>
            </p:cNvPr>
            <p:cNvSpPr/>
            <p:nvPr/>
          </p:nvSpPr>
          <p:spPr>
            <a:xfrm rot="1031425">
              <a:off x="1493425" y="3746661"/>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a:extLst>
                <a:ext uri="{FF2B5EF4-FFF2-40B4-BE49-F238E27FC236}">
                  <a16:creationId xmlns:a16="http://schemas.microsoft.com/office/drawing/2014/main" id="{5E3D2AF4-2CBB-4BC9-B547-7DC54539A04C}"/>
                </a:ext>
              </a:extLst>
            </p:cNvPr>
            <p:cNvSpPr/>
            <p:nvPr/>
          </p:nvSpPr>
          <p:spPr>
            <a:xfrm rot="1031425">
              <a:off x="974311" y="3986601"/>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椭圆 29">
              <a:extLst>
                <a:ext uri="{FF2B5EF4-FFF2-40B4-BE49-F238E27FC236}">
                  <a16:creationId xmlns:a16="http://schemas.microsoft.com/office/drawing/2014/main" id="{B8B5E36A-664E-4629-B37C-E68D7A7F47D2}"/>
                </a:ext>
              </a:extLst>
            </p:cNvPr>
            <p:cNvSpPr/>
            <p:nvPr/>
          </p:nvSpPr>
          <p:spPr>
            <a:xfrm rot="1031425">
              <a:off x="1364836" y="4119724"/>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1" name="椭圆 30">
              <a:extLst>
                <a:ext uri="{FF2B5EF4-FFF2-40B4-BE49-F238E27FC236}">
                  <a16:creationId xmlns:a16="http://schemas.microsoft.com/office/drawing/2014/main" id="{4913C5A8-8A98-46E1-8833-5E1B3FA4E7B3}"/>
                </a:ext>
              </a:extLst>
            </p:cNvPr>
            <p:cNvSpPr/>
            <p:nvPr/>
          </p:nvSpPr>
          <p:spPr>
            <a:xfrm rot="1031425">
              <a:off x="1801793" y="3938650"/>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2" name="椭圆 31">
              <a:extLst>
                <a:ext uri="{FF2B5EF4-FFF2-40B4-BE49-F238E27FC236}">
                  <a16:creationId xmlns:a16="http://schemas.microsoft.com/office/drawing/2014/main" id="{110B594C-1406-4207-AB52-A3EDF672CA34}"/>
                </a:ext>
              </a:extLst>
            </p:cNvPr>
            <p:cNvSpPr/>
            <p:nvPr/>
          </p:nvSpPr>
          <p:spPr>
            <a:xfrm rot="1031425">
              <a:off x="1968481" y="4336050"/>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3" name="椭圆 32">
              <a:extLst>
                <a:ext uri="{FF2B5EF4-FFF2-40B4-BE49-F238E27FC236}">
                  <a16:creationId xmlns:a16="http://schemas.microsoft.com/office/drawing/2014/main" id="{8F951C1A-F9BF-48C5-BC5A-E271AD90198A}"/>
                </a:ext>
              </a:extLst>
            </p:cNvPr>
            <p:cNvSpPr/>
            <p:nvPr/>
          </p:nvSpPr>
          <p:spPr>
            <a:xfrm rot="1031425">
              <a:off x="1456323" y="3879784"/>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椭圆 33">
              <a:extLst>
                <a:ext uri="{FF2B5EF4-FFF2-40B4-BE49-F238E27FC236}">
                  <a16:creationId xmlns:a16="http://schemas.microsoft.com/office/drawing/2014/main" id="{7F9D56EC-5203-4548-8206-FC3BD164453E}"/>
                </a:ext>
              </a:extLst>
            </p:cNvPr>
            <p:cNvSpPr/>
            <p:nvPr/>
          </p:nvSpPr>
          <p:spPr>
            <a:xfrm rot="1031425">
              <a:off x="1623011" y="4277184"/>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5" name="椭圆 34">
              <a:extLst>
                <a:ext uri="{FF2B5EF4-FFF2-40B4-BE49-F238E27FC236}">
                  <a16:creationId xmlns:a16="http://schemas.microsoft.com/office/drawing/2014/main" id="{53DD677C-5618-49DF-B7B7-AEF080F54278}"/>
                </a:ext>
              </a:extLst>
            </p:cNvPr>
            <p:cNvSpPr/>
            <p:nvPr/>
          </p:nvSpPr>
          <p:spPr>
            <a:xfrm rot="1031425">
              <a:off x="1058035" y="4277184"/>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6" name="椭圆 35">
              <a:extLst>
                <a:ext uri="{FF2B5EF4-FFF2-40B4-BE49-F238E27FC236}">
                  <a16:creationId xmlns:a16="http://schemas.microsoft.com/office/drawing/2014/main" id="{47418BCC-8298-4585-A967-762781757CE8}"/>
                </a:ext>
              </a:extLst>
            </p:cNvPr>
            <p:cNvSpPr/>
            <p:nvPr/>
          </p:nvSpPr>
          <p:spPr>
            <a:xfrm rot="1031425">
              <a:off x="3073570" y="3245804"/>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7" name="椭圆 36">
              <a:extLst>
                <a:ext uri="{FF2B5EF4-FFF2-40B4-BE49-F238E27FC236}">
                  <a16:creationId xmlns:a16="http://schemas.microsoft.com/office/drawing/2014/main" id="{349E3CDA-8FE9-49FD-BDEC-93C94DAC6DA4}"/>
                </a:ext>
              </a:extLst>
            </p:cNvPr>
            <p:cNvSpPr/>
            <p:nvPr/>
          </p:nvSpPr>
          <p:spPr>
            <a:xfrm rot="1031425">
              <a:off x="3240258" y="3643204"/>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8" name="椭圆 37">
              <a:extLst>
                <a:ext uri="{FF2B5EF4-FFF2-40B4-BE49-F238E27FC236}">
                  <a16:creationId xmlns:a16="http://schemas.microsoft.com/office/drawing/2014/main" id="{71905ED8-1C95-4515-8877-EFB690BB25DB}"/>
                </a:ext>
              </a:extLst>
            </p:cNvPr>
            <p:cNvSpPr/>
            <p:nvPr/>
          </p:nvSpPr>
          <p:spPr>
            <a:xfrm rot="1031425">
              <a:off x="2894788" y="3584338"/>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9" name="椭圆 38">
              <a:extLst>
                <a:ext uri="{FF2B5EF4-FFF2-40B4-BE49-F238E27FC236}">
                  <a16:creationId xmlns:a16="http://schemas.microsoft.com/office/drawing/2014/main" id="{18DE626F-76C3-4766-B5DF-AAD0252F7ABB}"/>
                </a:ext>
              </a:extLst>
            </p:cNvPr>
            <p:cNvSpPr/>
            <p:nvPr/>
          </p:nvSpPr>
          <p:spPr>
            <a:xfrm rot="1031425">
              <a:off x="2804868" y="4173727"/>
              <a:ext cx="171450" cy="1616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45" name="箭头: 右 44">
            <a:extLst>
              <a:ext uri="{FF2B5EF4-FFF2-40B4-BE49-F238E27FC236}">
                <a16:creationId xmlns:a16="http://schemas.microsoft.com/office/drawing/2014/main" id="{49A2CD5D-FDC4-4EA3-AFA7-78A3DDE9281C}"/>
              </a:ext>
            </a:extLst>
          </p:cNvPr>
          <p:cNvSpPr/>
          <p:nvPr/>
        </p:nvSpPr>
        <p:spPr>
          <a:xfrm>
            <a:off x="2074880" y="1731318"/>
            <a:ext cx="205085" cy="171980"/>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箭头: 右 49">
            <a:extLst>
              <a:ext uri="{FF2B5EF4-FFF2-40B4-BE49-F238E27FC236}">
                <a16:creationId xmlns:a16="http://schemas.microsoft.com/office/drawing/2014/main" id="{449FEDEB-2BDB-4915-A93B-87AE66CA807E}"/>
              </a:ext>
            </a:extLst>
          </p:cNvPr>
          <p:cNvSpPr/>
          <p:nvPr/>
        </p:nvSpPr>
        <p:spPr>
          <a:xfrm>
            <a:off x="4241966" y="1724075"/>
            <a:ext cx="205085" cy="171980"/>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3" name="箭头: 右 52">
            <a:extLst>
              <a:ext uri="{FF2B5EF4-FFF2-40B4-BE49-F238E27FC236}">
                <a16:creationId xmlns:a16="http://schemas.microsoft.com/office/drawing/2014/main" id="{5568CC74-5BBE-48E8-A9FE-C54500E33F7E}"/>
              </a:ext>
            </a:extLst>
          </p:cNvPr>
          <p:cNvSpPr/>
          <p:nvPr/>
        </p:nvSpPr>
        <p:spPr>
          <a:xfrm>
            <a:off x="6443677" y="1751130"/>
            <a:ext cx="205085" cy="171980"/>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031" name="Picture 7" descr="Frustration Icons - Free SVG &amp; PNG Frustration Images - Noun Project">
            <a:extLst>
              <a:ext uri="{FF2B5EF4-FFF2-40B4-BE49-F238E27FC236}">
                <a16:creationId xmlns:a16="http://schemas.microsoft.com/office/drawing/2014/main" id="{DC178CBA-EBCF-4DFF-B09F-6653C20224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934644">
            <a:off x="3625171" y="936624"/>
            <a:ext cx="615502" cy="61550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7" descr="Frustration Icons - Free SVG &amp; PNG Frustration Images - Noun Project">
            <a:extLst>
              <a:ext uri="{FF2B5EF4-FFF2-40B4-BE49-F238E27FC236}">
                <a16:creationId xmlns:a16="http://schemas.microsoft.com/office/drawing/2014/main" id="{0B01B083-4161-47EE-B541-451AA3FCA5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934644">
            <a:off x="5806234" y="897986"/>
            <a:ext cx="615502" cy="615502"/>
          </a:xfrm>
          <a:prstGeom prst="rect">
            <a:avLst/>
          </a:prstGeom>
          <a:noFill/>
          <a:extLst>
            <a:ext uri="{909E8E84-426E-40DD-AFC4-6F175D3DCCD1}">
              <a14:hiddenFill xmlns:a14="http://schemas.microsoft.com/office/drawing/2010/main">
                <a:solidFill>
                  <a:srgbClr val="FFFFFF"/>
                </a:solidFill>
              </a14:hiddenFill>
            </a:ext>
          </a:extLst>
        </p:spPr>
      </p:pic>
      <p:sp>
        <p:nvSpPr>
          <p:cNvPr id="46" name="AutoShape 9" descr="Confused - Free business and finance icons">
            <a:extLst>
              <a:ext uri="{FF2B5EF4-FFF2-40B4-BE49-F238E27FC236}">
                <a16:creationId xmlns:a16="http://schemas.microsoft.com/office/drawing/2014/main" id="{5FFF52F9-528C-4378-ACFD-E04E43347A15}"/>
              </a:ext>
            </a:extLst>
          </p:cNvPr>
          <p:cNvSpPr>
            <a:spLocks noChangeAspect="1" noChangeArrowheads="1"/>
          </p:cNvSpPr>
          <p:nvPr/>
        </p:nvSpPr>
        <p:spPr bwMode="auto">
          <a:xfrm>
            <a:off x="4258920" y="165306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sz="1350"/>
          </a:p>
        </p:txBody>
      </p:sp>
      <p:pic>
        <p:nvPicPr>
          <p:cNvPr id="58" name="图片 57">
            <a:extLst>
              <a:ext uri="{FF2B5EF4-FFF2-40B4-BE49-F238E27FC236}">
                <a16:creationId xmlns:a16="http://schemas.microsoft.com/office/drawing/2014/main" id="{FCDE7899-12B8-4758-80A3-FB9A7E047C8F}"/>
              </a:ext>
            </a:extLst>
          </p:cNvPr>
          <p:cNvPicPr>
            <a:picLocks noChangeAspect="1"/>
          </p:cNvPicPr>
          <p:nvPr/>
        </p:nvPicPr>
        <p:blipFill>
          <a:blip r:embed="rId6">
            <a:clrChange>
              <a:clrFrom>
                <a:srgbClr val="F7F7F7"/>
              </a:clrFrom>
              <a:clrTo>
                <a:srgbClr val="F7F7F7">
                  <a:alpha val="0"/>
                </a:srgbClr>
              </a:clrTo>
            </a:clrChange>
            <a:extLst>
              <a:ext uri="{28A0092B-C50C-407E-A947-70E740481C1C}">
                <a14:useLocalDpi xmlns:a14="http://schemas.microsoft.com/office/drawing/2010/main" val="0"/>
              </a:ext>
            </a:extLst>
          </a:blip>
          <a:stretch>
            <a:fillRect/>
          </a:stretch>
        </p:blipFill>
        <p:spPr>
          <a:xfrm rot="21078745">
            <a:off x="431810" y="3290071"/>
            <a:ext cx="1280373" cy="1230650"/>
          </a:xfrm>
          <a:prstGeom prst="rect">
            <a:avLst/>
          </a:prstGeom>
        </p:spPr>
      </p:pic>
      <p:sp>
        <p:nvSpPr>
          <p:cNvPr id="59" name="矩形 58">
            <a:extLst>
              <a:ext uri="{FF2B5EF4-FFF2-40B4-BE49-F238E27FC236}">
                <a16:creationId xmlns:a16="http://schemas.microsoft.com/office/drawing/2014/main" id="{451A350C-82B7-481A-94FF-8A7FD460922A}"/>
              </a:ext>
            </a:extLst>
          </p:cNvPr>
          <p:cNvSpPr/>
          <p:nvPr/>
        </p:nvSpPr>
        <p:spPr>
          <a:xfrm>
            <a:off x="1765434" y="3661622"/>
            <a:ext cx="7047241" cy="553998"/>
          </a:xfrm>
          <a:prstGeom prst="rect">
            <a:avLst/>
          </a:prstGeom>
        </p:spPr>
        <p:txBody>
          <a:bodyPr wrap="square">
            <a:spAutoFit/>
          </a:bodyPr>
          <a:lstStyle/>
          <a:p>
            <a:pPr algn="just"/>
            <a:r>
              <a:rPr lang="en-US" altLang="zh-CN" sz="1500" i="1" dirty="0">
                <a:latin typeface="Calibri" panose="020F0502020204030204" pitchFamily="34" charset="0"/>
                <a:cs typeface="Calibri" panose="020F0502020204030204" pitchFamily="34" charset="0"/>
              </a:rPr>
              <a:t>What colors and opacities should I use to make people perceive correct depth orders?</a:t>
            </a:r>
          </a:p>
          <a:p>
            <a:pPr algn="just"/>
            <a:r>
              <a:rPr lang="en-US" altLang="zh-CN" sz="1500" i="1" dirty="0">
                <a:latin typeface="Calibri" panose="020F0502020204030204" pitchFamily="34" charset="0"/>
                <a:cs typeface="Calibri" panose="020F0502020204030204" pitchFamily="34" charset="0"/>
              </a:rPr>
              <a:t>What depth orders might be perceived by users?</a:t>
            </a:r>
          </a:p>
        </p:txBody>
      </p:sp>
      <p:pic>
        <p:nvPicPr>
          <p:cNvPr id="60" name="Picture 5">
            <a:extLst>
              <a:ext uri="{FF2B5EF4-FFF2-40B4-BE49-F238E27FC236}">
                <a16:creationId xmlns:a16="http://schemas.microsoft.com/office/drawing/2014/main" id="{D12E7C00-7A3D-4E71-94EB-4BCE64B5E4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6431" y="904957"/>
            <a:ext cx="2112475" cy="180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a:extLst>
              <a:ext uri="{FF2B5EF4-FFF2-40B4-BE49-F238E27FC236}">
                <a16:creationId xmlns:a16="http://schemas.microsoft.com/office/drawing/2014/main" id="{0423FEAC-8354-4FD6-92FB-8A4521A4C4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2284" y="830934"/>
            <a:ext cx="646622" cy="646622"/>
          </a:xfrm>
          <a:prstGeom prst="rect">
            <a:avLst/>
          </a:prstGeom>
          <a:noFill/>
          <a:extLst>
            <a:ext uri="{909E8E84-426E-40DD-AFC4-6F175D3DCCD1}">
              <a14:hiddenFill xmlns:a14="http://schemas.microsoft.com/office/drawing/2010/main">
                <a:solidFill>
                  <a:srgbClr val="FFFFFF"/>
                </a:solidFill>
              </a14:hiddenFill>
            </a:ext>
          </a:extLst>
        </p:spPr>
      </p:pic>
      <p:sp>
        <p:nvSpPr>
          <p:cNvPr id="65" name="文本框 64">
            <a:extLst>
              <a:ext uri="{FF2B5EF4-FFF2-40B4-BE49-F238E27FC236}">
                <a16:creationId xmlns:a16="http://schemas.microsoft.com/office/drawing/2014/main" id="{1D0591ED-1ABF-47A4-872C-22CF9B25FF87}"/>
              </a:ext>
            </a:extLst>
          </p:cNvPr>
          <p:cNvSpPr txBox="1"/>
          <p:nvPr/>
        </p:nvSpPr>
        <p:spPr>
          <a:xfrm>
            <a:off x="7058334" y="1994392"/>
            <a:ext cx="675538" cy="246221"/>
          </a:xfrm>
          <a:prstGeom prst="rect">
            <a:avLst/>
          </a:prstGeom>
          <a:noFill/>
        </p:spPr>
        <p:txBody>
          <a:bodyPr wrap="square">
            <a:spAutoFit/>
          </a:bodyPr>
          <a:lstStyle/>
          <a:p>
            <a:pPr algn="ctr"/>
            <a:r>
              <a:rPr lang="en-US" altLang="zh-CN" sz="1000" b="1" dirty="0"/>
              <a:t>L1</a:t>
            </a:r>
            <a:endParaRPr lang="zh-CN" altLang="en-US" sz="1000" dirty="0"/>
          </a:p>
        </p:txBody>
      </p:sp>
      <p:sp>
        <p:nvSpPr>
          <p:cNvPr id="66" name="文本框 65">
            <a:extLst>
              <a:ext uri="{FF2B5EF4-FFF2-40B4-BE49-F238E27FC236}">
                <a16:creationId xmlns:a16="http://schemas.microsoft.com/office/drawing/2014/main" id="{C1487D86-7799-491C-8A6F-8E63F19D0399}"/>
              </a:ext>
            </a:extLst>
          </p:cNvPr>
          <p:cNvSpPr txBox="1"/>
          <p:nvPr/>
        </p:nvSpPr>
        <p:spPr>
          <a:xfrm>
            <a:off x="7176936" y="1823371"/>
            <a:ext cx="675538" cy="246221"/>
          </a:xfrm>
          <a:prstGeom prst="rect">
            <a:avLst/>
          </a:prstGeom>
          <a:noFill/>
        </p:spPr>
        <p:txBody>
          <a:bodyPr wrap="square">
            <a:spAutoFit/>
          </a:bodyPr>
          <a:lstStyle/>
          <a:p>
            <a:pPr algn="ctr"/>
            <a:r>
              <a:rPr lang="en-US" altLang="zh-CN" sz="1000" b="1" dirty="0"/>
              <a:t>L2</a:t>
            </a:r>
            <a:endParaRPr lang="zh-CN" altLang="en-US" sz="1000" dirty="0"/>
          </a:p>
        </p:txBody>
      </p:sp>
      <p:sp>
        <p:nvSpPr>
          <p:cNvPr id="67" name="文本框 66">
            <a:extLst>
              <a:ext uri="{FF2B5EF4-FFF2-40B4-BE49-F238E27FC236}">
                <a16:creationId xmlns:a16="http://schemas.microsoft.com/office/drawing/2014/main" id="{B321B507-4AF5-4459-862F-81B1870DF7D7}"/>
              </a:ext>
            </a:extLst>
          </p:cNvPr>
          <p:cNvSpPr txBox="1"/>
          <p:nvPr/>
        </p:nvSpPr>
        <p:spPr>
          <a:xfrm>
            <a:off x="7396103" y="1706822"/>
            <a:ext cx="675538" cy="246221"/>
          </a:xfrm>
          <a:prstGeom prst="rect">
            <a:avLst/>
          </a:prstGeom>
          <a:noFill/>
        </p:spPr>
        <p:txBody>
          <a:bodyPr wrap="square">
            <a:spAutoFit/>
          </a:bodyPr>
          <a:lstStyle/>
          <a:p>
            <a:pPr algn="ctr"/>
            <a:r>
              <a:rPr lang="en-US" altLang="zh-CN" sz="1000" b="1" dirty="0"/>
              <a:t>L3</a:t>
            </a:r>
            <a:endParaRPr lang="zh-CN" altLang="en-US" sz="1000" dirty="0"/>
          </a:p>
        </p:txBody>
      </p:sp>
      <p:sp>
        <p:nvSpPr>
          <p:cNvPr id="68" name="文本框 67">
            <a:extLst>
              <a:ext uri="{FF2B5EF4-FFF2-40B4-BE49-F238E27FC236}">
                <a16:creationId xmlns:a16="http://schemas.microsoft.com/office/drawing/2014/main" id="{B512C1B7-49FA-4D7D-9887-E6B11687BAC9}"/>
              </a:ext>
            </a:extLst>
          </p:cNvPr>
          <p:cNvSpPr txBox="1"/>
          <p:nvPr/>
        </p:nvSpPr>
        <p:spPr>
          <a:xfrm>
            <a:off x="7614325" y="1874364"/>
            <a:ext cx="675538" cy="246221"/>
          </a:xfrm>
          <a:prstGeom prst="rect">
            <a:avLst/>
          </a:prstGeom>
          <a:noFill/>
        </p:spPr>
        <p:txBody>
          <a:bodyPr wrap="square">
            <a:spAutoFit/>
          </a:bodyPr>
          <a:lstStyle/>
          <a:p>
            <a:pPr algn="ctr"/>
            <a:r>
              <a:rPr lang="en-US" altLang="zh-CN" sz="1000" b="1" dirty="0"/>
              <a:t>L4</a:t>
            </a:r>
            <a:endParaRPr lang="zh-CN" altLang="en-US" sz="1000" dirty="0"/>
          </a:p>
        </p:txBody>
      </p:sp>
      <p:sp>
        <p:nvSpPr>
          <p:cNvPr id="69" name="文本框 68">
            <a:extLst>
              <a:ext uri="{FF2B5EF4-FFF2-40B4-BE49-F238E27FC236}">
                <a16:creationId xmlns:a16="http://schemas.microsoft.com/office/drawing/2014/main" id="{FF9CE07F-93AA-42AB-83F4-64B9A3558548}"/>
              </a:ext>
            </a:extLst>
          </p:cNvPr>
          <p:cNvSpPr txBox="1"/>
          <p:nvPr/>
        </p:nvSpPr>
        <p:spPr>
          <a:xfrm>
            <a:off x="7813565" y="1626625"/>
            <a:ext cx="675538" cy="246221"/>
          </a:xfrm>
          <a:prstGeom prst="rect">
            <a:avLst/>
          </a:prstGeom>
          <a:noFill/>
        </p:spPr>
        <p:txBody>
          <a:bodyPr wrap="square">
            <a:spAutoFit/>
          </a:bodyPr>
          <a:lstStyle/>
          <a:p>
            <a:pPr algn="ctr"/>
            <a:r>
              <a:rPr lang="en-US" altLang="zh-CN" sz="1000" b="1" dirty="0"/>
              <a:t>L5</a:t>
            </a:r>
            <a:endParaRPr lang="zh-CN" altLang="en-US" sz="1000" dirty="0"/>
          </a:p>
        </p:txBody>
      </p:sp>
      <p:sp>
        <p:nvSpPr>
          <p:cNvPr id="70" name="文本框 69">
            <a:extLst>
              <a:ext uri="{FF2B5EF4-FFF2-40B4-BE49-F238E27FC236}">
                <a16:creationId xmlns:a16="http://schemas.microsoft.com/office/drawing/2014/main" id="{873CB338-B4BD-4E12-A7F1-8837EA952FB1}"/>
              </a:ext>
            </a:extLst>
          </p:cNvPr>
          <p:cNvSpPr txBox="1"/>
          <p:nvPr/>
        </p:nvSpPr>
        <p:spPr>
          <a:xfrm>
            <a:off x="7866837" y="1310299"/>
            <a:ext cx="675538" cy="246221"/>
          </a:xfrm>
          <a:prstGeom prst="rect">
            <a:avLst/>
          </a:prstGeom>
          <a:noFill/>
        </p:spPr>
        <p:txBody>
          <a:bodyPr wrap="square">
            <a:spAutoFit/>
          </a:bodyPr>
          <a:lstStyle/>
          <a:p>
            <a:pPr algn="ctr"/>
            <a:r>
              <a:rPr lang="en-US" altLang="zh-CN" sz="1000" b="1" dirty="0"/>
              <a:t>L6</a:t>
            </a:r>
            <a:endParaRPr lang="zh-CN" altLang="en-US" sz="1000" dirty="0"/>
          </a:p>
        </p:txBody>
      </p:sp>
      <p:sp>
        <p:nvSpPr>
          <p:cNvPr id="71" name="文本框 70">
            <a:extLst>
              <a:ext uri="{FF2B5EF4-FFF2-40B4-BE49-F238E27FC236}">
                <a16:creationId xmlns:a16="http://schemas.microsoft.com/office/drawing/2014/main" id="{C43D85DB-94BF-4420-92A6-71496E2B93DE}"/>
              </a:ext>
            </a:extLst>
          </p:cNvPr>
          <p:cNvSpPr txBox="1"/>
          <p:nvPr/>
        </p:nvSpPr>
        <p:spPr>
          <a:xfrm>
            <a:off x="7520307" y="1335411"/>
            <a:ext cx="675538" cy="246221"/>
          </a:xfrm>
          <a:prstGeom prst="rect">
            <a:avLst/>
          </a:prstGeom>
          <a:noFill/>
        </p:spPr>
        <p:txBody>
          <a:bodyPr wrap="square">
            <a:spAutoFit/>
          </a:bodyPr>
          <a:lstStyle/>
          <a:p>
            <a:pPr algn="ctr"/>
            <a:r>
              <a:rPr lang="en-US" altLang="zh-CN" sz="1000" b="1" dirty="0"/>
              <a:t>L7</a:t>
            </a:r>
            <a:endParaRPr lang="zh-CN" altLang="en-US" sz="1000" dirty="0"/>
          </a:p>
        </p:txBody>
      </p:sp>
      <p:sp>
        <p:nvSpPr>
          <p:cNvPr id="72" name="文本框 71">
            <a:extLst>
              <a:ext uri="{FF2B5EF4-FFF2-40B4-BE49-F238E27FC236}">
                <a16:creationId xmlns:a16="http://schemas.microsoft.com/office/drawing/2014/main" id="{68D91ED6-CF0B-4C57-BB8C-6DC30387A096}"/>
              </a:ext>
            </a:extLst>
          </p:cNvPr>
          <p:cNvSpPr txBox="1"/>
          <p:nvPr/>
        </p:nvSpPr>
        <p:spPr>
          <a:xfrm>
            <a:off x="8015775" y="2091588"/>
            <a:ext cx="675538" cy="246221"/>
          </a:xfrm>
          <a:prstGeom prst="rect">
            <a:avLst/>
          </a:prstGeom>
          <a:noFill/>
        </p:spPr>
        <p:txBody>
          <a:bodyPr wrap="square">
            <a:spAutoFit/>
          </a:bodyPr>
          <a:lstStyle/>
          <a:p>
            <a:pPr algn="ctr"/>
            <a:r>
              <a:rPr lang="en-US" altLang="zh-CN" sz="1000" b="1" dirty="0"/>
              <a:t>L8</a:t>
            </a:r>
            <a:endParaRPr lang="zh-CN" altLang="en-US" sz="1000" dirty="0"/>
          </a:p>
        </p:txBody>
      </p:sp>
    </p:spTree>
    <p:extLst>
      <p:ext uri="{BB962C8B-B14F-4D97-AF65-F5344CB8AC3E}">
        <p14:creationId xmlns:p14="http://schemas.microsoft.com/office/powerpoint/2010/main" val="2422190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52342DC-DF5E-47D0-9F5E-9A974B67725B}"/>
              </a:ext>
            </a:extLst>
          </p:cNvPr>
          <p:cNvSpPr txBox="1"/>
          <p:nvPr/>
        </p:nvSpPr>
        <p:spPr>
          <a:xfrm>
            <a:off x="641938" y="684319"/>
            <a:ext cx="7809722" cy="338554"/>
          </a:xfrm>
          <a:prstGeom prst="rect">
            <a:avLst/>
          </a:prstGeom>
          <a:noFill/>
        </p:spPr>
        <p:txBody>
          <a:bodyPr wrap="square" rtlCol="0">
            <a:spAutoFit/>
          </a:bodyPr>
          <a:lstStyle/>
          <a:p>
            <a:pPr algn="just"/>
            <a:r>
              <a:rPr lang="en-US" altLang="zh-CN" sz="1600" dirty="0">
                <a:latin typeface="Arial" panose="020B0604020202020204" pitchFamily="34" charset="0"/>
                <a:cs typeface="Arial" panose="020B0604020202020204" pitchFamily="34" charset="0"/>
              </a:rPr>
              <a:t>Using warmer colors in the foreground and colder colors in the background.</a:t>
            </a:r>
          </a:p>
        </p:txBody>
      </p:sp>
      <p:sp>
        <p:nvSpPr>
          <p:cNvPr id="11" name="文本框 10">
            <a:extLst>
              <a:ext uri="{FF2B5EF4-FFF2-40B4-BE49-F238E27FC236}">
                <a16:creationId xmlns:a16="http://schemas.microsoft.com/office/drawing/2014/main" id="{8EC8C6D8-2DDF-4BE7-B2C3-100E8CEC5115}"/>
              </a:ext>
            </a:extLst>
          </p:cNvPr>
          <p:cNvSpPr txBox="1"/>
          <p:nvPr/>
        </p:nvSpPr>
        <p:spPr>
          <a:xfrm>
            <a:off x="655001" y="1124360"/>
            <a:ext cx="7783596" cy="338554"/>
          </a:xfrm>
          <a:prstGeom prst="rect">
            <a:avLst/>
          </a:prstGeom>
          <a:noFill/>
        </p:spPr>
        <p:txBody>
          <a:bodyPr wrap="square">
            <a:spAutoFit/>
          </a:bodyPr>
          <a:lstStyle/>
          <a:p>
            <a:pPr algn="just"/>
            <a:r>
              <a:rPr lang="en-US" altLang="zh-CN" sz="1600" dirty="0">
                <a:latin typeface="Arial" panose="020B0604020202020204" pitchFamily="34" charset="0"/>
                <a:cs typeface="Arial" panose="020B0604020202020204" pitchFamily="34" charset="0"/>
              </a:rPr>
              <a:t>Using cold colors in the foreground, overlapped with warm colors in the background.</a:t>
            </a:r>
            <a:endParaRPr lang="zh-CN" altLang="en-US" sz="1600" dirty="0">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3E23D678-3D56-45DD-AF25-F59BE231CE40}"/>
              </a:ext>
            </a:extLst>
          </p:cNvPr>
          <p:cNvSpPr txBox="1"/>
          <p:nvPr/>
        </p:nvSpPr>
        <p:spPr>
          <a:xfrm>
            <a:off x="655001" y="1562563"/>
            <a:ext cx="7783596" cy="584775"/>
          </a:xfrm>
          <a:prstGeom prst="rect">
            <a:avLst/>
          </a:prstGeom>
          <a:noFill/>
        </p:spPr>
        <p:txBody>
          <a:bodyPr wrap="square">
            <a:spAutoFit/>
          </a:bodyPr>
          <a:lstStyle/>
          <a:p>
            <a:pPr algn="just"/>
            <a:r>
              <a:rPr lang="en-US" altLang="zh-CN" sz="1600" dirty="0">
                <a:latin typeface="Arial" panose="020B0604020202020204" pitchFamily="34" charset="0"/>
                <a:cs typeface="Arial" panose="020B0604020202020204" pitchFamily="34" charset="0"/>
              </a:rPr>
              <a:t>I</a:t>
            </a:r>
            <a:r>
              <a:rPr lang="zh-CN" altLang="en-US" sz="1600" dirty="0">
                <a:latin typeface="Arial" panose="020B0604020202020204" pitchFamily="34" charset="0"/>
                <a:cs typeface="Arial" panose="020B0604020202020204" pitchFamily="34" charset="0"/>
              </a:rPr>
              <a:t>ncreasing the lightness contrast between foreground and background layers can further emphasize depth ordering</a:t>
            </a:r>
            <a:r>
              <a:rPr lang="en-US" altLang="zh-CN" sz="1600" dirty="0">
                <a:latin typeface="Arial" panose="020B0604020202020204" pitchFamily="34" charset="0"/>
                <a:cs typeface="Arial" panose="020B0604020202020204" pitchFamily="34" charset="0"/>
              </a:rPr>
              <a:t>.</a:t>
            </a:r>
            <a:endParaRPr lang="zh-CN" altLang="en-US" sz="1600"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CD989A53-4B17-4D80-8379-1D74D577F3DC}"/>
              </a:ext>
            </a:extLst>
          </p:cNvPr>
          <p:cNvSpPr txBox="1"/>
          <p:nvPr/>
        </p:nvSpPr>
        <p:spPr>
          <a:xfrm>
            <a:off x="649394" y="2096476"/>
            <a:ext cx="7809722" cy="338554"/>
          </a:xfrm>
          <a:prstGeom prst="rect">
            <a:avLst/>
          </a:prstGeom>
          <a:noFill/>
        </p:spPr>
        <p:txBody>
          <a:bodyPr wrap="square">
            <a:spAutoFit/>
          </a:bodyPr>
          <a:lstStyle/>
          <a:p>
            <a:pPr algn="just"/>
            <a:r>
              <a:rPr lang="en-US" altLang="zh-CN" sz="1600" dirty="0">
                <a:latin typeface="Arial" panose="020B0604020202020204" pitchFamily="34" charset="0"/>
                <a:cs typeface="Arial" panose="020B0604020202020204" pitchFamily="34" charset="0"/>
              </a:rPr>
              <a:t>Increasing the opacity of foreground objects can enhance depth ordering accuracy.</a:t>
            </a:r>
            <a:endParaRPr lang="zh-CN" altLang="en-US" sz="1600"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655B1D73-EF2B-440E-B354-C287256F6954}"/>
              </a:ext>
            </a:extLst>
          </p:cNvPr>
          <p:cNvSpPr txBox="1"/>
          <p:nvPr/>
        </p:nvSpPr>
        <p:spPr>
          <a:xfrm>
            <a:off x="649394" y="2552457"/>
            <a:ext cx="7809722" cy="584775"/>
          </a:xfrm>
          <a:prstGeom prst="rect">
            <a:avLst/>
          </a:prstGeom>
          <a:noFill/>
        </p:spPr>
        <p:txBody>
          <a:bodyPr wrap="square">
            <a:spAutoFit/>
          </a:bodyPr>
          <a:lstStyle/>
          <a:p>
            <a:pPr algn="just"/>
            <a:r>
              <a:rPr lang="en-US" altLang="zh-CN" sz="1600" dirty="0">
                <a:latin typeface="Arial" panose="020B0604020202020204" pitchFamily="34" charset="0"/>
                <a:cs typeface="Arial" panose="020B0604020202020204" pitchFamily="34" charset="0"/>
              </a:rPr>
              <a:t>Excessively high opacity should be avoided in contexts where transparency conveys critical information or when subtle layering effects are needed.</a:t>
            </a:r>
            <a:endParaRPr lang="zh-CN" altLang="en-US" sz="1600"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41C32432-67F5-481F-924D-E3A7E6E228F5}"/>
              </a:ext>
            </a:extLst>
          </p:cNvPr>
          <p:cNvSpPr txBox="1"/>
          <p:nvPr/>
        </p:nvSpPr>
        <p:spPr>
          <a:xfrm>
            <a:off x="5788704" y="964112"/>
            <a:ext cx="2662956" cy="246221"/>
          </a:xfrm>
          <a:prstGeom prst="rect">
            <a:avLst/>
          </a:prstGeom>
          <a:noFill/>
        </p:spPr>
        <p:txBody>
          <a:bodyPr wrap="square" rtlCol="0">
            <a:spAutoFit/>
          </a:bodyPr>
          <a:lstStyle/>
          <a:p>
            <a:pPr algn="r"/>
            <a:r>
              <a:rPr lang="en-US" altLang="zh-CN" sz="1000" dirty="0">
                <a:solidFill>
                  <a:schemeClr val="bg1">
                    <a:lumMod val="50000"/>
                  </a:schemeClr>
                </a:solidFill>
              </a:rPr>
              <a:t>- Bailey et al. 2006; </a:t>
            </a:r>
            <a:r>
              <a:rPr lang="da-DK" altLang="zh-CN" sz="1000" dirty="0">
                <a:solidFill>
                  <a:schemeClr val="bg1">
                    <a:lumMod val="50000"/>
                  </a:schemeClr>
                </a:solidFill>
              </a:rPr>
              <a:t>Sundet JM et al. 1978</a:t>
            </a:r>
            <a:r>
              <a:rPr lang="zh-CN" altLang="en-US" sz="1000" dirty="0">
                <a:solidFill>
                  <a:schemeClr val="bg1">
                    <a:lumMod val="50000"/>
                  </a:schemeClr>
                </a:solidFill>
              </a:rPr>
              <a:t> </a:t>
            </a:r>
          </a:p>
        </p:txBody>
      </p:sp>
      <p:sp>
        <p:nvSpPr>
          <p:cNvPr id="18" name="文本框 17">
            <a:extLst>
              <a:ext uri="{FF2B5EF4-FFF2-40B4-BE49-F238E27FC236}">
                <a16:creationId xmlns:a16="http://schemas.microsoft.com/office/drawing/2014/main" id="{88A4CC59-B333-41F7-AD56-AB4A8703A514}"/>
              </a:ext>
            </a:extLst>
          </p:cNvPr>
          <p:cNvSpPr txBox="1"/>
          <p:nvPr/>
        </p:nvSpPr>
        <p:spPr>
          <a:xfrm>
            <a:off x="6919574" y="1406461"/>
            <a:ext cx="1532086" cy="246221"/>
          </a:xfrm>
          <a:prstGeom prst="rect">
            <a:avLst/>
          </a:prstGeom>
          <a:noFill/>
        </p:spPr>
        <p:txBody>
          <a:bodyPr wrap="square" rtlCol="0">
            <a:spAutoFit/>
          </a:bodyPr>
          <a:lstStyle/>
          <a:p>
            <a:pPr algn="r"/>
            <a:r>
              <a:rPr lang="en-US" altLang="zh-CN" sz="1000" dirty="0">
                <a:solidFill>
                  <a:schemeClr val="bg1">
                    <a:lumMod val="50000"/>
                  </a:schemeClr>
                </a:solidFill>
              </a:rPr>
              <a:t>- Wang et al. 2008</a:t>
            </a:r>
            <a:endParaRPr lang="zh-CN" altLang="en-US" sz="1000" dirty="0">
              <a:solidFill>
                <a:schemeClr val="bg1">
                  <a:lumMod val="50000"/>
                </a:schemeClr>
              </a:solidFill>
            </a:endParaRPr>
          </a:p>
        </p:txBody>
      </p:sp>
      <p:sp>
        <p:nvSpPr>
          <p:cNvPr id="19" name="文本框 18">
            <a:extLst>
              <a:ext uri="{FF2B5EF4-FFF2-40B4-BE49-F238E27FC236}">
                <a16:creationId xmlns:a16="http://schemas.microsoft.com/office/drawing/2014/main" id="{59654827-B91C-4DBD-B3A6-C7B0625CE0C2}"/>
              </a:ext>
            </a:extLst>
          </p:cNvPr>
          <p:cNvSpPr txBox="1"/>
          <p:nvPr/>
        </p:nvSpPr>
        <p:spPr>
          <a:xfrm>
            <a:off x="5570367" y="1832753"/>
            <a:ext cx="2868230" cy="246221"/>
          </a:xfrm>
          <a:prstGeom prst="rect">
            <a:avLst/>
          </a:prstGeom>
          <a:noFill/>
        </p:spPr>
        <p:txBody>
          <a:bodyPr wrap="square" rtlCol="0">
            <a:spAutoFit/>
          </a:bodyPr>
          <a:lstStyle/>
          <a:p>
            <a:pPr algn="r"/>
            <a:r>
              <a:rPr lang="en-US" altLang="zh-CN" sz="1000" dirty="0">
                <a:solidFill>
                  <a:schemeClr val="bg1">
                    <a:lumMod val="50000"/>
                  </a:schemeClr>
                </a:solidFill>
              </a:rPr>
              <a:t>- Chuang et al. 2009; Englund et al. 2016</a:t>
            </a:r>
            <a:endParaRPr lang="zh-CN" altLang="en-US" sz="1000" dirty="0">
              <a:solidFill>
                <a:schemeClr val="bg1">
                  <a:lumMod val="50000"/>
                </a:schemeClr>
              </a:solidFill>
            </a:endParaRPr>
          </a:p>
        </p:txBody>
      </p:sp>
      <p:sp>
        <p:nvSpPr>
          <p:cNvPr id="20" name="文本框 19">
            <a:extLst>
              <a:ext uri="{FF2B5EF4-FFF2-40B4-BE49-F238E27FC236}">
                <a16:creationId xmlns:a16="http://schemas.microsoft.com/office/drawing/2014/main" id="{D6509DC3-61F2-4522-A598-7D83200EFDEB}"/>
              </a:ext>
            </a:extLst>
          </p:cNvPr>
          <p:cNvSpPr txBox="1"/>
          <p:nvPr/>
        </p:nvSpPr>
        <p:spPr>
          <a:xfrm>
            <a:off x="5225135" y="2396760"/>
            <a:ext cx="3213462" cy="246221"/>
          </a:xfrm>
          <a:prstGeom prst="rect">
            <a:avLst/>
          </a:prstGeom>
          <a:noFill/>
        </p:spPr>
        <p:txBody>
          <a:bodyPr wrap="square" rtlCol="0">
            <a:spAutoFit/>
          </a:bodyPr>
          <a:lstStyle/>
          <a:p>
            <a:pPr algn="r"/>
            <a:r>
              <a:rPr lang="en-US" altLang="zh-CN" sz="1000" dirty="0">
                <a:solidFill>
                  <a:schemeClr val="bg1">
                    <a:lumMod val="50000"/>
                  </a:schemeClr>
                </a:solidFill>
              </a:rPr>
              <a:t>- Edward et al. 1990; Wang et al. 2008</a:t>
            </a:r>
          </a:p>
        </p:txBody>
      </p:sp>
      <p:sp>
        <p:nvSpPr>
          <p:cNvPr id="25" name="文本框 24">
            <a:extLst>
              <a:ext uri="{FF2B5EF4-FFF2-40B4-BE49-F238E27FC236}">
                <a16:creationId xmlns:a16="http://schemas.microsoft.com/office/drawing/2014/main" id="{B4F5269B-52C9-4DFA-8BCA-E138DAF21E29}"/>
              </a:ext>
            </a:extLst>
          </p:cNvPr>
          <p:cNvSpPr txBox="1"/>
          <p:nvPr/>
        </p:nvSpPr>
        <p:spPr>
          <a:xfrm>
            <a:off x="6906511" y="2859185"/>
            <a:ext cx="1532086" cy="246221"/>
          </a:xfrm>
          <a:prstGeom prst="rect">
            <a:avLst/>
          </a:prstGeom>
          <a:noFill/>
        </p:spPr>
        <p:txBody>
          <a:bodyPr wrap="square" rtlCol="0">
            <a:spAutoFit/>
          </a:bodyPr>
          <a:lstStyle/>
          <a:p>
            <a:pPr algn="r"/>
            <a:r>
              <a:rPr lang="en-US" altLang="zh-CN" sz="1000" dirty="0">
                <a:solidFill>
                  <a:schemeClr val="bg1">
                    <a:lumMod val="50000"/>
                  </a:schemeClr>
                </a:solidFill>
              </a:rPr>
              <a:t>- </a:t>
            </a:r>
            <a:r>
              <a:rPr lang="en-US" altLang="zh-CN" sz="1000" dirty="0" err="1">
                <a:solidFill>
                  <a:schemeClr val="bg1">
                    <a:lumMod val="50000"/>
                  </a:schemeClr>
                </a:solidFill>
              </a:rPr>
              <a:t>Sakano</a:t>
            </a:r>
            <a:r>
              <a:rPr lang="en-US" altLang="zh-CN" sz="1000" dirty="0">
                <a:solidFill>
                  <a:schemeClr val="bg1">
                    <a:lumMod val="50000"/>
                  </a:schemeClr>
                </a:solidFill>
              </a:rPr>
              <a:t> et al. 2018</a:t>
            </a:r>
            <a:endParaRPr lang="zh-CN" altLang="en-US" sz="1000" dirty="0">
              <a:solidFill>
                <a:schemeClr val="bg1">
                  <a:lumMod val="50000"/>
                </a:schemeClr>
              </a:solidFill>
            </a:endParaRPr>
          </a:p>
        </p:txBody>
      </p:sp>
      <p:sp>
        <p:nvSpPr>
          <p:cNvPr id="30" name="文本框 29">
            <a:extLst>
              <a:ext uri="{FF2B5EF4-FFF2-40B4-BE49-F238E27FC236}">
                <a16:creationId xmlns:a16="http://schemas.microsoft.com/office/drawing/2014/main" id="{07D5790A-DDF7-403C-A48F-3D10F337DE39}"/>
              </a:ext>
            </a:extLst>
          </p:cNvPr>
          <p:cNvSpPr txBox="1"/>
          <p:nvPr/>
        </p:nvSpPr>
        <p:spPr>
          <a:xfrm>
            <a:off x="641938" y="3129250"/>
            <a:ext cx="7809722" cy="338554"/>
          </a:xfrm>
          <a:prstGeom prst="rect">
            <a:avLst/>
          </a:prstGeom>
          <a:noFill/>
        </p:spPr>
        <p:txBody>
          <a:bodyPr wrap="square">
            <a:spAutoFit/>
          </a:bodyPr>
          <a:lstStyle/>
          <a:p>
            <a:pPr algn="just"/>
            <a:r>
              <a:rPr lang="en-US" altLang="zh-CN" sz="1600" dirty="0">
                <a:latin typeface="Arial" panose="020B0604020202020204" pitchFamily="34" charset="0"/>
                <a:cs typeface="Arial" panose="020B0604020202020204" pitchFamily="34" charset="0"/>
              </a:rPr>
              <a:t>Opacity has only a limited influence on the accuracy of depth perception.</a:t>
            </a:r>
          </a:p>
        </p:txBody>
      </p:sp>
      <p:sp>
        <p:nvSpPr>
          <p:cNvPr id="35" name="文本框 34">
            <a:extLst>
              <a:ext uri="{FF2B5EF4-FFF2-40B4-BE49-F238E27FC236}">
                <a16:creationId xmlns:a16="http://schemas.microsoft.com/office/drawing/2014/main" id="{3119632C-E808-4603-A335-D88D06EB5B0B}"/>
              </a:ext>
            </a:extLst>
          </p:cNvPr>
          <p:cNvSpPr txBox="1"/>
          <p:nvPr/>
        </p:nvSpPr>
        <p:spPr>
          <a:xfrm>
            <a:off x="649394" y="3586934"/>
            <a:ext cx="7809722" cy="338554"/>
          </a:xfrm>
          <a:prstGeom prst="rect">
            <a:avLst/>
          </a:prstGeom>
          <a:noFill/>
        </p:spPr>
        <p:txBody>
          <a:bodyPr wrap="square">
            <a:spAutoFit/>
          </a:bodyPr>
          <a:lstStyle/>
          <a:p>
            <a:pPr algn="just"/>
            <a:r>
              <a:rPr lang="en-US" altLang="zh-CN" sz="1600" dirty="0">
                <a:latin typeface="Arial" panose="020B0604020202020204" pitchFamily="34" charset="0"/>
                <a:cs typeface="Arial" panose="020B0604020202020204" pitchFamily="34" charset="0"/>
              </a:rPr>
              <a:t>Combining highly saturated colors with lower opacity to enhance visual prominence.</a:t>
            </a:r>
          </a:p>
        </p:txBody>
      </p:sp>
      <p:sp>
        <p:nvSpPr>
          <p:cNvPr id="36" name="文本框 35">
            <a:extLst>
              <a:ext uri="{FF2B5EF4-FFF2-40B4-BE49-F238E27FC236}">
                <a16:creationId xmlns:a16="http://schemas.microsoft.com/office/drawing/2014/main" id="{7C7C8CF3-1FF3-4CBD-9DB9-1D27339E81DF}"/>
              </a:ext>
            </a:extLst>
          </p:cNvPr>
          <p:cNvSpPr txBox="1"/>
          <p:nvPr/>
        </p:nvSpPr>
        <p:spPr>
          <a:xfrm>
            <a:off x="5850277" y="3437044"/>
            <a:ext cx="2608839" cy="246221"/>
          </a:xfrm>
          <a:prstGeom prst="rect">
            <a:avLst/>
          </a:prstGeom>
          <a:noFill/>
        </p:spPr>
        <p:txBody>
          <a:bodyPr wrap="square" rtlCol="0">
            <a:spAutoFit/>
          </a:bodyPr>
          <a:lstStyle/>
          <a:p>
            <a:pPr algn="r"/>
            <a:r>
              <a:rPr lang="da-DK" altLang="zh-CN" sz="1000" dirty="0">
                <a:solidFill>
                  <a:schemeClr val="bg1">
                    <a:lumMod val="50000"/>
                  </a:schemeClr>
                </a:solidFill>
              </a:rPr>
              <a:t>- Kersten et al. 1992;Kersten et al. 2006</a:t>
            </a:r>
          </a:p>
        </p:txBody>
      </p:sp>
      <p:sp>
        <p:nvSpPr>
          <p:cNvPr id="39" name="文本框 38">
            <a:extLst>
              <a:ext uri="{FF2B5EF4-FFF2-40B4-BE49-F238E27FC236}">
                <a16:creationId xmlns:a16="http://schemas.microsoft.com/office/drawing/2014/main" id="{DE42D42C-6546-46BC-8E2F-AAEF486FA4AE}"/>
              </a:ext>
            </a:extLst>
          </p:cNvPr>
          <p:cNvSpPr txBox="1"/>
          <p:nvPr/>
        </p:nvSpPr>
        <p:spPr>
          <a:xfrm>
            <a:off x="649394" y="4024681"/>
            <a:ext cx="7809722" cy="584775"/>
          </a:xfrm>
          <a:prstGeom prst="rect">
            <a:avLst/>
          </a:prstGeom>
          <a:noFill/>
        </p:spPr>
        <p:txBody>
          <a:bodyPr wrap="square">
            <a:spAutoFit/>
          </a:bodyPr>
          <a:lstStyle/>
          <a:p>
            <a:pPr algn="just"/>
            <a:r>
              <a:rPr lang="en-US" altLang="zh-CN" sz="1600" dirty="0">
                <a:latin typeface="Arial" panose="020B0604020202020204" pitchFamily="34" charset="0"/>
                <a:cs typeface="Arial" panose="020B0604020202020204" pitchFamily="34" charset="0"/>
              </a:rPr>
              <a:t>Placing cold colors in the foreground and warm colors in the background can improve depth perception even at low opacity levels.</a:t>
            </a:r>
          </a:p>
        </p:txBody>
      </p:sp>
      <p:sp>
        <p:nvSpPr>
          <p:cNvPr id="40" name="文本框 39">
            <a:extLst>
              <a:ext uri="{FF2B5EF4-FFF2-40B4-BE49-F238E27FC236}">
                <a16:creationId xmlns:a16="http://schemas.microsoft.com/office/drawing/2014/main" id="{DCE6D519-E448-4559-A2B5-2C1F0BDCE61C}"/>
              </a:ext>
            </a:extLst>
          </p:cNvPr>
          <p:cNvSpPr txBox="1"/>
          <p:nvPr/>
        </p:nvSpPr>
        <p:spPr>
          <a:xfrm>
            <a:off x="6906511" y="3859966"/>
            <a:ext cx="1532086" cy="246221"/>
          </a:xfrm>
          <a:prstGeom prst="rect">
            <a:avLst/>
          </a:prstGeom>
          <a:noFill/>
        </p:spPr>
        <p:txBody>
          <a:bodyPr wrap="square" rtlCol="0">
            <a:spAutoFit/>
          </a:bodyPr>
          <a:lstStyle/>
          <a:p>
            <a:pPr algn="r"/>
            <a:r>
              <a:rPr lang="en-US" altLang="zh-CN" sz="1000" dirty="0">
                <a:solidFill>
                  <a:schemeClr val="bg1">
                    <a:lumMod val="50000"/>
                  </a:schemeClr>
                </a:solidFill>
              </a:rPr>
              <a:t>- Chan et al. 2009</a:t>
            </a:r>
            <a:endParaRPr lang="zh-CN" altLang="en-US" sz="1000" dirty="0">
              <a:solidFill>
                <a:schemeClr val="bg1">
                  <a:lumMod val="50000"/>
                </a:schemeClr>
              </a:solidFill>
            </a:endParaRPr>
          </a:p>
        </p:txBody>
      </p:sp>
      <p:sp>
        <p:nvSpPr>
          <p:cNvPr id="42" name="文本框 17">
            <a:extLst>
              <a:ext uri="{FF2B5EF4-FFF2-40B4-BE49-F238E27FC236}">
                <a16:creationId xmlns:a16="http://schemas.microsoft.com/office/drawing/2014/main" id="{88A4CC59-B333-41F7-AD56-AB4A8703A514}"/>
              </a:ext>
            </a:extLst>
          </p:cNvPr>
          <p:cNvSpPr txBox="1"/>
          <p:nvPr/>
        </p:nvSpPr>
        <p:spPr>
          <a:xfrm>
            <a:off x="6906511" y="4336070"/>
            <a:ext cx="1532086" cy="24622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zh-CN" sz="1000" dirty="0">
                <a:solidFill>
                  <a:schemeClr val="bg1">
                    <a:lumMod val="50000"/>
                  </a:schemeClr>
                </a:solidFill>
              </a:rPr>
              <a:t>- Wang et al. 2008</a:t>
            </a:r>
            <a:endParaRPr lang="zh-CN" altLang="en-US" sz="1000" dirty="0">
              <a:solidFill>
                <a:schemeClr val="bg1">
                  <a:lumMod val="50000"/>
                </a:schemeClr>
              </a:solidFill>
            </a:endParaRPr>
          </a:p>
        </p:txBody>
      </p:sp>
    </p:spTree>
    <p:extLst>
      <p:ext uri="{BB962C8B-B14F-4D97-AF65-F5344CB8AC3E}">
        <p14:creationId xmlns:p14="http://schemas.microsoft.com/office/powerpoint/2010/main" val="609396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0F0B5FD-3708-431D-8265-173FA24D3DAF}"/>
              </a:ext>
            </a:extLst>
          </p:cNvPr>
          <p:cNvSpPr/>
          <p:nvPr/>
        </p:nvSpPr>
        <p:spPr>
          <a:xfrm>
            <a:off x="1844396" y="3689963"/>
            <a:ext cx="6817002" cy="584775"/>
          </a:xfrm>
          <a:prstGeom prst="rect">
            <a:avLst/>
          </a:prstGeom>
        </p:spPr>
        <p:txBody>
          <a:bodyPr wrap="square">
            <a:spAutoFit/>
          </a:bodyPr>
          <a:lstStyle/>
          <a:p>
            <a:pPr algn="just"/>
            <a:r>
              <a:rPr lang="en-US" altLang="zh-CN" sz="1600" dirty="0">
                <a:latin typeface="Arial" panose="020B0604020202020204" pitchFamily="34" charset="0"/>
                <a:cs typeface="Arial" panose="020B0604020202020204" pitchFamily="34" charset="0"/>
              </a:rPr>
              <a:t>However, existing considerations often overlook interaction effects, and may produce conflicting design recommendations. </a:t>
            </a:r>
            <a:endParaRPr lang="zh-CN" altLang="zh-CN" sz="1600" dirty="0">
              <a:latin typeface="Arial" panose="020B0604020202020204" pitchFamily="34" charset="0"/>
              <a:cs typeface="Arial" panose="020B0604020202020204" pitchFamily="34" charset="0"/>
            </a:endParaRPr>
          </a:p>
        </p:txBody>
      </p:sp>
      <p:graphicFrame>
        <p:nvGraphicFramePr>
          <p:cNvPr id="2" name="表格 2">
            <a:extLst>
              <a:ext uri="{FF2B5EF4-FFF2-40B4-BE49-F238E27FC236}">
                <a16:creationId xmlns:a16="http://schemas.microsoft.com/office/drawing/2014/main" id="{30F01F22-0F5E-40B4-AB6A-53B87C5D9F48}"/>
              </a:ext>
            </a:extLst>
          </p:cNvPr>
          <p:cNvGraphicFramePr>
            <a:graphicFrameLocks noGrp="1"/>
          </p:cNvGraphicFramePr>
          <p:nvPr>
            <p:extLst>
              <p:ext uri="{D42A27DB-BD31-4B8C-83A1-F6EECF244321}">
                <p14:modId xmlns:p14="http://schemas.microsoft.com/office/powerpoint/2010/main" val="472718229"/>
              </p:ext>
            </p:extLst>
          </p:nvPr>
        </p:nvGraphicFramePr>
        <p:xfrm>
          <a:off x="482602" y="1008442"/>
          <a:ext cx="8178796" cy="2186347"/>
        </p:xfrm>
        <a:graphic>
          <a:graphicData uri="http://schemas.openxmlformats.org/drawingml/2006/table">
            <a:tbl>
              <a:tblPr firstRow="1" bandRow="1">
                <a:tableStyleId>{5C22544A-7EE6-4342-B048-85BDC9FD1C3A}</a:tableStyleId>
              </a:tblPr>
              <a:tblGrid>
                <a:gridCol w="1363133">
                  <a:extLst>
                    <a:ext uri="{9D8B030D-6E8A-4147-A177-3AD203B41FA5}">
                      <a16:colId xmlns:a16="http://schemas.microsoft.com/office/drawing/2014/main" val="2172289695"/>
                    </a:ext>
                  </a:extLst>
                </a:gridCol>
                <a:gridCol w="1363133">
                  <a:extLst>
                    <a:ext uri="{9D8B030D-6E8A-4147-A177-3AD203B41FA5}">
                      <a16:colId xmlns:a16="http://schemas.microsoft.com/office/drawing/2014/main" val="3239086092"/>
                    </a:ext>
                  </a:extLst>
                </a:gridCol>
                <a:gridCol w="1363133">
                  <a:extLst>
                    <a:ext uri="{9D8B030D-6E8A-4147-A177-3AD203B41FA5}">
                      <a16:colId xmlns:a16="http://schemas.microsoft.com/office/drawing/2014/main" val="3859445058"/>
                    </a:ext>
                  </a:extLst>
                </a:gridCol>
                <a:gridCol w="1363133">
                  <a:extLst>
                    <a:ext uri="{9D8B030D-6E8A-4147-A177-3AD203B41FA5}">
                      <a16:colId xmlns:a16="http://schemas.microsoft.com/office/drawing/2014/main" val="1109463132"/>
                    </a:ext>
                  </a:extLst>
                </a:gridCol>
                <a:gridCol w="2726264">
                  <a:extLst>
                    <a:ext uri="{9D8B030D-6E8A-4147-A177-3AD203B41FA5}">
                      <a16:colId xmlns:a16="http://schemas.microsoft.com/office/drawing/2014/main" val="1481471207"/>
                    </a:ext>
                  </a:extLst>
                </a:gridCol>
              </a:tblGrid>
              <a:tr h="346627">
                <a:tc gridSpan="2">
                  <a:txBody>
                    <a:bodyPr/>
                    <a:lstStyle/>
                    <a:p>
                      <a:pPr algn="ctr"/>
                      <a:r>
                        <a:rPr lang="en-US" altLang="zh-CN" sz="1100" dirty="0">
                          <a:latin typeface="Arial" panose="020B0604020202020204" pitchFamily="34" charset="0"/>
                          <a:cs typeface="Arial" panose="020B0604020202020204" pitchFamily="34" charset="0"/>
                        </a:rPr>
                        <a:t>Top Layer</a:t>
                      </a:r>
                      <a:endParaRPr lang="zh-CN" altLang="en-US" sz="1100" dirty="0">
                        <a:latin typeface="Arial" panose="020B0604020202020204" pitchFamily="34" charset="0"/>
                        <a:cs typeface="Arial" panose="020B0604020202020204" pitchFamily="34" charset="0"/>
                      </a:endParaRPr>
                    </a:p>
                  </a:txBody>
                  <a:tcPr marL="68580" marR="68580" marT="34290" marB="34290" anchor="ctr"/>
                </a:tc>
                <a:tc hMerge="1">
                  <a:txBody>
                    <a:bodyPr/>
                    <a:lstStyle/>
                    <a:p>
                      <a:endParaRPr lang="zh-CN" altLang="en-US"/>
                    </a:p>
                  </a:txBody>
                  <a:tcPr/>
                </a:tc>
                <a:tc gridSpan="2">
                  <a:txBody>
                    <a:bodyPr/>
                    <a:lstStyle/>
                    <a:p>
                      <a:pPr algn="ctr"/>
                      <a:r>
                        <a:rPr lang="en-US" altLang="zh-CN" sz="1100" dirty="0">
                          <a:latin typeface="Arial" panose="020B0604020202020204" pitchFamily="34" charset="0"/>
                          <a:cs typeface="Arial" panose="020B0604020202020204" pitchFamily="34" charset="0"/>
                        </a:rPr>
                        <a:t>Back Layer</a:t>
                      </a:r>
                      <a:endParaRPr lang="zh-CN" altLang="en-US" sz="1100" dirty="0">
                        <a:latin typeface="Arial" panose="020B0604020202020204" pitchFamily="34" charset="0"/>
                        <a:cs typeface="Arial" panose="020B0604020202020204" pitchFamily="34" charset="0"/>
                      </a:endParaRPr>
                    </a:p>
                  </a:txBody>
                  <a:tcPr marL="68580" marR="68580" marT="34290" marB="34290" anchor="ctr"/>
                </a:tc>
                <a:tc hMerge="1">
                  <a:txBody>
                    <a:bodyPr/>
                    <a:lstStyle/>
                    <a:p>
                      <a:endParaRPr lang="zh-CN" altLang="en-US"/>
                    </a:p>
                  </a:txBody>
                  <a:tcPr/>
                </a:tc>
                <a:tc>
                  <a:txBody>
                    <a:bodyPr/>
                    <a:lstStyle/>
                    <a:p>
                      <a:pPr algn="ctr"/>
                      <a:r>
                        <a:rPr lang="en-US" altLang="zh-CN" sz="1100" dirty="0">
                          <a:latin typeface="Arial" panose="020B0604020202020204" pitchFamily="34" charset="0"/>
                          <a:cs typeface="Arial" panose="020B0604020202020204" pitchFamily="34" charset="0"/>
                        </a:rPr>
                        <a:t>Supported Papers</a:t>
                      </a:r>
                      <a:endParaRPr lang="zh-CN" altLang="en-US" sz="1100" dirty="0">
                        <a:latin typeface="Arial" panose="020B0604020202020204" pitchFamily="34" charset="0"/>
                        <a:cs typeface="Arial" panose="020B0604020202020204" pitchFamily="34" charset="0"/>
                      </a:endParaRPr>
                    </a:p>
                  </a:txBody>
                  <a:tcPr marL="68580" marR="68580" marT="34290" marB="34290" anchor="ctr"/>
                </a:tc>
                <a:extLst>
                  <a:ext uri="{0D108BD9-81ED-4DB2-BD59-A6C34878D82A}">
                    <a16:rowId xmlns:a16="http://schemas.microsoft.com/office/drawing/2014/main" val="3498501366"/>
                  </a:ext>
                </a:extLst>
              </a:tr>
              <a:tr h="306620">
                <a:tc>
                  <a:txBody>
                    <a:bodyPr/>
                    <a:lstStyle/>
                    <a:p>
                      <a:pPr algn="ctr">
                        <a:lnSpc>
                          <a:spcPct val="100000"/>
                        </a:lnSpc>
                      </a:pPr>
                      <a:r>
                        <a:rPr lang="en-US" altLang="zh-CN" sz="1100" b="1" dirty="0">
                          <a:latin typeface="Arial" panose="020B0604020202020204" pitchFamily="34" charset="0"/>
                          <a:cs typeface="Arial" panose="020B0604020202020204" pitchFamily="34" charset="0"/>
                        </a:rPr>
                        <a:t>Color</a:t>
                      </a:r>
                      <a:endParaRPr lang="zh-CN" altLang="en-US" sz="1100" b="1"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b="1" dirty="0">
                          <a:latin typeface="Arial" panose="020B0604020202020204" pitchFamily="34" charset="0"/>
                          <a:cs typeface="Arial" panose="020B0604020202020204" pitchFamily="34" charset="0"/>
                        </a:rPr>
                        <a:t>Opacity</a:t>
                      </a:r>
                      <a:endParaRPr lang="zh-CN" altLang="en-US" sz="1100" b="1"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b="1" dirty="0">
                          <a:latin typeface="Arial" panose="020B0604020202020204" pitchFamily="34" charset="0"/>
                          <a:cs typeface="Arial" panose="020B0604020202020204" pitchFamily="34" charset="0"/>
                        </a:rPr>
                        <a:t>Color</a:t>
                      </a:r>
                      <a:endParaRPr lang="zh-CN" altLang="en-US" sz="1100" b="1"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b="1" dirty="0">
                          <a:latin typeface="Arial" panose="020B0604020202020204" pitchFamily="34" charset="0"/>
                          <a:cs typeface="Arial" panose="020B0604020202020204" pitchFamily="34" charset="0"/>
                        </a:rPr>
                        <a:t>Opacity</a:t>
                      </a:r>
                      <a:endParaRPr lang="zh-CN" altLang="en-US" sz="1100" b="1"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endParaRPr lang="zh-CN" altLang="en-US" sz="1100" b="1" dirty="0">
                        <a:latin typeface="Arial" panose="020B0604020202020204" pitchFamily="34" charset="0"/>
                        <a:cs typeface="Arial" panose="020B0604020202020204" pitchFamily="34" charset="0"/>
                      </a:endParaRPr>
                    </a:p>
                  </a:txBody>
                  <a:tcPr marL="68580" marR="68580" marT="34290" marB="34290" anchor="ctr"/>
                </a:tc>
                <a:extLst>
                  <a:ext uri="{0D108BD9-81ED-4DB2-BD59-A6C34878D82A}">
                    <a16:rowId xmlns:a16="http://schemas.microsoft.com/office/drawing/2014/main" val="2504553566"/>
                  </a:ext>
                </a:extLst>
              </a:tr>
              <a:tr h="306620">
                <a:tc>
                  <a:txBody>
                    <a:bodyPr/>
                    <a:lstStyle/>
                    <a:p>
                      <a:pPr algn="ctr">
                        <a:lnSpc>
                          <a:spcPct val="100000"/>
                        </a:lnSpc>
                      </a:pPr>
                      <a:r>
                        <a:rPr lang="en-US" altLang="zh-CN" sz="1100" dirty="0">
                          <a:latin typeface="Arial" panose="020B0604020202020204" pitchFamily="34" charset="0"/>
                          <a:cs typeface="Arial" panose="020B0604020202020204" pitchFamily="34" charset="0"/>
                        </a:rPr>
                        <a:t>Warm color</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Cool color</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ea typeface="微软雅黑" panose="020B0503020204020204" pitchFamily="34" charset="-122"/>
                          <a:cs typeface="Arial" panose="020B0604020202020204" pitchFamily="34" charset="0"/>
                        </a:rPr>
                        <a:t>Bailey et al. 2006</a:t>
                      </a:r>
                      <a:endParaRPr lang="zh-CN" altLang="en-US" sz="1100" dirty="0">
                        <a:latin typeface="Arial" panose="020B0604020202020204" pitchFamily="34" charset="0"/>
                        <a:cs typeface="Arial" panose="020B0604020202020204" pitchFamily="34" charset="0"/>
                      </a:endParaRPr>
                    </a:p>
                  </a:txBody>
                  <a:tcPr marL="68580" marR="68580" marT="34290" marB="34290" anchor="ctr"/>
                </a:tc>
                <a:extLst>
                  <a:ext uri="{0D108BD9-81ED-4DB2-BD59-A6C34878D82A}">
                    <a16:rowId xmlns:a16="http://schemas.microsoft.com/office/drawing/2014/main" val="3814983541"/>
                  </a:ext>
                </a:extLst>
              </a:tr>
              <a:tr h="306620">
                <a:tc>
                  <a:txBody>
                    <a:bodyPr/>
                    <a:lstStyle/>
                    <a:p>
                      <a:pPr algn="ctr">
                        <a:lnSpc>
                          <a:spcPct val="100000"/>
                        </a:lnSpc>
                      </a:pPr>
                      <a:r>
                        <a:rPr lang="en-US" altLang="zh-CN" sz="1100" dirty="0">
                          <a:latin typeface="Arial" panose="020B0604020202020204" pitchFamily="34" charset="0"/>
                          <a:cs typeface="Arial" panose="020B0604020202020204" pitchFamily="34" charset="0"/>
                        </a:rPr>
                        <a:t>Cool color</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Low opacity</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Warm color</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ea typeface="微软雅黑" panose="020B0503020204020204" pitchFamily="34" charset="-122"/>
                          <a:cs typeface="Arial" panose="020B0604020202020204" pitchFamily="34" charset="0"/>
                        </a:rPr>
                        <a:t>Wang et al. 2008</a:t>
                      </a:r>
                      <a:endParaRPr lang="zh-CN" altLang="en-US" sz="1100" dirty="0">
                        <a:latin typeface="Arial" panose="020B0604020202020204" pitchFamily="34" charset="0"/>
                        <a:cs typeface="Arial" panose="020B0604020202020204" pitchFamily="34" charset="0"/>
                      </a:endParaRPr>
                    </a:p>
                  </a:txBody>
                  <a:tcPr marL="68580" marR="68580" marT="34290" marB="34290" anchor="ctr"/>
                </a:tc>
                <a:extLst>
                  <a:ext uri="{0D108BD9-81ED-4DB2-BD59-A6C34878D82A}">
                    <a16:rowId xmlns:a16="http://schemas.microsoft.com/office/drawing/2014/main" val="3043742458"/>
                  </a:ext>
                </a:extLst>
              </a:tr>
              <a:tr h="306620">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High opacity</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100" dirty="0">
                          <a:latin typeface="Arial" panose="020B0604020202020204" pitchFamily="34" charset="0"/>
                          <a:ea typeface="微软雅黑" panose="020B0503020204020204" pitchFamily="34" charset="-122"/>
                          <a:cs typeface="Arial" panose="020B0604020202020204" pitchFamily="34" charset="0"/>
                        </a:rPr>
                        <a:t>Adelson et al. 1990</a:t>
                      </a:r>
                      <a:endParaRPr lang="zh-CN" altLang="en-US" sz="1100" dirty="0">
                        <a:latin typeface="Arial" panose="020B0604020202020204" pitchFamily="34" charset="0"/>
                        <a:cs typeface="Arial" panose="020B0604020202020204" pitchFamily="34" charset="0"/>
                      </a:endParaRPr>
                    </a:p>
                  </a:txBody>
                  <a:tcPr marL="68580" marR="68580" marT="34290" marB="34290" anchor="ctr"/>
                </a:tc>
                <a:extLst>
                  <a:ext uri="{0D108BD9-81ED-4DB2-BD59-A6C34878D82A}">
                    <a16:rowId xmlns:a16="http://schemas.microsoft.com/office/drawing/2014/main" val="2697739351"/>
                  </a:ext>
                </a:extLst>
              </a:tr>
              <a:tr h="306620">
                <a:tc>
                  <a:txBody>
                    <a:bodyPr/>
                    <a:lstStyle/>
                    <a:p>
                      <a:pPr algn="ctr">
                        <a:lnSpc>
                          <a:spcPct val="100000"/>
                        </a:lnSpc>
                      </a:pPr>
                      <a:r>
                        <a:rPr lang="en-US" altLang="zh-CN" sz="1100" dirty="0">
                          <a:latin typeface="Arial" panose="020B0604020202020204" pitchFamily="34" charset="0"/>
                          <a:cs typeface="Arial" panose="020B0604020202020204" pitchFamily="34" charset="0"/>
                        </a:rPr>
                        <a:t>High contrast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Low contrast </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Chuang et al. 2009</a:t>
                      </a:r>
                      <a:endParaRPr lang="zh-CN" altLang="en-US" sz="1100" dirty="0">
                        <a:latin typeface="Arial" panose="020B0604020202020204" pitchFamily="34" charset="0"/>
                        <a:cs typeface="Arial" panose="020B0604020202020204" pitchFamily="34" charset="0"/>
                      </a:endParaRPr>
                    </a:p>
                  </a:txBody>
                  <a:tcPr marL="68580" marR="68580" marT="34290" marB="34290" anchor="ctr"/>
                </a:tc>
                <a:extLst>
                  <a:ext uri="{0D108BD9-81ED-4DB2-BD59-A6C34878D82A}">
                    <a16:rowId xmlns:a16="http://schemas.microsoft.com/office/drawing/2014/main" val="2000522941"/>
                  </a:ext>
                </a:extLst>
              </a:tr>
              <a:tr h="306620">
                <a:tc>
                  <a:txBody>
                    <a:bodyPr/>
                    <a:lstStyle/>
                    <a:p>
                      <a:pPr algn="ctr">
                        <a:lnSpc>
                          <a:spcPct val="100000"/>
                        </a:lnSpc>
                      </a:pPr>
                      <a:r>
                        <a:rPr lang="en-US" altLang="zh-CN" sz="1100" dirty="0">
                          <a:latin typeface="Arial" panose="020B0604020202020204" pitchFamily="34" charset="0"/>
                          <a:cs typeface="Arial" panose="020B0604020202020204" pitchFamily="34" charset="0"/>
                        </a:rPr>
                        <a:t>High saturation</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Low opacity</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a:t>
                      </a:r>
                      <a:endParaRPr lang="zh-CN" altLang="en-US" sz="1100" dirty="0">
                        <a:latin typeface="Arial" panose="020B0604020202020204" pitchFamily="34" charset="0"/>
                        <a:cs typeface="Arial" panose="020B0604020202020204" pitchFamily="34" charset="0"/>
                      </a:endParaRPr>
                    </a:p>
                  </a:txBody>
                  <a:tcPr marL="68580" marR="68580" marT="34290" marB="34290" anchor="ctr"/>
                </a:tc>
                <a:tc>
                  <a:txBody>
                    <a:bodyPr/>
                    <a:lstStyle/>
                    <a:p>
                      <a:pPr algn="ctr">
                        <a:lnSpc>
                          <a:spcPct val="100000"/>
                        </a:lnSpc>
                      </a:pPr>
                      <a:r>
                        <a:rPr lang="en-US" altLang="zh-CN" sz="1100" dirty="0">
                          <a:latin typeface="Arial" panose="020B0604020202020204" pitchFamily="34" charset="0"/>
                          <a:cs typeface="Arial" panose="020B0604020202020204" pitchFamily="34" charset="0"/>
                        </a:rPr>
                        <a:t>Chan et al. 2009</a:t>
                      </a:r>
                      <a:endParaRPr lang="zh-CN" altLang="en-US" sz="1100" dirty="0">
                        <a:latin typeface="Arial" panose="020B0604020202020204" pitchFamily="34" charset="0"/>
                        <a:cs typeface="Arial" panose="020B0604020202020204" pitchFamily="34" charset="0"/>
                      </a:endParaRPr>
                    </a:p>
                  </a:txBody>
                  <a:tcPr marL="68580" marR="68580" marT="34290" marB="34290" anchor="ctr"/>
                </a:tc>
                <a:extLst>
                  <a:ext uri="{0D108BD9-81ED-4DB2-BD59-A6C34878D82A}">
                    <a16:rowId xmlns:a16="http://schemas.microsoft.com/office/drawing/2014/main" val="2956822853"/>
                  </a:ext>
                </a:extLst>
              </a:tr>
            </a:tbl>
          </a:graphicData>
        </a:graphic>
      </p:graphicFrame>
      <p:pic>
        <p:nvPicPr>
          <p:cNvPr id="49" name="图片 48">
            <a:extLst>
              <a:ext uri="{FF2B5EF4-FFF2-40B4-BE49-F238E27FC236}">
                <a16:creationId xmlns:a16="http://schemas.microsoft.com/office/drawing/2014/main" id="{FC9A2217-86D2-4F56-AB4E-E736FE4F0035}"/>
              </a:ext>
            </a:extLst>
          </p:cNvPr>
          <p:cNvPicPr>
            <a:picLocks noChangeAspect="1"/>
          </p:cNvPicPr>
          <p:nvPr/>
        </p:nvPicPr>
        <p:blipFill>
          <a:blip r:embed="rId3">
            <a:clrChange>
              <a:clrFrom>
                <a:srgbClr val="F7F7F7"/>
              </a:clrFrom>
              <a:clrTo>
                <a:srgbClr val="F7F7F7">
                  <a:alpha val="0"/>
                </a:srgbClr>
              </a:clrTo>
            </a:clrChange>
            <a:extLst>
              <a:ext uri="{28A0092B-C50C-407E-A947-70E740481C1C}">
                <a14:useLocalDpi xmlns:a14="http://schemas.microsoft.com/office/drawing/2010/main" val="0"/>
              </a:ext>
            </a:extLst>
          </a:blip>
          <a:stretch>
            <a:fillRect/>
          </a:stretch>
        </p:blipFill>
        <p:spPr>
          <a:xfrm rot="816189">
            <a:off x="503120" y="3442255"/>
            <a:ext cx="1280373" cy="1230650"/>
          </a:xfrm>
          <a:prstGeom prst="rect">
            <a:avLst/>
          </a:prstGeom>
        </p:spPr>
      </p:pic>
    </p:spTree>
    <p:extLst>
      <p:ext uri="{BB962C8B-B14F-4D97-AF65-F5344CB8AC3E}">
        <p14:creationId xmlns:p14="http://schemas.microsoft.com/office/powerpoint/2010/main" val="246969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C39FD8E-9289-49E9-A625-5DC3C029952E}"/>
              </a:ext>
            </a:extLst>
          </p:cNvPr>
          <p:cNvSpPr txBox="1"/>
          <p:nvPr/>
        </p:nvSpPr>
        <p:spPr>
          <a:xfrm>
            <a:off x="744904" y="2094696"/>
            <a:ext cx="7734300" cy="1026884"/>
          </a:xfrm>
          <a:prstGeom prst="rect">
            <a:avLst/>
          </a:prstGeom>
          <a:noFill/>
        </p:spPr>
        <p:txBody>
          <a:bodyPr wrap="square">
            <a:spAutoFit/>
          </a:bodyPr>
          <a:lstStyle/>
          <a:p>
            <a:pPr algn="ctr">
              <a:lnSpc>
                <a:spcPts val="3800"/>
              </a:lnSpc>
            </a:pPr>
            <a:r>
              <a:rPr lang="en-US" altLang="zh-CN" sz="2800" i="1" dirty="0">
                <a:latin typeface="Arial" panose="020B0604020202020204" pitchFamily="34" charset="0"/>
                <a:cs typeface="Arial" panose="020B0604020202020204" pitchFamily="34" charset="0"/>
              </a:rPr>
              <a:t>W</a:t>
            </a:r>
            <a:r>
              <a:rPr lang="en-US" altLang="zh-CN" sz="2800" b="0" i="1" u="none" strike="noStrike" baseline="0" dirty="0">
                <a:latin typeface="Arial" panose="020B0604020202020204" pitchFamily="34" charset="0"/>
                <a:cs typeface="Arial" panose="020B0604020202020204" pitchFamily="34" charset="0"/>
              </a:rPr>
              <a:t>hat are the impacts of color, opacity, and their interaction on depth order perception?</a:t>
            </a:r>
            <a:endParaRPr lang="zh-CN" altLang="en-US" sz="28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4805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F2CC263-F807-497B-B9D1-0DB838FC9FAE}"/>
              </a:ext>
            </a:extLst>
          </p:cNvPr>
          <p:cNvPicPr>
            <a:picLocks noChangeAspect="1"/>
          </p:cNvPicPr>
          <p:nvPr/>
        </p:nvPicPr>
        <p:blipFill>
          <a:blip r:embed="rId3"/>
          <a:stretch>
            <a:fillRect/>
          </a:stretch>
        </p:blipFill>
        <p:spPr>
          <a:xfrm>
            <a:off x="2874790" y="809290"/>
            <a:ext cx="2985161" cy="3652406"/>
          </a:xfrm>
          <a:prstGeom prst="rect">
            <a:avLst/>
          </a:prstGeom>
          <a:effectLst>
            <a:softEdge rad="88900"/>
          </a:effectLst>
        </p:spPr>
      </p:pic>
      <p:sp>
        <p:nvSpPr>
          <p:cNvPr id="6" name="文本框 5">
            <a:extLst>
              <a:ext uri="{FF2B5EF4-FFF2-40B4-BE49-F238E27FC236}">
                <a16:creationId xmlns:a16="http://schemas.microsoft.com/office/drawing/2014/main" id="{9370F796-23E0-48A8-BE25-645C6F6EAD47}"/>
              </a:ext>
            </a:extLst>
          </p:cNvPr>
          <p:cNvSpPr txBox="1"/>
          <p:nvPr/>
        </p:nvSpPr>
        <p:spPr>
          <a:xfrm>
            <a:off x="498736" y="1148329"/>
            <a:ext cx="2376054" cy="307777"/>
          </a:xfrm>
          <a:prstGeom prst="rect">
            <a:avLst/>
          </a:prstGeom>
          <a:noFill/>
        </p:spPr>
        <p:txBody>
          <a:bodyPr wrap="square" rtlCol="0">
            <a:spAutoFit/>
          </a:bodyPr>
          <a:lstStyle/>
          <a:p>
            <a:pPr algn="r"/>
            <a:r>
              <a:rPr lang="fr-FR" altLang="zh-CN" sz="1400" dirty="0">
                <a:latin typeface="Arial" panose="020B0604020202020204" pitchFamily="34" charset="0"/>
                <a:cs typeface="Arial" panose="020B0604020202020204" pitchFamily="34" charset="0"/>
              </a:rPr>
              <a:t>8 representative color</a:t>
            </a:r>
            <a:r>
              <a:rPr lang="en-US" altLang="zh-CN" sz="1400" dirty="0">
                <a:latin typeface="Arial" panose="020B0604020202020204" pitchFamily="34" charset="0"/>
                <a:cs typeface="Arial" panose="020B0604020202020204" pitchFamily="34" charset="0"/>
              </a:rPr>
              <a:t>s</a:t>
            </a:r>
            <a:endParaRPr lang="zh-CN" altLang="en-US" sz="1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17145AB-337C-40BD-A2CD-1A18D3022B8A}"/>
                  </a:ext>
                </a:extLst>
              </p:cNvPr>
              <p:cNvSpPr txBox="1"/>
              <p:nvPr/>
            </p:nvSpPr>
            <p:spPr>
              <a:xfrm>
                <a:off x="6050240" y="2448037"/>
                <a:ext cx="2607362" cy="3749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dirty="0" smtClean="0">
                              <a:solidFill>
                                <a:srgbClr val="836967"/>
                              </a:solidFill>
                              <a:latin typeface="Cambria Math" panose="02040503050406030204" pitchFamily="18" charset="0"/>
                            </a:rPr>
                          </m:ctrlPr>
                        </m:sSubSupPr>
                        <m:e>
                          <m:r>
                            <a:rPr lang="en-US" altLang="zh-CN" i="1" dirty="0" smtClean="0">
                              <a:latin typeface="Cambria Math" panose="02040503050406030204" pitchFamily="18" charset="0"/>
                            </a:rPr>
                            <m:t>𝐶</m:t>
                          </m:r>
                        </m:e>
                        <m:sub>
                          <m:r>
                            <a:rPr lang="en-US" altLang="zh-CN" i="0" dirty="0" smtClean="0">
                              <a:latin typeface="Cambria Math" panose="02040503050406030204" pitchFamily="18" charset="0"/>
                            </a:rPr>
                            <m:t>8</m:t>
                          </m:r>
                        </m:sub>
                        <m:sup>
                          <m:r>
                            <a:rPr lang="en-US" altLang="zh-CN" i="0" dirty="0" smtClean="0">
                              <a:latin typeface="Cambria Math" panose="02040503050406030204" pitchFamily="18" charset="0"/>
                            </a:rPr>
                            <m:t>2</m:t>
                          </m:r>
                        </m:sup>
                      </m:sSubSup>
                      <m:r>
                        <a:rPr lang="en-US" altLang="zh-CN" i="0" dirty="0" smtClean="0">
                          <a:latin typeface="Cambria Math" panose="02040503050406030204" pitchFamily="18" charset="0"/>
                        </a:rPr>
                        <m:t>×</m:t>
                      </m:r>
                      <m:sSup>
                        <m:sSupPr>
                          <m:ctrlPr>
                            <a:rPr lang="en-US" altLang="zh-CN" i="1" dirty="0" smtClean="0">
                              <a:solidFill>
                                <a:srgbClr val="836967"/>
                              </a:solidFill>
                              <a:latin typeface="Cambria Math" panose="02040503050406030204" pitchFamily="18" charset="0"/>
                            </a:rPr>
                          </m:ctrlPr>
                        </m:sSupPr>
                        <m:e>
                          <m:r>
                            <a:rPr lang="en-US" altLang="zh-CN" i="0" dirty="0" smtClean="0">
                              <a:latin typeface="Cambria Math" panose="02040503050406030204" pitchFamily="18" charset="0"/>
                            </a:rPr>
                            <m:t>3</m:t>
                          </m:r>
                        </m:e>
                        <m:sup>
                          <m:r>
                            <a:rPr lang="en-US" altLang="zh-CN" b="0" i="1" dirty="0" smtClean="0">
                              <a:latin typeface="Cambria Math" panose="02040503050406030204" pitchFamily="18" charset="0"/>
                            </a:rPr>
                            <m:t>2</m:t>
                          </m:r>
                        </m:sup>
                      </m:sSup>
                      <m:r>
                        <a:rPr lang="en-US" altLang="zh-CN" i="0" dirty="0" smtClean="0">
                          <a:latin typeface="Cambria Math" panose="02040503050406030204" pitchFamily="18" charset="0"/>
                        </a:rPr>
                        <m:t>×4=1008</m:t>
                      </m:r>
                    </m:oMath>
                  </m:oMathPara>
                </a14:m>
                <a:endParaRPr lang="en-US" altLang="zh-CN" dirty="0">
                  <a:latin typeface="Arial" panose="020B0604020202020204" pitchFamily="34" charset="0"/>
                  <a:cs typeface="Arial" panose="020B0604020202020204" pitchFamily="34" charset="0"/>
                </a:endParaRPr>
              </a:p>
            </p:txBody>
          </p:sp>
        </mc:Choice>
        <mc:Fallback xmlns="">
          <p:sp>
            <p:nvSpPr>
              <p:cNvPr id="11" name="文本框 10">
                <a:extLst>
                  <a:ext uri="{FF2B5EF4-FFF2-40B4-BE49-F238E27FC236}">
                    <a16:creationId xmlns:a16="http://schemas.microsoft.com/office/drawing/2014/main" id="{917145AB-337C-40BD-A2CD-1A18D3022B8A}"/>
                  </a:ext>
                </a:extLst>
              </p:cNvPr>
              <p:cNvSpPr txBox="1">
                <a:spLocks noRot="1" noChangeAspect="1" noMove="1" noResize="1" noEditPoints="1" noAdjustHandles="1" noChangeArrowheads="1" noChangeShapeType="1" noTextEdit="1"/>
              </p:cNvSpPr>
              <p:nvPr/>
            </p:nvSpPr>
            <p:spPr>
              <a:xfrm>
                <a:off x="6050240" y="2448037"/>
                <a:ext cx="2607362" cy="374911"/>
              </a:xfrm>
              <a:prstGeom prst="rect">
                <a:avLst/>
              </a:prstGeom>
              <a:blipFill>
                <a:blip r:embed="rId4"/>
                <a:stretch>
                  <a:fillRect b="-3279"/>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E4CA7D7F-2A86-45AC-B03C-A6A7BC2618AC}"/>
              </a:ext>
            </a:extLst>
          </p:cNvPr>
          <p:cNvSpPr txBox="1"/>
          <p:nvPr/>
        </p:nvSpPr>
        <p:spPr>
          <a:xfrm>
            <a:off x="489211" y="2252886"/>
            <a:ext cx="2376054" cy="307777"/>
          </a:xfrm>
          <a:prstGeom prst="rect">
            <a:avLst/>
          </a:prstGeom>
          <a:noFill/>
        </p:spPr>
        <p:txBody>
          <a:bodyPr wrap="square" rtlCol="0">
            <a:spAutoFit/>
          </a:bodyPr>
          <a:lstStyle/>
          <a:p>
            <a:pPr algn="r"/>
            <a:r>
              <a:rPr lang="fr-FR" altLang="zh-CN" sz="1400" dirty="0">
                <a:latin typeface="Arial" panose="020B0604020202020204" pitchFamily="34" charset="0"/>
                <a:cs typeface="Arial" panose="020B0604020202020204" pitchFamily="34" charset="0"/>
              </a:rPr>
              <a:t>3 opacity levels</a:t>
            </a:r>
            <a:endParaRPr lang="zh-CN" altLang="en-US" sz="1400"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8A829A41-3227-4694-A718-8E0658933BC8}"/>
              </a:ext>
            </a:extLst>
          </p:cNvPr>
          <p:cNvSpPr txBox="1"/>
          <p:nvPr/>
        </p:nvSpPr>
        <p:spPr>
          <a:xfrm>
            <a:off x="-110371" y="3533506"/>
            <a:ext cx="2985161" cy="307777"/>
          </a:xfrm>
          <a:prstGeom prst="rect">
            <a:avLst/>
          </a:prstGeom>
          <a:noFill/>
        </p:spPr>
        <p:txBody>
          <a:bodyPr wrap="square" rtlCol="0">
            <a:spAutoFit/>
          </a:bodyPr>
          <a:lstStyle/>
          <a:p>
            <a:pPr algn="r"/>
            <a:r>
              <a:rPr lang="fr-FR" altLang="zh-CN" sz="1400" dirty="0">
                <a:latin typeface="Arial" panose="020B0604020202020204" pitchFamily="34" charset="0"/>
                <a:cs typeface="Arial" panose="020B0604020202020204" pitchFamily="34" charset="0"/>
              </a:rPr>
              <a:t>4 layer order and arrangments</a:t>
            </a:r>
            <a:endParaRPr lang="zh-CN" altLang="en-US" sz="1400" dirty="0">
              <a:latin typeface="Arial" panose="020B0604020202020204" pitchFamily="34" charset="0"/>
              <a:cs typeface="Arial" panose="020B0604020202020204" pitchFamily="34" charset="0"/>
            </a:endParaRPr>
          </a:p>
        </p:txBody>
      </p:sp>
      <p:sp>
        <p:nvSpPr>
          <p:cNvPr id="21" name="矩形: 圆角 20">
            <a:extLst>
              <a:ext uri="{FF2B5EF4-FFF2-40B4-BE49-F238E27FC236}">
                <a16:creationId xmlns:a16="http://schemas.microsoft.com/office/drawing/2014/main" id="{1277B54D-74C6-43EB-8A5B-F47DD3DE0EB6}"/>
              </a:ext>
            </a:extLst>
          </p:cNvPr>
          <p:cNvSpPr/>
          <p:nvPr/>
        </p:nvSpPr>
        <p:spPr>
          <a:xfrm>
            <a:off x="6157413" y="3789013"/>
            <a:ext cx="2047664" cy="989690"/>
          </a:xfrm>
          <a:prstGeom prst="round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a:extLst>
              <a:ext uri="{FF2B5EF4-FFF2-40B4-BE49-F238E27FC236}">
                <a16:creationId xmlns:a16="http://schemas.microsoft.com/office/drawing/2014/main" id="{6FF85C04-B1F0-4AF7-B365-E0669524CE47}"/>
              </a:ext>
            </a:extLst>
          </p:cNvPr>
          <p:cNvCxnSpPr>
            <a:cxnSpLocks/>
            <a:endCxn id="21" idx="1"/>
          </p:cNvCxnSpPr>
          <p:nvPr/>
        </p:nvCxnSpPr>
        <p:spPr>
          <a:xfrm>
            <a:off x="5387763" y="3153523"/>
            <a:ext cx="769650" cy="1130335"/>
          </a:xfrm>
          <a:prstGeom prst="line">
            <a:avLst/>
          </a:prstGeom>
          <a:ln>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pic>
        <p:nvPicPr>
          <p:cNvPr id="27" name="图片 26">
            <a:extLst>
              <a:ext uri="{FF2B5EF4-FFF2-40B4-BE49-F238E27FC236}">
                <a16:creationId xmlns:a16="http://schemas.microsoft.com/office/drawing/2014/main" id="{4EB85F12-00FA-47CD-9AE7-15680E133C33}"/>
              </a:ext>
            </a:extLst>
          </p:cNvPr>
          <p:cNvPicPr>
            <a:picLocks noChangeAspect="1"/>
          </p:cNvPicPr>
          <p:nvPr/>
        </p:nvPicPr>
        <p:blipFill>
          <a:blip r:embed="rId5"/>
          <a:stretch>
            <a:fillRect/>
          </a:stretch>
        </p:blipFill>
        <p:spPr>
          <a:xfrm>
            <a:off x="6363277" y="3992000"/>
            <a:ext cx="1635935" cy="667797"/>
          </a:xfrm>
          <a:prstGeom prst="rect">
            <a:avLst/>
          </a:prstGeom>
        </p:spPr>
      </p:pic>
    </p:spTree>
    <p:extLst>
      <p:ext uri="{BB962C8B-B14F-4D97-AF65-F5344CB8AC3E}">
        <p14:creationId xmlns:p14="http://schemas.microsoft.com/office/powerpoint/2010/main" val="326760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1000"/>
                                        <p:tgtEl>
                                          <p:spTgt spid="21"/>
                                        </p:tgtEl>
                                      </p:cBhvr>
                                    </p:animEffect>
                                    <p:anim calcmode="lin" valueType="num">
                                      <p:cBhvr>
                                        <p:cTn id="25" dur="1000" fill="hold"/>
                                        <p:tgtEl>
                                          <p:spTgt spid="21"/>
                                        </p:tgtEl>
                                        <p:attrNameLst>
                                          <p:attrName>ppt_x</p:attrName>
                                        </p:attrNameLst>
                                      </p:cBhvr>
                                      <p:tavLst>
                                        <p:tav tm="0">
                                          <p:val>
                                            <p:strVal val="#ppt_x"/>
                                          </p:val>
                                        </p:tav>
                                        <p:tav tm="100000">
                                          <p:val>
                                            <p:strVal val="#ppt_x"/>
                                          </p:val>
                                        </p:tav>
                                      </p:tavLst>
                                    </p:anim>
                                    <p:anim calcmode="lin" valueType="num">
                                      <p:cBhvr>
                                        <p:cTn id="26" dur="1000" fill="hold"/>
                                        <p:tgtEl>
                                          <p:spTgt spid="21"/>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1000"/>
                                        <p:tgtEl>
                                          <p:spTgt spid="27"/>
                                        </p:tgtEl>
                                      </p:cBhvr>
                                    </p:animEffect>
                                    <p:anim calcmode="lin" valueType="num">
                                      <p:cBhvr>
                                        <p:cTn id="35" dur="1000" fill="hold"/>
                                        <p:tgtEl>
                                          <p:spTgt spid="27"/>
                                        </p:tgtEl>
                                        <p:attrNameLst>
                                          <p:attrName>ppt_x</p:attrName>
                                        </p:attrNameLst>
                                      </p:cBhvr>
                                      <p:tavLst>
                                        <p:tav tm="0">
                                          <p:val>
                                            <p:strVal val="#ppt_x"/>
                                          </p:val>
                                        </p:tav>
                                        <p:tav tm="100000">
                                          <p:val>
                                            <p:strVal val="#ppt_x"/>
                                          </p:val>
                                        </p:tav>
                                      </p:tavLst>
                                    </p:anim>
                                    <p:anim calcmode="lin" valueType="num">
                                      <p:cBhvr>
                                        <p:cTn id="3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4" grpId="0"/>
      <p:bldP spid="15" grpId="0"/>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B588ADA-5139-4CFF-8E77-9E5E2F81627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586942" y="1372343"/>
            <a:ext cx="3837461" cy="2213548"/>
          </a:xfrm>
          <a:prstGeom prst="rect">
            <a:avLst/>
          </a:prstGeom>
        </p:spPr>
      </p:pic>
    </p:spTree>
    <p:extLst>
      <p:ext uri="{BB962C8B-B14F-4D97-AF65-F5344CB8AC3E}">
        <p14:creationId xmlns:p14="http://schemas.microsoft.com/office/powerpoint/2010/main" val="845875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9706CA1-3C92-40C0-9FA7-3036100BFBAB}"/>
              </a:ext>
            </a:extLst>
          </p:cNvPr>
          <p:cNvSpPr/>
          <p:nvPr/>
        </p:nvSpPr>
        <p:spPr>
          <a:xfrm>
            <a:off x="0" y="1795191"/>
            <a:ext cx="9144000" cy="1881352"/>
          </a:xfrm>
          <a:prstGeom prst="rect">
            <a:avLst/>
          </a:prstGeom>
          <a:solidFill>
            <a:schemeClr val="bg1">
              <a:lumMod val="85000"/>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5" name="表格 10">
            <a:extLst>
              <a:ext uri="{FF2B5EF4-FFF2-40B4-BE49-F238E27FC236}">
                <a16:creationId xmlns:a16="http://schemas.microsoft.com/office/drawing/2014/main" id="{08EC3656-DB90-4A69-8BA3-9A5BF8DB416A}"/>
              </a:ext>
            </a:extLst>
          </p:cNvPr>
          <p:cNvGraphicFramePr>
            <a:graphicFrameLocks noGrp="1"/>
          </p:cNvGraphicFramePr>
          <p:nvPr>
            <p:extLst>
              <p:ext uri="{D42A27DB-BD31-4B8C-83A1-F6EECF244321}">
                <p14:modId xmlns:p14="http://schemas.microsoft.com/office/powerpoint/2010/main" val="865909091"/>
              </p:ext>
            </p:extLst>
          </p:nvPr>
        </p:nvGraphicFramePr>
        <p:xfrm>
          <a:off x="1705142" y="1994187"/>
          <a:ext cx="5454870" cy="1483360"/>
        </p:xfrm>
        <a:graphic>
          <a:graphicData uri="http://schemas.openxmlformats.org/drawingml/2006/table">
            <a:tbl>
              <a:tblPr firstRow="1" bandRow="1">
                <a:tableStyleId>{5C22544A-7EE6-4342-B048-85BDC9FD1C3A}</a:tableStyleId>
              </a:tblPr>
              <a:tblGrid>
                <a:gridCol w="1650124">
                  <a:extLst>
                    <a:ext uri="{9D8B030D-6E8A-4147-A177-3AD203B41FA5}">
                      <a16:colId xmlns:a16="http://schemas.microsoft.com/office/drawing/2014/main" val="3314045861"/>
                    </a:ext>
                  </a:extLst>
                </a:gridCol>
                <a:gridCol w="1667641">
                  <a:extLst>
                    <a:ext uri="{9D8B030D-6E8A-4147-A177-3AD203B41FA5}">
                      <a16:colId xmlns:a16="http://schemas.microsoft.com/office/drawing/2014/main" val="348025827"/>
                    </a:ext>
                  </a:extLst>
                </a:gridCol>
                <a:gridCol w="2137105">
                  <a:extLst>
                    <a:ext uri="{9D8B030D-6E8A-4147-A177-3AD203B41FA5}">
                      <a16:colId xmlns:a16="http://schemas.microsoft.com/office/drawing/2014/main" val="1539529882"/>
                    </a:ext>
                  </a:extLst>
                </a:gridCol>
              </a:tblGrid>
              <a:tr h="370840">
                <a:tc>
                  <a:txBody>
                    <a:bodyPr/>
                    <a:lstStyle/>
                    <a:p>
                      <a:pPr algn="ctr"/>
                      <a:endParaRPr lang="zh-CN" altLang="en-US"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rPr>
                        <a:t>Pilot Study</a:t>
                      </a:r>
                      <a:endParaRPr lang="zh-CN" altLang="en-US"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rPr>
                        <a:t>Main Experiment</a:t>
                      </a:r>
                      <a:endParaRPr lang="zh-CN" altLang="en-US"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2496599"/>
                  </a:ext>
                </a:extLst>
              </a:tr>
              <a:tr h="370840">
                <a:tc>
                  <a:txBody>
                    <a:bodyPr/>
                    <a:lstStyle/>
                    <a:p>
                      <a:pPr algn="ctr"/>
                      <a:r>
                        <a:rPr kumimoji="1" lang="en-US" altLang="zh-CN" sz="1350" b="0" i="0" kern="1200" dirty="0">
                          <a:solidFill>
                            <a:schemeClr val="dk1"/>
                          </a:solidFill>
                          <a:effectLst/>
                          <a:latin typeface="+mn-lt"/>
                          <a:ea typeface="+mn-ea"/>
                          <a:cs typeface="+mn-cs"/>
                        </a:rPr>
                        <a:t>Participant No.</a:t>
                      </a:r>
                      <a:endParaRPr lang="zh-CN" altLang="en-US"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rPr>
                        <a:t>24</a:t>
                      </a:r>
                      <a:endParaRPr lang="zh-CN" altLang="en-US"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rPr>
                        <a:t>180</a:t>
                      </a:r>
                      <a:endParaRPr lang="zh-CN" altLang="en-US"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92173893"/>
                  </a:ext>
                </a:extLst>
              </a:tr>
              <a:tr h="370840">
                <a:tc>
                  <a:txBody>
                    <a:bodyPr/>
                    <a:lstStyle/>
                    <a:p>
                      <a:pPr algn="ctr"/>
                      <a:r>
                        <a:rPr kumimoji="1" lang="en-US" altLang="zh-CN" sz="1350" b="0" i="0" kern="1200" dirty="0">
                          <a:solidFill>
                            <a:schemeClr val="dk1"/>
                          </a:solidFill>
                          <a:effectLst/>
                          <a:latin typeface="+mn-lt"/>
                          <a:ea typeface="+mn-ea"/>
                          <a:cs typeface="+mn-cs"/>
                        </a:rPr>
                        <a:t>Trials/person</a:t>
                      </a:r>
                      <a:endParaRPr lang="zh-CN" altLang="en-US"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rPr>
                        <a:t>252</a:t>
                      </a:r>
                      <a:endParaRPr lang="zh-CN" altLang="en-US"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rPr>
                        <a:t>112</a:t>
                      </a:r>
                      <a:endParaRPr lang="zh-CN" altLang="en-US"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6131473"/>
                  </a:ext>
                </a:extLst>
              </a:tr>
              <a:tr h="370840">
                <a:tc>
                  <a:txBody>
                    <a:bodyPr/>
                    <a:lstStyle/>
                    <a:p>
                      <a:pPr algn="ctr"/>
                      <a:r>
                        <a:rPr lang="en-US" altLang="zh-CN" dirty="0">
                          <a:solidFill>
                            <a:schemeClr val="tx1"/>
                          </a:solidFill>
                        </a:rPr>
                        <a:t>Total</a:t>
                      </a:r>
                      <a:endParaRPr lang="zh-CN" altLang="en-US"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rPr>
                        <a:t>6,048</a:t>
                      </a:r>
                      <a:endParaRPr lang="zh-CN" altLang="en-US"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solidFill>
                            <a:schemeClr val="tx1"/>
                          </a:solidFill>
                        </a:rPr>
                        <a:t>20,160</a:t>
                      </a:r>
                      <a:endParaRPr lang="zh-CN" altLang="en-US" b="1"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74552840"/>
                  </a:ext>
                </a:extLst>
              </a:tr>
            </a:tbl>
          </a:graphicData>
        </a:graphic>
      </p:graphicFrame>
    </p:spTree>
    <p:extLst>
      <p:ext uri="{BB962C8B-B14F-4D97-AF65-F5344CB8AC3E}">
        <p14:creationId xmlns:p14="http://schemas.microsoft.com/office/powerpoint/2010/main" val="3272759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730B93-1CA2-42B5-9C81-C5F9B678B32E}"/>
              </a:ext>
            </a:extLst>
          </p:cNvPr>
          <p:cNvSpPr>
            <a:spLocks noGrp="1"/>
          </p:cNvSpPr>
          <p:nvPr>
            <p:ph idx="1"/>
          </p:nvPr>
        </p:nvSpPr>
        <p:spPr>
          <a:xfrm>
            <a:off x="718527" y="1357494"/>
            <a:ext cx="7886700" cy="3499767"/>
          </a:xfrm>
        </p:spPr>
        <p:txBody>
          <a:bodyPr>
            <a:normAutofit/>
          </a:bodyPr>
          <a:lstStyle/>
          <a:p>
            <a:pPr>
              <a:lnSpc>
                <a:spcPct val="200000"/>
              </a:lnSpc>
            </a:pPr>
            <a:r>
              <a:rPr lang="en-US" altLang="zh-CN" b="1" dirty="0">
                <a:latin typeface="Arial" panose="020B0604020202020204" pitchFamily="34" charset="0"/>
                <a:cs typeface="Arial" panose="020B0604020202020204" pitchFamily="34" charset="0"/>
              </a:rPr>
              <a:t>Inferential Analyses</a:t>
            </a:r>
          </a:p>
          <a:p>
            <a:pPr>
              <a:lnSpc>
                <a:spcPct val="200000"/>
              </a:lnSpc>
            </a:pPr>
            <a:r>
              <a:rPr lang="en-US" altLang="zh-CN" b="1" dirty="0">
                <a:latin typeface="Arial" panose="020B0604020202020204" pitchFamily="34" charset="0"/>
                <a:cs typeface="Arial" panose="020B0604020202020204" pitchFamily="34" charset="0"/>
              </a:rPr>
              <a:t>Predictive Analyses</a:t>
            </a:r>
          </a:p>
          <a:p>
            <a:pPr>
              <a:lnSpc>
                <a:spcPct val="200000"/>
              </a:lnSpc>
            </a:pPr>
            <a:r>
              <a:rPr lang="en-US" altLang="zh-CN" b="1" dirty="0">
                <a:latin typeface="Arial" panose="020B0604020202020204" pitchFamily="34" charset="0"/>
                <a:cs typeface="Arial" panose="020B0604020202020204" pitchFamily="34" charset="0"/>
              </a:rPr>
              <a:t>Exploratory Analyses</a:t>
            </a:r>
          </a:p>
        </p:txBody>
      </p:sp>
    </p:spTree>
    <p:extLst>
      <p:ext uri="{BB962C8B-B14F-4D97-AF65-F5344CB8AC3E}">
        <p14:creationId xmlns:p14="http://schemas.microsoft.com/office/powerpoint/2010/main" val="1955640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730B93-1CA2-42B5-9C81-C5F9B678B32E}"/>
              </a:ext>
            </a:extLst>
          </p:cNvPr>
          <p:cNvSpPr>
            <a:spLocks noGrp="1"/>
          </p:cNvSpPr>
          <p:nvPr>
            <p:ph idx="1"/>
          </p:nvPr>
        </p:nvSpPr>
        <p:spPr>
          <a:xfrm>
            <a:off x="718527" y="1357494"/>
            <a:ext cx="7886700" cy="3499767"/>
          </a:xfrm>
        </p:spPr>
        <p:txBody>
          <a:bodyPr/>
          <a:lstStyle/>
          <a:p>
            <a:pPr>
              <a:lnSpc>
                <a:spcPct val="200000"/>
              </a:lnSpc>
            </a:pPr>
            <a:r>
              <a:rPr lang="en-US" altLang="zh-CN" b="1" dirty="0">
                <a:latin typeface="Arial" panose="020B0604020202020204" pitchFamily="34" charset="0"/>
                <a:cs typeface="Arial" panose="020B0604020202020204" pitchFamily="34" charset="0"/>
              </a:rPr>
              <a:t>Inferential Analyses</a:t>
            </a:r>
          </a:p>
          <a:p>
            <a:pPr>
              <a:lnSpc>
                <a:spcPct val="200000"/>
              </a:lnSpc>
            </a:pPr>
            <a:r>
              <a:rPr lang="en-US" altLang="zh-CN" b="1" dirty="0">
                <a:solidFill>
                  <a:schemeClr val="bg1">
                    <a:lumMod val="65000"/>
                  </a:schemeClr>
                </a:solidFill>
                <a:latin typeface="Arial" panose="020B0604020202020204" pitchFamily="34" charset="0"/>
                <a:cs typeface="Arial" panose="020B0604020202020204" pitchFamily="34" charset="0"/>
              </a:rPr>
              <a:t>Predictive Analyses</a:t>
            </a:r>
          </a:p>
          <a:p>
            <a:pPr>
              <a:lnSpc>
                <a:spcPct val="200000"/>
              </a:lnSpc>
            </a:pPr>
            <a:r>
              <a:rPr lang="en-US" altLang="zh-CN" b="1" dirty="0">
                <a:solidFill>
                  <a:schemeClr val="bg1">
                    <a:lumMod val="65000"/>
                  </a:schemeClr>
                </a:solidFill>
                <a:latin typeface="Arial" panose="020B0604020202020204" pitchFamily="34" charset="0"/>
                <a:cs typeface="Arial" panose="020B0604020202020204" pitchFamily="34" charset="0"/>
              </a:rPr>
              <a:t>Exploratory Analyses</a:t>
            </a:r>
          </a:p>
        </p:txBody>
      </p:sp>
    </p:spTree>
    <p:extLst>
      <p:ext uri="{BB962C8B-B14F-4D97-AF65-F5344CB8AC3E}">
        <p14:creationId xmlns:p14="http://schemas.microsoft.com/office/powerpoint/2010/main" val="2989192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405E930-EB25-4207-8157-327B969093EF}"/>
              </a:ext>
            </a:extLst>
          </p:cNvPr>
          <p:cNvPicPr>
            <a:picLocks noChangeAspect="1"/>
          </p:cNvPicPr>
          <p:nvPr/>
        </p:nvPicPr>
        <p:blipFill rotWithShape="1">
          <a:blip r:embed="rId3">
            <a:clrChange>
              <a:clrFrom>
                <a:srgbClr val="FFFFFF"/>
              </a:clrFrom>
              <a:clrTo>
                <a:srgbClr val="FFFFFF">
                  <a:alpha val="0"/>
                </a:srgbClr>
              </a:clrTo>
            </a:clrChange>
          </a:blip>
          <a:srcRect t="6954"/>
          <a:stretch/>
        </p:blipFill>
        <p:spPr>
          <a:xfrm>
            <a:off x="513296" y="1289539"/>
            <a:ext cx="8117407" cy="2551723"/>
          </a:xfrm>
          <a:prstGeom prst="rect">
            <a:avLst/>
          </a:prstGeom>
        </p:spPr>
      </p:pic>
      <p:sp>
        <p:nvSpPr>
          <p:cNvPr id="3" name="文本框 2">
            <a:extLst>
              <a:ext uri="{FF2B5EF4-FFF2-40B4-BE49-F238E27FC236}">
                <a16:creationId xmlns:a16="http://schemas.microsoft.com/office/drawing/2014/main" id="{41AF8E45-CDA5-4579-B36B-07F9D3CD18BA}"/>
              </a:ext>
            </a:extLst>
          </p:cNvPr>
          <p:cNvSpPr txBox="1"/>
          <p:nvPr/>
        </p:nvSpPr>
        <p:spPr>
          <a:xfrm>
            <a:off x="1000371" y="3906941"/>
            <a:ext cx="250483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(a) overall effects of color hues</a:t>
            </a:r>
            <a:endParaRPr lang="zh-CN" altLang="en-US" sz="1200"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C1446360-3E04-44DF-962A-112551DE3468}"/>
              </a:ext>
            </a:extLst>
          </p:cNvPr>
          <p:cNvSpPr txBox="1"/>
          <p:nvPr/>
        </p:nvSpPr>
        <p:spPr>
          <a:xfrm>
            <a:off x="3600477" y="3906941"/>
            <a:ext cx="250483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(b) effects of color on </a:t>
            </a:r>
            <a:r>
              <a:rPr lang="en-US" altLang="zh-CN" sz="1200" i="1" u="sng" dirty="0">
                <a:latin typeface="Arial" panose="020B0604020202020204" pitchFamily="34" charset="0"/>
                <a:cs typeface="Arial" panose="020B0604020202020204" pitchFamily="34" charset="0"/>
              </a:rPr>
              <a:t>front</a:t>
            </a:r>
            <a:r>
              <a:rPr lang="en-US" altLang="zh-CN" sz="1200" dirty="0">
                <a:latin typeface="Arial" panose="020B0604020202020204" pitchFamily="34" charset="0"/>
                <a:cs typeface="Arial" panose="020B0604020202020204" pitchFamily="34" charset="0"/>
              </a:rPr>
              <a:t> layers </a:t>
            </a:r>
            <a:endParaRPr lang="zh-CN" altLang="en-US" sz="1200"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CCA3E6E5-7420-4183-B58C-05B7764E57BE}"/>
              </a:ext>
            </a:extLst>
          </p:cNvPr>
          <p:cNvSpPr txBox="1"/>
          <p:nvPr/>
        </p:nvSpPr>
        <p:spPr>
          <a:xfrm>
            <a:off x="6200583" y="3906941"/>
            <a:ext cx="250483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(c) effects of color on </a:t>
            </a:r>
            <a:r>
              <a:rPr lang="en-US" altLang="zh-CN" sz="1200" i="1" u="sng" dirty="0">
                <a:latin typeface="Arial" panose="020B0604020202020204" pitchFamily="34" charset="0"/>
                <a:cs typeface="Arial" panose="020B0604020202020204" pitchFamily="34" charset="0"/>
              </a:rPr>
              <a:t>back</a:t>
            </a:r>
            <a:r>
              <a:rPr lang="en-US" altLang="zh-CN" sz="1200" dirty="0">
                <a:latin typeface="Arial" panose="020B0604020202020204" pitchFamily="34" charset="0"/>
                <a:cs typeface="Arial" panose="020B0604020202020204" pitchFamily="34" charset="0"/>
              </a:rPr>
              <a:t> layers </a:t>
            </a:r>
            <a:endParaRPr lang="zh-CN" altLang="en-US" sz="1200" dirty="0">
              <a:latin typeface="Arial" panose="020B0604020202020204" pitchFamily="34" charset="0"/>
              <a:cs typeface="Arial" panose="020B0604020202020204" pitchFamily="34" charset="0"/>
            </a:endParaRPr>
          </a:p>
        </p:txBody>
      </p:sp>
      <p:sp>
        <p:nvSpPr>
          <p:cNvPr id="9" name="タイトル 1">
            <a:extLst>
              <a:ext uri="{FF2B5EF4-FFF2-40B4-BE49-F238E27FC236}">
                <a16:creationId xmlns:a16="http://schemas.microsoft.com/office/drawing/2014/main" id="{E62F410E-5F0A-48A3-B887-F9073C67DC57}"/>
              </a:ext>
            </a:extLst>
          </p:cNvPr>
          <p:cNvSpPr txBox="1">
            <a:spLocks/>
          </p:cNvSpPr>
          <p:nvPr/>
        </p:nvSpPr>
        <p:spPr>
          <a:xfrm>
            <a:off x="591271" y="449669"/>
            <a:ext cx="7864975" cy="393926"/>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kumimoji="1" sz="3300" kern="1200">
                <a:solidFill>
                  <a:schemeClr val="tx1"/>
                </a:solidFill>
                <a:latin typeface="Roboto" panose="02000000000000000000" pitchFamily="2" charset="0"/>
                <a:ea typeface="Meiryo UI" panose="020B0604030504040204" pitchFamily="34" charset="-128"/>
                <a:cs typeface="+mj-cs"/>
              </a:defRPr>
            </a:lvl1p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Results | </a:t>
            </a:r>
            <a:r>
              <a:rPr lang="en-US" altLang="zh-CN" sz="2400" b="1" dirty="0">
                <a:latin typeface="Arial" panose="020B0604020202020204" pitchFamily="34" charset="0"/>
                <a:cs typeface="Arial" panose="020B0604020202020204" pitchFamily="34" charset="0"/>
              </a:rPr>
              <a:t>Effect of Color Hue</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796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01F656E-1139-4391-986A-6B423BD41432}"/>
              </a:ext>
            </a:extLst>
          </p:cNvPr>
          <p:cNvPicPr>
            <a:picLocks noChangeAspect="1"/>
          </p:cNvPicPr>
          <p:nvPr/>
        </p:nvPicPr>
        <p:blipFill rotWithShape="1">
          <a:blip r:embed="rId3"/>
          <a:srcRect t="10129"/>
          <a:stretch/>
        </p:blipFill>
        <p:spPr>
          <a:xfrm>
            <a:off x="771529" y="1415032"/>
            <a:ext cx="7336134" cy="2157674"/>
          </a:xfrm>
          <a:prstGeom prst="rect">
            <a:avLst/>
          </a:prstGeom>
        </p:spPr>
      </p:pic>
      <p:sp>
        <p:nvSpPr>
          <p:cNvPr id="5" name="文本框 4">
            <a:extLst>
              <a:ext uri="{FF2B5EF4-FFF2-40B4-BE49-F238E27FC236}">
                <a16:creationId xmlns:a16="http://schemas.microsoft.com/office/drawing/2014/main" id="{8E4A8903-2148-47A6-8728-A1706F5A05DC}"/>
              </a:ext>
            </a:extLst>
          </p:cNvPr>
          <p:cNvSpPr txBox="1"/>
          <p:nvPr/>
        </p:nvSpPr>
        <p:spPr>
          <a:xfrm>
            <a:off x="914401" y="3660756"/>
            <a:ext cx="250483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(a) overall effects of opacity levels</a:t>
            </a:r>
            <a:endParaRPr lang="zh-CN" altLang="en-US" sz="1200"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FCBF6774-9CDA-441B-8BFC-68C7DFA043B2}"/>
              </a:ext>
            </a:extLst>
          </p:cNvPr>
          <p:cNvSpPr txBox="1"/>
          <p:nvPr/>
        </p:nvSpPr>
        <p:spPr>
          <a:xfrm>
            <a:off x="3344984" y="3660755"/>
            <a:ext cx="265872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(b) effects of opacity on </a:t>
            </a:r>
            <a:r>
              <a:rPr lang="en-US" altLang="zh-CN" sz="1200" i="1" u="sng" dirty="0">
                <a:latin typeface="Arial" panose="020B0604020202020204" pitchFamily="34" charset="0"/>
                <a:cs typeface="Arial" panose="020B0604020202020204" pitchFamily="34" charset="0"/>
              </a:rPr>
              <a:t>front</a:t>
            </a:r>
            <a:r>
              <a:rPr lang="en-US" altLang="zh-CN" sz="1200" dirty="0">
                <a:latin typeface="Arial" panose="020B0604020202020204" pitchFamily="34" charset="0"/>
                <a:cs typeface="Arial" panose="020B0604020202020204" pitchFamily="34" charset="0"/>
              </a:rPr>
              <a:t> layers </a:t>
            </a:r>
            <a:endParaRPr lang="zh-CN" altLang="en-US" sz="1200"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A52EC23F-94AD-4F42-B1BB-9C9D7676B42A}"/>
              </a:ext>
            </a:extLst>
          </p:cNvPr>
          <p:cNvSpPr txBox="1"/>
          <p:nvPr/>
        </p:nvSpPr>
        <p:spPr>
          <a:xfrm>
            <a:off x="5849814" y="3660754"/>
            <a:ext cx="2636767"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(c) effects of opacity on </a:t>
            </a:r>
            <a:r>
              <a:rPr lang="en-US" altLang="zh-CN" sz="1200" i="1" u="sng" dirty="0">
                <a:latin typeface="Arial" panose="020B0604020202020204" pitchFamily="34" charset="0"/>
                <a:cs typeface="Arial" panose="020B0604020202020204" pitchFamily="34" charset="0"/>
              </a:rPr>
              <a:t>back</a:t>
            </a:r>
            <a:r>
              <a:rPr lang="en-US" altLang="zh-CN" sz="1200" dirty="0">
                <a:latin typeface="Arial" panose="020B0604020202020204" pitchFamily="34" charset="0"/>
                <a:cs typeface="Arial" panose="020B0604020202020204" pitchFamily="34" charset="0"/>
              </a:rPr>
              <a:t> layers </a:t>
            </a:r>
            <a:endParaRPr lang="zh-CN" altLang="en-US" sz="1200" dirty="0">
              <a:latin typeface="Arial" panose="020B0604020202020204" pitchFamily="34" charset="0"/>
              <a:cs typeface="Arial" panose="020B0604020202020204" pitchFamily="34" charset="0"/>
            </a:endParaRPr>
          </a:p>
        </p:txBody>
      </p:sp>
      <p:sp>
        <p:nvSpPr>
          <p:cNvPr id="8" name="タイトル 1">
            <a:extLst>
              <a:ext uri="{FF2B5EF4-FFF2-40B4-BE49-F238E27FC236}">
                <a16:creationId xmlns:a16="http://schemas.microsoft.com/office/drawing/2014/main" id="{527CCFC7-7971-49F1-8B6C-D8A055ED93D2}"/>
              </a:ext>
            </a:extLst>
          </p:cNvPr>
          <p:cNvSpPr txBox="1">
            <a:spLocks/>
          </p:cNvSpPr>
          <p:nvPr/>
        </p:nvSpPr>
        <p:spPr>
          <a:xfrm>
            <a:off x="591271" y="449669"/>
            <a:ext cx="7864975" cy="393926"/>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kumimoji="1" sz="3300" kern="1200">
                <a:solidFill>
                  <a:schemeClr val="tx1"/>
                </a:solidFill>
                <a:latin typeface="Roboto" panose="02000000000000000000" pitchFamily="2" charset="0"/>
                <a:ea typeface="Meiryo UI" panose="020B0604030504040204" pitchFamily="34" charset="-128"/>
                <a:cs typeface="+mj-cs"/>
              </a:defRPr>
            </a:lvl1p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Results | </a:t>
            </a:r>
            <a:r>
              <a:rPr lang="en-US" altLang="zh-CN" sz="2400" b="1" dirty="0">
                <a:latin typeface="Arial" panose="020B0604020202020204" pitchFamily="34" charset="0"/>
                <a:cs typeface="Arial" panose="020B0604020202020204" pitchFamily="34" charset="0"/>
              </a:rPr>
              <a:t>Effect of Opacity</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4167344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CD7A424-A87A-4D94-85DE-AC8C954C00B0}"/>
              </a:ext>
            </a:extLst>
          </p:cNvPr>
          <p:cNvPicPr>
            <a:picLocks noChangeAspect="1"/>
          </p:cNvPicPr>
          <p:nvPr/>
        </p:nvPicPr>
        <p:blipFill rotWithShape="1">
          <a:blip r:embed="rId3">
            <a:clrChange>
              <a:clrFrom>
                <a:srgbClr val="FFFFFF"/>
              </a:clrFrom>
              <a:clrTo>
                <a:srgbClr val="FFFFFF">
                  <a:alpha val="0"/>
                </a:srgbClr>
              </a:clrTo>
            </a:clrChange>
          </a:blip>
          <a:srcRect l="164" t="5307"/>
          <a:stretch/>
        </p:blipFill>
        <p:spPr>
          <a:xfrm>
            <a:off x="1461693" y="989273"/>
            <a:ext cx="5884173" cy="3514611"/>
          </a:xfrm>
          <a:prstGeom prst="rect">
            <a:avLst/>
          </a:prstGeom>
        </p:spPr>
      </p:pic>
      <p:sp>
        <p:nvSpPr>
          <p:cNvPr id="12" name="文本框 11">
            <a:extLst>
              <a:ext uri="{FF2B5EF4-FFF2-40B4-BE49-F238E27FC236}">
                <a16:creationId xmlns:a16="http://schemas.microsoft.com/office/drawing/2014/main" id="{3E5AB510-39E7-429A-AD97-E6A282DB52D2}"/>
              </a:ext>
            </a:extLst>
          </p:cNvPr>
          <p:cNvSpPr txBox="1"/>
          <p:nvPr/>
        </p:nvSpPr>
        <p:spPr>
          <a:xfrm>
            <a:off x="1410676" y="4548152"/>
            <a:ext cx="1883508" cy="461665"/>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(a) overall effects of </a:t>
            </a:r>
          </a:p>
          <a:p>
            <a:pPr algn="ctr"/>
            <a:r>
              <a:rPr lang="en-US" altLang="zh-CN" sz="1200" dirty="0">
                <a:latin typeface="Arial" panose="020B0604020202020204" pitchFamily="34" charset="0"/>
                <a:cs typeface="Arial" panose="020B0604020202020204" pitchFamily="34" charset="0"/>
              </a:rPr>
              <a:t>color and opacity</a:t>
            </a:r>
            <a:endParaRPr lang="zh-CN" altLang="en-US" sz="1200" dirty="0">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11077611-172B-4521-939B-D78F54361C05}"/>
              </a:ext>
            </a:extLst>
          </p:cNvPr>
          <p:cNvSpPr txBox="1"/>
          <p:nvPr/>
        </p:nvSpPr>
        <p:spPr>
          <a:xfrm>
            <a:off x="3192583" y="4548152"/>
            <a:ext cx="1660771" cy="461665"/>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(b) Effects of color when α = 0.3</a:t>
            </a:r>
            <a:endParaRPr lang="zh-CN" altLang="en-US" sz="1200"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30DEDD1A-EEF3-4FE7-9C47-DE0DA7202459}"/>
              </a:ext>
            </a:extLst>
          </p:cNvPr>
          <p:cNvSpPr txBox="1"/>
          <p:nvPr/>
        </p:nvSpPr>
        <p:spPr>
          <a:xfrm>
            <a:off x="4904154" y="4546959"/>
            <a:ext cx="130126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(c) α = 0.5</a:t>
            </a:r>
            <a:endParaRPr lang="zh-CN" altLang="en-US" sz="1200"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24C39611-7685-467C-A628-5628C2497883}"/>
              </a:ext>
            </a:extLst>
          </p:cNvPr>
          <p:cNvSpPr txBox="1"/>
          <p:nvPr/>
        </p:nvSpPr>
        <p:spPr>
          <a:xfrm>
            <a:off x="6166338" y="4546959"/>
            <a:ext cx="130126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(d) α = 0.7</a:t>
            </a:r>
            <a:endParaRPr lang="zh-CN" altLang="en-US" sz="1200" dirty="0">
              <a:latin typeface="Arial" panose="020B0604020202020204" pitchFamily="34" charset="0"/>
              <a:cs typeface="Arial" panose="020B0604020202020204" pitchFamily="34" charset="0"/>
            </a:endParaRPr>
          </a:p>
        </p:txBody>
      </p:sp>
      <p:sp>
        <p:nvSpPr>
          <p:cNvPr id="8" name="タイトル 1">
            <a:extLst>
              <a:ext uri="{FF2B5EF4-FFF2-40B4-BE49-F238E27FC236}">
                <a16:creationId xmlns:a16="http://schemas.microsoft.com/office/drawing/2014/main" id="{AF3E396D-352E-46AA-8274-D72D72B28712}"/>
              </a:ext>
            </a:extLst>
          </p:cNvPr>
          <p:cNvSpPr txBox="1">
            <a:spLocks/>
          </p:cNvSpPr>
          <p:nvPr/>
        </p:nvSpPr>
        <p:spPr>
          <a:xfrm>
            <a:off x="591271" y="449669"/>
            <a:ext cx="7864975" cy="393926"/>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kumimoji="1" sz="3300" kern="1200">
                <a:solidFill>
                  <a:schemeClr val="tx1"/>
                </a:solidFill>
                <a:latin typeface="Roboto" panose="02000000000000000000" pitchFamily="2" charset="0"/>
                <a:ea typeface="Meiryo UI" panose="020B0604030504040204" pitchFamily="34" charset="-128"/>
                <a:cs typeface="+mj-cs"/>
              </a:defRPr>
            </a:lvl1p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Results | </a:t>
            </a:r>
            <a:r>
              <a:rPr lang="en-US" altLang="zh-CN" sz="2400" b="1" dirty="0">
                <a:latin typeface="Arial" panose="020B0604020202020204" pitchFamily="34" charset="0"/>
                <a:cs typeface="Arial" panose="020B0604020202020204" pitchFamily="34" charset="0"/>
              </a:rPr>
              <a:t>Interaction Effect between Color &amp; Opacity</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986770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730B93-1CA2-42B5-9C81-C5F9B678B32E}"/>
              </a:ext>
            </a:extLst>
          </p:cNvPr>
          <p:cNvSpPr>
            <a:spLocks noGrp="1"/>
          </p:cNvSpPr>
          <p:nvPr>
            <p:ph idx="1"/>
          </p:nvPr>
        </p:nvSpPr>
        <p:spPr>
          <a:xfrm>
            <a:off x="718527" y="1357494"/>
            <a:ext cx="7886700" cy="3499767"/>
          </a:xfrm>
        </p:spPr>
        <p:txBody>
          <a:bodyPr/>
          <a:lstStyle/>
          <a:p>
            <a:pPr>
              <a:lnSpc>
                <a:spcPct val="200000"/>
              </a:lnSpc>
            </a:pPr>
            <a:r>
              <a:rPr lang="en-US" altLang="zh-CN" b="1" dirty="0">
                <a:solidFill>
                  <a:schemeClr val="bg1">
                    <a:lumMod val="65000"/>
                  </a:schemeClr>
                </a:solidFill>
                <a:latin typeface="Arial" panose="020B0604020202020204" pitchFamily="34" charset="0"/>
                <a:cs typeface="Arial" panose="020B0604020202020204" pitchFamily="34" charset="0"/>
              </a:rPr>
              <a:t>Inferential Analyses</a:t>
            </a:r>
          </a:p>
          <a:p>
            <a:pPr>
              <a:lnSpc>
                <a:spcPct val="200000"/>
              </a:lnSpc>
            </a:pPr>
            <a:r>
              <a:rPr lang="en-US" altLang="zh-CN" b="1" dirty="0">
                <a:latin typeface="Arial" panose="020B0604020202020204" pitchFamily="34" charset="0"/>
                <a:cs typeface="Arial" panose="020B0604020202020204" pitchFamily="34" charset="0"/>
              </a:rPr>
              <a:t>Predictive Analyses</a:t>
            </a:r>
          </a:p>
          <a:p>
            <a:pPr>
              <a:lnSpc>
                <a:spcPct val="200000"/>
              </a:lnSpc>
            </a:pPr>
            <a:r>
              <a:rPr lang="en-US" altLang="zh-CN" b="1" dirty="0">
                <a:solidFill>
                  <a:schemeClr val="bg1">
                    <a:lumMod val="65000"/>
                  </a:schemeClr>
                </a:solidFill>
                <a:latin typeface="Arial" panose="020B0604020202020204" pitchFamily="34" charset="0"/>
                <a:cs typeface="Arial" panose="020B0604020202020204" pitchFamily="34" charset="0"/>
              </a:rPr>
              <a:t>Exploratory Analyses</a:t>
            </a:r>
          </a:p>
        </p:txBody>
      </p:sp>
    </p:spTree>
    <p:extLst>
      <p:ext uri="{BB962C8B-B14F-4D97-AF65-F5344CB8AC3E}">
        <p14:creationId xmlns:p14="http://schemas.microsoft.com/office/powerpoint/2010/main" val="3205284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348CC1-809F-46ED-8625-4E809D41AA71}"/>
              </a:ext>
            </a:extLst>
          </p:cNvPr>
          <p:cNvSpPr/>
          <p:nvPr/>
        </p:nvSpPr>
        <p:spPr>
          <a:xfrm>
            <a:off x="2340000" y="1331170"/>
            <a:ext cx="1440000" cy="36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8" name="Rectangle 2">
            <a:extLst>
              <a:ext uri="{FF2B5EF4-FFF2-40B4-BE49-F238E27FC236}">
                <a16:creationId xmlns:a16="http://schemas.microsoft.com/office/drawing/2014/main" id="{A96ED8A0-27CB-4484-BA70-18CA1E4B12DC}"/>
              </a:ext>
            </a:extLst>
          </p:cNvPr>
          <p:cNvSpPr/>
          <p:nvPr/>
        </p:nvSpPr>
        <p:spPr>
          <a:xfrm>
            <a:off x="396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10" name="Rectangle 2">
            <a:extLst>
              <a:ext uri="{FF2B5EF4-FFF2-40B4-BE49-F238E27FC236}">
                <a16:creationId xmlns:a16="http://schemas.microsoft.com/office/drawing/2014/main" id="{9CC77C54-710C-45C1-861F-4744321A26AD}"/>
              </a:ext>
            </a:extLst>
          </p:cNvPr>
          <p:cNvSpPr/>
          <p:nvPr/>
        </p:nvSpPr>
        <p:spPr>
          <a:xfrm>
            <a:off x="558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12" name="Rectangle 2">
            <a:extLst>
              <a:ext uri="{FF2B5EF4-FFF2-40B4-BE49-F238E27FC236}">
                <a16:creationId xmlns:a16="http://schemas.microsoft.com/office/drawing/2014/main" id="{4FE42B5D-ABFE-41E8-9492-FD4E89BE23C2}"/>
              </a:ext>
            </a:extLst>
          </p:cNvPr>
          <p:cNvSpPr/>
          <p:nvPr/>
        </p:nvSpPr>
        <p:spPr>
          <a:xfrm>
            <a:off x="720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 name="文本框 1">
            <a:extLst>
              <a:ext uri="{FF2B5EF4-FFF2-40B4-BE49-F238E27FC236}">
                <a16:creationId xmlns:a16="http://schemas.microsoft.com/office/drawing/2014/main" id="{8F7F3E6B-26DA-4477-8F15-ACFA5E105254}"/>
              </a:ext>
            </a:extLst>
          </p:cNvPr>
          <p:cNvSpPr txBox="1"/>
          <p:nvPr/>
        </p:nvSpPr>
        <p:spPr>
          <a:xfrm>
            <a:off x="2670156" y="971170"/>
            <a:ext cx="779688"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Data</a:t>
            </a:r>
            <a:endParaRPr lang="zh-CN" altLang="en-US" b="1" dirty="0">
              <a:solidFill>
                <a:srgbClr val="D9D9D9"/>
              </a:solidFill>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4171767E-4F5F-4B1D-8DB5-85B590819890}"/>
              </a:ext>
            </a:extLst>
          </p:cNvPr>
          <p:cNvSpPr txBox="1"/>
          <p:nvPr/>
        </p:nvSpPr>
        <p:spPr>
          <a:xfrm>
            <a:off x="4067620" y="971170"/>
            <a:ext cx="1257301"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Features</a:t>
            </a:r>
            <a:endParaRPr lang="zh-CN" altLang="en-US" b="1" dirty="0">
              <a:solidFill>
                <a:srgbClr val="D9D9D9"/>
              </a:solidFill>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8BF07868-421B-4772-AF24-1E7A90A47BFE}"/>
              </a:ext>
            </a:extLst>
          </p:cNvPr>
          <p:cNvSpPr txBox="1"/>
          <p:nvPr/>
        </p:nvSpPr>
        <p:spPr>
          <a:xfrm>
            <a:off x="5450261" y="971170"/>
            <a:ext cx="1699477"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Architectures</a:t>
            </a:r>
            <a:endParaRPr lang="zh-CN" altLang="en-US" b="1" dirty="0">
              <a:solidFill>
                <a:srgbClr val="D9D9D9"/>
              </a:solidFill>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54E87587-4E07-4F44-B982-6BF2820A3BDA}"/>
              </a:ext>
            </a:extLst>
          </p:cNvPr>
          <p:cNvSpPr txBox="1"/>
          <p:nvPr/>
        </p:nvSpPr>
        <p:spPr>
          <a:xfrm>
            <a:off x="7291349" y="979838"/>
            <a:ext cx="1257301"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Metrics</a:t>
            </a:r>
            <a:endParaRPr lang="zh-CN" altLang="en-US" b="1" dirty="0">
              <a:solidFill>
                <a:srgbClr val="D9D9D9"/>
              </a:solidFill>
              <a:latin typeface="Arial" panose="020B0604020202020204" pitchFamily="34" charset="0"/>
              <a:cs typeface="Arial" panose="020B0604020202020204" pitchFamily="34" charset="0"/>
            </a:endParaRPr>
          </a:p>
        </p:txBody>
      </p:sp>
      <p:sp>
        <p:nvSpPr>
          <p:cNvPr id="22" name="Rectangle 2">
            <a:extLst>
              <a:ext uri="{FF2B5EF4-FFF2-40B4-BE49-F238E27FC236}">
                <a16:creationId xmlns:a16="http://schemas.microsoft.com/office/drawing/2014/main" id="{7C9C3912-C78D-4119-99E2-F65B25B3161C}"/>
              </a:ext>
            </a:extLst>
          </p:cNvPr>
          <p:cNvSpPr/>
          <p:nvPr/>
        </p:nvSpPr>
        <p:spPr>
          <a:xfrm>
            <a:off x="720000" y="1331170"/>
            <a:ext cx="1440000" cy="3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tx1"/>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3" name="文本框 22">
            <a:extLst>
              <a:ext uri="{FF2B5EF4-FFF2-40B4-BE49-F238E27FC236}">
                <a16:creationId xmlns:a16="http://schemas.microsoft.com/office/drawing/2014/main" id="{75F2020C-5A06-4A1C-9642-9C15C5DA2878}"/>
              </a:ext>
            </a:extLst>
          </p:cNvPr>
          <p:cNvSpPr txBox="1"/>
          <p:nvPr/>
        </p:nvSpPr>
        <p:spPr>
          <a:xfrm>
            <a:off x="811713" y="971170"/>
            <a:ext cx="1289844" cy="369332"/>
          </a:xfrm>
          <a:prstGeom prst="rect">
            <a:avLst/>
          </a:prstGeom>
          <a:noFill/>
        </p:spPr>
        <p:txBody>
          <a:bodyPr wrap="square" rtlCol="0">
            <a:spAutoFit/>
          </a:bodyPr>
          <a:lstStyle/>
          <a:p>
            <a:pPr algn="ctr"/>
            <a:r>
              <a:rPr lang="en-US" altLang="zh-CN" b="1" dirty="0">
                <a:latin typeface="Arial" panose="020B0604020202020204" pitchFamily="34" charset="0"/>
                <a:cs typeface="Arial" panose="020B0604020202020204" pitchFamily="34" charset="0"/>
              </a:rPr>
              <a:t>Overview</a:t>
            </a:r>
            <a:endParaRPr lang="zh-CN" altLang="en-US" b="1" dirty="0">
              <a:latin typeface="Arial" panose="020B0604020202020204" pitchFamily="34" charset="0"/>
              <a:cs typeface="Arial" panose="020B0604020202020204" pitchFamily="34" charset="0"/>
            </a:endParaRPr>
          </a:p>
        </p:txBody>
      </p:sp>
      <p:pic>
        <p:nvPicPr>
          <p:cNvPr id="6" name="图片 5">
            <a:extLst>
              <a:ext uri="{FF2B5EF4-FFF2-40B4-BE49-F238E27FC236}">
                <a16:creationId xmlns:a16="http://schemas.microsoft.com/office/drawing/2014/main" id="{CE80A47A-F4D5-4F54-B7FD-717C2C900EA3}"/>
              </a:ext>
            </a:extLst>
          </p:cNvPr>
          <p:cNvPicPr>
            <a:picLocks noChangeAspect="1"/>
          </p:cNvPicPr>
          <p:nvPr/>
        </p:nvPicPr>
        <p:blipFill>
          <a:blip r:embed="rId3"/>
          <a:stretch>
            <a:fillRect/>
          </a:stretch>
        </p:blipFill>
        <p:spPr>
          <a:xfrm>
            <a:off x="4060946" y="2463609"/>
            <a:ext cx="1270648" cy="648059"/>
          </a:xfrm>
          <a:prstGeom prst="rect">
            <a:avLst/>
          </a:prstGeom>
        </p:spPr>
      </p:pic>
      <p:sp>
        <p:nvSpPr>
          <p:cNvPr id="18" name="矩形: 圆角 17">
            <a:extLst>
              <a:ext uri="{FF2B5EF4-FFF2-40B4-BE49-F238E27FC236}">
                <a16:creationId xmlns:a16="http://schemas.microsoft.com/office/drawing/2014/main" id="{38DA7ECA-71A8-41ED-B9BF-758DBB1C88AF}"/>
              </a:ext>
            </a:extLst>
          </p:cNvPr>
          <p:cNvSpPr/>
          <p:nvPr/>
        </p:nvSpPr>
        <p:spPr>
          <a:xfrm>
            <a:off x="1377915" y="1854745"/>
            <a:ext cx="1787313" cy="39392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pPr algn="ctr"/>
            <a:r>
              <a:rPr lang="en-US" altLang="zh-CN" sz="1600" dirty="0">
                <a:solidFill>
                  <a:schemeClr val="tx1"/>
                </a:solidFill>
                <a:latin typeface="Arial" panose="020B0604020202020204" pitchFamily="34" charset="0"/>
                <a:cs typeface="Arial" panose="020B0604020202020204" pitchFamily="34" charset="0"/>
              </a:rPr>
              <a:t>Hue Front</a:t>
            </a:r>
            <a:endParaRPr lang="zh-CN" altLang="en-US" sz="1600" dirty="0">
              <a:solidFill>
                <a:schemeClr val="tx1"/>
              </a:solidFill>
              <a:latin typeface="Arial" panose="020B0604020202020204" pitchFamily="34" charset="0"/>
              <a:cs typeface="Arial" panose="020B0604020202020204" pitchFamily="34" charset="0"/>
            </a:endParaRPr>
          </a:p>
        </p:txBody>
      </p:sp>
      <p:sp>
        <p:nvSpPr>
          <p:cNvPr id="19" name="矩形: 圆角 18">
            <a:extLst>
              <a:ext uri="{FF2B5EF4-FFF2-40B4-BE49-F238E27FC236}">
                <a16:creationId xmlns:a16="http://schemas.microsoft.com/office/drawing/2014/main" id="{F5D6FD76-A599-400D-8172-0F5553B1A0B1}"/>
              </a:ext>
            </a:extLst>
          </p:cNvPr>
          <p:cNvSpPr/>
          <p:nvPr/>
        </p:nvSpPr>
        <p:spPr>
          <a:xfrm>
            <a:off x="1377915" y="3072473"/>
            <a:ext cx="1787313" cy="39392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pPr algn="ctr"/>
            <a:r>
              <a:rPr lang="en-US" altLang="zh-CN" sz="1600" dirty="0">
                <a:solidFill>
                  <a:schemeClr val="tx1"/>
                </a:solidFill>
                <a:latin typeface="Arial" panose="020B0604020202020204" pitchFamily="34" charset="0"/>
                <a:cs typeface="Arial" panose="020B0604020202020204" pitchFamily="34" charset="0"/>
              </a:rPr>
              <a:t>Opacity Front</a:t>
            </a:r>
            <a:endParaRPr lang="zh-CN" altLang="en-US" sz="1600" dirty="0">
              <a:solidFill>
                <a:schemeClr val="tx1"/>
              </a:solidFill>
              <a:latin typeface="Arial" panose="020B0604020202020204" pitchFamily="34" charset="0"/>
              <a:cs typeface="Arial" panose="020B0604020202020204" pitchFamily="34" charset="0"/>
            </a:endParaRPr>
          </a:p>
        </p:txBody>
      </p:sp>
      <p:sp>
        <p:nvSpPr>
          <p:cNvPr id="20" name="矩形: 圆角 19">
            <a:extLst>
              <a:ext uri="{FF2B5EF4-FFF2-40B4-BE49-F238E27FC236}">
                <a16:creationId xmlns:a16="http://schemas.microsoft.com/office/drawing/2014/main" id="{420CFC8C-8F1D-4660-8CF6-D903BC59B377}"/>
              </a:ext>
            </a:extLst>
          </p:cNvPr>
          <p:cNvSpPr/>
          <p:nvPr/>
        </p:nvSpPr>
        <p:spPr>
          <a:xfrm>
            <a:off x="1377915" y="2463609"/>
            <a:ext cx="1787313" cy="39392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pPr algn="ctr"/>
            <a:r>
              <a:rPr lang="en-US" altLang="zh-CN" sz="1600" dirty="0">
                <a:solidFill>
                  <a:schemeClr val="tx1"/>
                </a:solidFill>
                <a:latin typeface="Arial" panose="020B0604020202020204" pitchFamily="34" charset="0"/>
                <a:cs typeface="Arial" panose="020B0604020202020204" pitchFamily="34" charset="0"/>
              </a:rPr>
              <a:t>Hue Back</a:t>
            </a:r>
            <a:endParaRPr lang="zh-CN" altLang="en-US" sz="1600" dirty="0">
              <a:solidFill>
                <a:schemeClr val="tx1"/>
              </a:solidFill>
              <a:latin typeface="Arial" panose="020B0604020202020204" pitchFamily="34" charset="0"/>
              <a:cs typeface="Arial" panose="020B0604020202020204" pitchFamily="34" charset="0"/>
            </a:endParaRPr>
          </a:p>
        </p:txBody>
      </p:sp>
      <p:sp>
        <p:nvSpPr>
          <p:cNvPr id="21" name="矩形: 圆角 20">
            <a:extLst>
              <a:ext uri="{FF2B5EF4-FFF2-40B4-BE49-F238E27FC236}">
                <a16:creationId xmlns:a16="http://schemas.microsoft.com/office/drawing/2014/main" id="{4A09AD6D-7C72-484E-9187-D1C7EA0285A9}"/>
              </a:ext>
            </a:extLst>
          </p:cNvPr>
          <p:cNvSpPr/>
          <p:nvPr/>
        </p:nvSpPr>
        <p:spPr>
          <a:xfrm>
            <a:off x="1377915" y="3681337"/>
            <a:ext cx="1787313" cy="39392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pPr algn="ctr"/>
            <a:r>
              <a:rPr lang="en-US" altLang="zh-CN" sz="1600" dirty="0">
                <a:solidFill>
                  <a:schemeClr val="tx1"/>
                </a:solidFill>
                <a:latin typeface="Arial" panose="020B0604020202020204" pitchFamily="34" charset="0"/>
                <a:cs typeface="Arial" panose="020B0604020202020204" pitchFamily="34" charset="0"/>
              </a:rPr>
              <a:t>Opacity Back</a:t>
            </a:r>
            <a:endParaRPr lang="zh-CN" altLang="en-US" sz="1600" dirty="0">
              <a:solidFill>
                <a:schemeClr val="tx1"/>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202D7F46-2675-479F-80E7-051DD1FEB847}"/>
              </a:ext>
            </a:extLst>
          </p:cNvPr>
          <p:cNvSpPr txBox="1"/>
          <p:nvPr/>
        </p:nvSpPr>
        <p:spPr>
          <a:xfrm>
            <a:off x="1377915" y="4028591"/>
            <a:ext cx="1750643" cy="523220"/>
          </a:xfrm>
          <a:prstGeom prst="rect">
            <a:avLst/>
          </a:prstGeom>
          <a:noFill/>
        </p:spPr>
        <p:txBody>
          <a:bodyPr wrap="square" rtlCol="0">
            <a:spAutoFit/>
          </a:bodyPr>
          <a:lstStyle/>
          <a:p>
            <a:pPr algn="ctr"/>
            <a:r>
              <a:rPr lang="en-US" altLang="zh-CN" sz="2800" b="1" dirty="0">
                <a:solidFill>
                  <a:schemeClr val="bg1">
                    <a:lumMod val="50000"/>
                  </a:schemeClr>
                </a:solidFill>
                <a:latin typeface="Arial" panose="020B0604020202020204" pitchFamily="34" charset="0"/>
                <a:cs typeface="Arial" panose="020B0604020202020204" pitchFamily="34" charset="0"/>
              </a:rPr>
              <a:t>.</a:t>
            </a:r>
            <a:r>
              <a:rPr lang="zh-CN" altLang="en-US" sz="2800" b="1" dirty="0">
                <a:solidFill>
                  <a:schemeClr val="bg1">
                    <a:lumMod val="50000"/>
                  </a:schemeClr>
                </a:solidFill>
                <a:latin typeface="Arial" panose="020B0604020202020204" pitchFamily="34" charset="0"/>
                <a:cs typeface="Arial" panose="020B0604020202020204" pitchFamily="34" charset="0"/>
              </a:rPr>
              <a:t> </a:t>
            </a:r>
            <a:r>
              <a:rPr lang="en-US" altLang="zh-CN" sz="2800" b="1" dirty="0">
                <a:solidFill>
                  <a:schemeClr val="bg1">
                    <a:lumMod val="50000"/>
                  </a:schemeClr>
                </a:solidFill>
                <a:latin typeface="Arial" panose="020B0604020202020204" pitchFamily="34" charset="0"/>
                <a:cs typeface="Arial" panose="020B0604020202020204" pitchFamily="34" charset="0"/>
              </a:rPr>
              <a:t>.</a:t>
            </a:r>
            <a:r>
              <a:rPr lang="zh-CN" altLang="en-US" sz="2800" b="1" dirty="0">
                <a:solidFill>
                  <a:schemeClr val="bg1">
                    <a:lumMod val="50000"/>
                  </a:schemeClr>
                </a:solidFill>
                <a:latin typeface="Arial" panose="020B0604020202020204" pitchFamily="34" charset="0"/>
                <a:cs typeface="Arial" panose="020B0604020202020204" pitchFamily="34" charset="0"/>
              </a:rPr>
              <a:t> </a:t>
            </a:r>
            <a:r>
              <a:rPr lang="en-US" altLang="zh-CN" sz="2800" b="1" dirty="0">
                <a:solidFill>
                  <a:schemeClr val="bg1">
                    <a:lumMod val="50000"/>
                  </a:schemeClr>
                </a:solidFill>
                <a:latin typeface="Arial" panose="020B0604020202020204" pitchFamily="34" charset="0"/>
                <a:cs typeface="Arial" panose="020B0604020202020204" pitchFamily="34" charset="0"/>
              </a:rPr>
              <a:t>.</a:t>
            </a:r>
            <a:endParaRPr lang="zh-CN" altLang="en-US" sz="2800" b="1" dirty="0">
              <a:solidFill>
                <a:schemeClr val="bg1">
                  <a:lumMod val="50000"/>
                </a:schemeClr>
              </a:solidFill>
              <a:latin typeface="Arial" panose="020B0604020202020204" pitchFamily="34" charset="0"/>
              <a:cs typeface="Arial" panose="020B0604020202020204" pitchFamily="34" charset="0"/>
            </a:endParaRPr>
          </a:p>
        </p:txBody>
      </p:sp>
      <p:cxnSp>
        <p:nvCxnSpPr>
          <p:cNvPr id="7" name="直接箭头连接符 6">
            <a:extLst>
              <a:ext uri="{FF2B5EF4-FFF2-40B4-BE49-F238E27FC236}">
                <a16:creationId xmlns:a16="http://schemas.microsoft.com/office/drawing/2014/main" id="{86B6BDED-DE20-4AC3-9D2B-2BA11496E7BD}"/>
              </a:ext>
            </a:extLst>
          </p:cNvPr>
          <p:cNvCxnSpPr/>
          <p:nvPr/>
        </p:nvCxnSpPr>
        <p:spPr>
          <a:xfrm>
            <a:off x="3646052" y="3204000"/>
            <a:ext cx="2606431" cy="0"/>
          </a:xfrm>
          <a:prstGeom prst="straightConnector1">
            <a:avLst/>
          </a:prstGeom>
          <a:ln w="254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8E6503D1-C81B-4254-90D7-4204BB876012}"/>
              </a:ext>
            </a:extLst>
          </p:cNvPr>
          <p:cNvSpPr txBox="1"/>
          <p:nvPr/>
        </p:nvSpPr>
        <p:spPr>
          <a:xfrm>
            <a:off x="3646052" y="3331575"/>
            <a:ext cx="2254738" cy="369332"/>
          </a:xfrm>
          <a:prstGeom prst="rect">
            <a:avLst/>
          </a:prstGeom>
          <a:noFill/>
        </p:spPr>
        <p:txBody>
          <a:bodyPr wrap="square" rtlCol="0">
            <a:spAutoFit/>
          </a:bodyPr>
          <a:lstStyle/>
          <a:p>
            <a:pPr algn="ctr"/>
            <a:r>
              <a:rPr lang="en-US" altLang="zh-CN" b="1" dirty="0">
                <a:latin typeface="Arial" panose="020B0604020202020204" pitchFamily="34" charset="0"/>
                <a:cs typeface="Arial" panose="020B0604020202020204" pitchFamily="34" charset="0"/>
              </a:rPr>
              <a:t>Predictive Model</a:t>
            </a:r>
            <a:endParaRPr lang="zh-CN" altLang="en-US" b="1" dirty="0">
              <a:latin typeface="Arial" panose="020B0604020202020204" pitchFamily="34" charset="0"/>
              <a:cs typeface="Arial" panose="020B0604020202020204" pitchFamily="34" charset="0"/>
            </a:endParaRPr>
          </a:p>
        </p:txBody>
      </p:sp>
      <p:sp>
        <p:nvSpPr>
          <p:cNvPr id="11" name="右大括号 10">
            <a:extLst>
              <a:ext uri="{FF2B5EF4-FFF2-40B4-BE49-F238E27FC236}">
                <a16:creationId xmlns:a16="http://schemas.microsoft.com/office/drawing/2014/main" id="{8E7C3C47-7B23-41FA-8875-52A1C3B6BA64}"/>
              </a:ext>
            </a:extLst>
          </p:cNvPr>
          <p:cNvSpPr/>
          <p:nvPr/>
        </p:nvSpPr>
        <p:spPr>
          <a:xfrm>
            <a:off x="3309815" y="1969477"/>
            <a:ext cx="265723" cy="2468828"/>
          </a:xfrm>
          <a:prstGeom prst="rightBrace">
            <a:avLst/>
          </a:prstGeom>
          <a:ln w="25400">
            <a:solidFill>
              <a:schemeClr val="bg1">
                <a:lumMod val="6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B388574F-BDC9-4696-B67F-59FC005AEBE5}"/>
              </a:ext>
            </a:extLst>
          </p:cNvPr>
          <p:cNvSpPr/>
          <p:nvPr/>
        </p:nvSpPr>
        <p:spPr>
          <a:xfrm>
            <a:off x="6433786" y="3006928"/>
            <a:ext cx="1399574" cy="39392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pPr algn="ctr"/>
            <a:r>
              <a:rPr lang="en-US" altLang="zh-CN" sz="1600" dirty="0">
                <a:solidFill>
                  <a:schemeClr val="tx1"/>
                </a:solidFill>
                <a:latin typeface="Arial" panose="020B0604020202020204" pitchFamily="34" charset="0"/>
                <a:cs typeface="Arial" panose="020B0604020202020204" pitchFamily="34" charset="0"/>
              </a:rPr>
              <a:t>0 / 1</a:t>
            </a:r>
            <a:endParaRPr lang="zh-CN" alt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1701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val 2">
            <a:extLst>
              <a:ext uri="{FF2B5EF4-FFF2-40B4-BE49-F238E27FC236}">
                <a16:creationId xmlns:a16="http://schemas.microsoft.com/office/drawing/2014/main" id="{1443E548-B9D3-4D96-B0BB-4780B653E7C1}"/>
              </a:ext>
            </a:extLst>
          </p:cNvPr>
          <p:cNvSpPr/>
          <p:nvPr/>
        </p:nvSpPr>
        <p:spPr>
          <a:xfrm>
            <a:off x="3439541" y="1998317"/>
            <a:ext cx="2061265" cy="2061265"/>
          </a:xfrm>
          <a:prstGeom prst="ellipse">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vi-VN" dirty="0"/>
          </a:p>
        </p:txBody>
      </p:sp>
      <p:sp>
        <p:nvSpPr>
          <p:cNvPr id="18" name="Pie 3">
            <a:extLst>
              <a:ext uri="{FF2B5EF4-FFF2-40B4-BE49-F238E27FC236}">
                <a16:creationId xmlns:a16="http://schemas.microsoft.com/office/drawing/2014/main" id="{9F6849FA-18D7-41B0-8019-A35441BDA4BF}"/>
              </a:ext>
            </a:extLst>
          </p:cNvPr>
          <p:cNvSpPr/>
          <p:nvPr/>
        </p:nvSpPr>
        <p:spPr>
          <a:xfrm>
            <a:off x="3448023" y="2002899"/>
            <a:ext cx="2052098" cy="2052098"/>
          </a:xfrm>
          <a:prstGeom prst="pie">
            <a:avLst>
              <a:gd name="adj1" fmla="val 26535"/>
              <a:gd name="adj2" fmla="val 16184461"/>
            </a:avLst>
          </a:prstGeom>
          <a:solidFill>
            <a:srgbClr val="FAD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en-US" dirty="0">
              <a:solidFill>
                <a:schemeClr val="tx1"/>
              </a:solidFill>
            </a:endParaRPr>
          </a:p>
        </p:txBody>
      </p:sp>
      <p:sp>
        <p:nvSpPr>
          <p:cNvPr id="4" name="文本框 3">
            <a:extLst>
              <a:ext uri="{FF2B5EF4-FFF2-40B4-BE49-F238E27FC236}">
                <a16:creationId xmlns:a16="http://schemas.microsoft.com/office/drawing/2014/main" id="{335E1214-E81D-4DEB-90C1-0E539A209ED0}"/>
              </a:ext>
            </a:extLst>
          </p:cNvPr>
          <p:cNvSpPr txBox="1"/>
          <p:nvPr/>
        </p:nvSpPr>
        <p:spPr>
          <a:xfrm>
            <a:off x="1456635" y="3587788"/>
            <a:ext cx="2061265" cy="646331"/>
          </a:xfrm>
          <a:prstGeom prst="rect">
            <a:avLst/>
          </a:prstGeom>
          <a:noFill/>
        </p:spPr>
        <p:txBody>
          <a:bodyPr wrap="square" rtlCol="0">
            <a:spAutoFit/>
          </a:bodyPr>
          <a:lstStyle/>
          <a:p>
            <a:pPr algn="ctr"/>
            <a:r>
              <a:rPr lang="en-US" altLang="zh-CN" dirty="0">
                <a:solidFill>
                  <a:srgbClr val="EA6D93"/>
                </a:solidFill>
                <a:latin typeface="Arial" panose="020B0604020202020204" pitchFamily="34" charset="0"/>
                <a:cs typeface="Arial" panose="020B0604020202020204" pitchFamily="34" charset="0"/>
              </a:rPr>
              <a:t>14768</a:t>
            </a:r>
          </a:p>
          <a:p>
            <a:pPr algn="ctr"/>
            <a:r>
              <a:rPr lang="en-US" altLang="zh-CN" dirty="0">
                <a:solidFill>
                  <a:srgbClr val="EA6D93"/>
                </a:solidFill>
                <a:latin typeface="Arial" panose="020B0604020202020204" pitchFamily="34" charset="0"/>
                <a:cs typeface="Arial" panose="020B0604020202020204" pitchFamily="34" charset="0"/>
              </a:rPr>
              <a:t>Correct answer </a:t>
            </a:r>
            <a:endParaRPr lang="zh-CN" altLang="en-US" dirty="0">
              <a:solidFill>
                <a:srgbClr val="EA6D93"/>
              </a:solidFill>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AD590864-CCDB-4AF8-803A-DD31A3D054A7}"/>
              </a:ext>
            </a:extLst>
          </p:cNvPr>
          <p:cNvSpPr txBox="1"/>
          <p:nvPr/>
        </p:nvSpPr>
        <p:spPr>
          <a:xfrm>
            <a:off x="5484700" y="2343150"/>
            <a:ext cx="2052098" cy="646331"/>
          </a:xfrm>
          <a:prstGeom prst="rect">
            <a:avLst/>
          </a:prstGeom>
          <a:noFill/>
        </p:spPr>
        <p:txBody>
          <a:bodyPr wrap="square" rtlCol="0">
            <a:spAutoFit/>
          </a:bodyPr>
          <a:lstStyle/>
          <a:p>
            <a:pPr algn="ctr"/>
            <a:r>
              <a:rPr lang="en-US" altLang="zh-CN" dirty="0">
                <a:solidFill>
                  <a:schemeClr val="bg2">
                    <a:lumMod val="75000"/>
                  </a:schemeClr>
                </a:solidFill>
                <a:latin typeface="Arial" panose="020B0604020202020204" pitchFamily="34" charset="0"/>
                <a:cs typeface="Arial" panose="020B0604020202020204" pitchFamily="34" charset="0"/>
              </a:rPr>
              <a:t>4862</a:t>
            </a:r>
          </a:p>
          <a:p>
            <a:pPr algn="ctr"/>
            <a:r>
              <a:rPr lang="en-US" altLang="zh-CN" dirty="0">
                <a:solidFill>
                  <a:schemeClr val="bg2">
                    <a:lumMod val="75000"/>
                  </a:schemeClr>
                </a:solidFill>
                <a:latin typeface="Arial" panose="020B0604020202020204" pitchFamily="34" charset="0"/>
                <a:cs typeface="Arial" panose="020B0604020202020204" pitchFamily="34" charset="0"/>
              </a:rPr>
              <a:t>Incorrect answer</a:t>
            </a:r>
          </a:p>
        </p:txBody>
      </p:sp>
      <p:cxnSp>
        <p:nvCxnSpPr>
          <p:cNvPr id="21" name="直接连接符 20">
            <a:extLst>
              <a:ext uri="{FF2B5EF4-FFF2-40B4-BE49-F238E27FC236}">
                <a16:creationId xmlns:a16="http://schemas.microsoft.com/office/drawing/2014/main" id="{D8F448DD-335C-4F90-BE0B-BDB71E5D9811}"/>
              </a:ext>
            </a:extLst>
          </p:cNvPr>
          <p:cNvCxnSpPr>
            <a:cxnSpLocks/>
          </p:cNvCxnSpPr>
          <p:nvPr/>
        </p:nvCxnSpPr>
        <p:spPr>
          <a:xfrm flipV="1">
            <a:off x="3065463" y="3368622"/>
            <a:ext cx="1133362" cy="341886"/>
          </a:xfrm>
          <a:prstGeom prst="line">
            <a:avLst/>
          </a:prstGeom>
          <a:ln>
            <a:solidFill>
              <a:srgbClr val="EA6D93"/>
            </a:solidFill>
            <a:tailEnd type="none"/>
          </a:ln>
        </p:spPr>
        <p:style>
          <a:lnRef idx="2">
            <a:schemeClr val="accent1"/>
          </a:lnRef>
          <a:fillRef idx="0">
            <a:schemeClr val="accent1"/>
          </a:fillRef>
          <a:effectRef idx="1">
            <a:schemeClr val="accent1"/>
          </a:effectRef>
          <a:fontRef idx="minor">
            <a:schemeClr val="tx1"/>
          </a:fontRef>
        </p:style>
      </p:cxnSp>
      <p:cxnSp>
        <p:nvCxnSpPr>
          <p:cNvPr id="25" name="直接连接符 24">
            <a:extLst>
              <a:ext uri="{FF2B5EF4-FFF2-40B4-BE49-F238E27FC236}">
                <a16:creationId xmlns:a16="http://schemas.microsoft.com/office/drawing/2014/main" id="{9464CC90-4D0A-43E7-861A-828751F0E121}"/>
              </a:ext>
            </a:extLst>
          </p:cNvPr>
          <p:cNvCxnSpPr/>
          <p:nvPr/>
        </p:nvCxnSpPr>
        <p:spPr>
          <a:xfrm>
            <a:off x="5127625" y="2486025"/>
            <a:ext cx="917575" cy="85725"/>
          </a:xfrm>
          <a:prstGeom prst="line">
            <a:avLst/>
          </a:prstGeom>
          <a:ln>
            <a:solidFill>
              <a:schemeClr val="bg1">
                <a:lumMod val="75000"/>
              </a:schemeClr>
            </a:solidFill>
            <a:headEnd type="none"/>
          </a:ln>
        </p:spPr>
        <p:style>
          <a:lnRef idx="2">
            <a:schemeClr val="accent1"/>
          </a:lnRef>
          <a:fillRef idx="0">
            <a:schemeClr val="accent1"/>
          </a:fillRef>
          <a:effectRef idx="1">
            <a:schemeClr val="accent1"/>
          </a:effectRef>
          <a:fontRef idx="minor">
            <a:schemeClr val="tx1"/>
          </a:fontRef>
        </p:style>
      </p:cxnSp>
      <p:sp>
        <p:nvSpPr>
          <p:cNvPr id="34" name="Rectangle 2">
            <a:extLst>
              <a:ext uri="{FF2B5EF4-FFF2-40B4-BE49-F238E27FC236}">
                <a16:creationId xmlns:a16="http://schemas.microsoft.com/office/drawing/2014/main" id="{EB0635FB-961D-4AED-B04B-19155DAFC01A}"/>
              </a:ext>
            </a:extLst>
          </p:cNvPr>
          <p:cNvSpPr/>
          <p:nvPr/>
        </p:nvSpPr>
        <p:spPr>
          <a:xfrm>
            <a:off x="2340000" y="1331170"/>
            <a:ext cx="1440000" cy="3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35" name="Rectangle 2">
            <a:extLst>
              <a:ext uri="{FF2B5EF4-FFF2-40B4-BE49-F238E27FC236}">
                <a16:creationId xmlns:a16="http://schemas.microsoft.com/office/drawing/2014/main" id="{4AC917B9-D8F0-4061-97E6-EF888EF9429F}"/>
              </a:ext>
            </a:extLst>
          </p:cNvPr>
          <p:cNvSpPr/>
          <p:nvPr/>
        </p:nvSpPr>
        <p:spPr>
          <a:xfrm>
            <a:off x="396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36" name="Rectangle 2">
            <a:extLst>
              <a:ext uri="{FF2B5EF4-FFF2-40B4-BE49-F238E27FC236}">
                <a16:creationId xmlns:a16="http://schemas.microsoft.com/office/drawing/2014/main" id="{DA643469-10D1-4C56-9DE7-7F71342A54FE}"/>
              </a:ext>
            </a:extLst>
          </p:cNvPr>
          <p:cNvSpPr/>
          <p:nvPr/>
        </p:nvSpPr>
        <p:spPr>
          <a:xfrm>
            <a:off x="558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37" name="Rectangle 2">
            <a:extLst>
              <a:ext uri="{FF2B5EF4-FFF2-40B4-BE49-F238E27FC236}">
                <a16:creationId xmlns:a16="http://schemas.microsoft.com/office/drawing/2014/main" id="{F7BC5F70-3F10-450F-84DA-B7DCBD015A7A}"/>
              </a:ext>
            </a:extLst>
          </p:cNvPr>
          <p:cNvSpPr/>
          <p:nvPr/>
        </p:nvSpPr>
        <p:spPr>
          <a:xfrm>
            <a:off x="720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38" name="文本框 37">
            <a:extLst>
              <a:ext uri="{FF2B5EF4-FFF2-40B4-BE49-F238E27FC236}">
                <a16:creationId xmlns:a16="http://schemas.microsoft.com/office/drawing/2014/main" id="{F6E91495-EE7B-40D0-AF4B-365FA5D095C6}"/>
              </a:ext>
            </a:extLst>
          </p:cNvPr>
          <p:cNvSpPr txBox="1"/>
          <p:nvPr/>
        </p:nvSpPr>
        <p:spPr>
          <a:xfrm>
            <a:off x="2670156" y="971170"/>
            <a:ext cx="779688" cy="369332"/>
          </a:xfrm>
          <a:prstGeom prst="rect">
            <a:avLst/>
          </a:prstGeom>
          <a:noFill/>
        </p:spPr>
        <p:txBody>
          <a:bodyPr wrap="square" rtlCol="0">
            <a:spAutoFit/>
          </a:bodyPr>
          <a:lstStyle/>
          <a:p>
            <a:pPr algn="ctr"/>
            <a:r>
              <a:rPr lang="en-US" altLang="zh-CN" b="1" dirty="0">
                <a:latin typeface="Arial" panose="020B0604020202020204" pitchFamily="34" charset="0"/>
                <a:cs typeface="Arial" panose="020B0604020202020204" pitchFamily="34" charset="0"/>
              </a:rPr>
              <a:t>Data</a:t>
            </a:r>
            <a:endParaRPr lang="zh-CN" altLang="en-US" b="1" dirty="0">
              <a:latin typeface="Arial" panose="020B0604020202020204" pitchFamily="34" charset="0"/>
              <a:cs typeface="Arial" panose="020B0604020202020204" pitchFamily="34" charset="0"/>
            </a:endParaRPr>
          </a:p>
        </p:txBody>
      </p:sp>
      <p:sp>
        <p:nvSpPr>
          <p:cNvPr id="39" name="文本框 38">
            <a:extLst>
              <a:ext uri="{FF2B5EF4-FFF2-40B4-BE49-F238E27FC236}">
                <a16:creationId xmlns:a16="http://schemas.microsoft.com/office/drawing/2014/main" id="{C5DFB448-4760-48DC-9857-4B38A27E513B}"/>
              </a:ext>
            </a:extLst>
          </p:cNvPr>
          <p:cNvSpPr txBox="1"/>
          <p:nvPr/>
        </p:nvSpPr>
        <p:spPr>
          <a:xfrm>
            <a:off x="4067620" y="971170"/>
            <a:ext cx="1257301"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Features</a:t>
            </a:r>
            <a:endParaRPr lang="zh-CN" altLang="en-US" b="1" dirty="0">
              <a:solidFill>
                <a:srgbClr val="D9D9D9"/>
              </a:solidFill>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A3D43681-A363-40A1-B3E1-7E236BF7282D}"/>
              </a:ext>
            </a:extLst>
          </p:cNvPr>
          <p:cNvSpPr txBox="1"/>
          <p:nvPr/>
        </p:nvSpPr>
        <p:spPr>
          <a:xfrm>
            <a:off x="5450261" y="971170"/>
            <a:ext cx="1699477"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Architectures</a:t>
            </a:r>
            <a:endParaRPr lang="zh-CN" altLang="en-US" b="1" dirty="0">
              <a:solidFill>
                <a:srgbClr val="D9D9D9"/>
              </a:solidFill>
              <a:latin typeface="Arial" panose="020B0604020202020204" pitchFamily="34" charset="0"/>
              <a:cs typeface="Arial" panose="020B0604020202020204" pitchFamily="34" charset="0"/>
            </a:endParaRPr>
          </a:p>
        </p:txBody>
      </p:sp>
      <p:sp>
        <p:nvSpPr>
          <p:cNvPr id="41" name="文本框 40">
            <a:extLst>
              <a:ext uri="{FF2B5EF4-FFF2-40B4-BE49-F238E27FC236}">
                <a16:creationId xmlns:a16="http://schemas.microsoft.com/office/drawing/2014/main" id="{DB11A0FF-BD61-46B1-80A7-1ED4CC101B81}"/>
              </a:ext>
            </a:extLst>
          </p:cNvPr>
          <p:cNvSpPr txBox="1"/>
          <p:nvPr/>
        </p:nvSpPr>
        <p:spPr>
          <a:xfrm>
            <a:off x="7291349" y="979838"/>
            <a:ext cx="1257301"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Metrics</a:t>
            </a:r>
            <a:endParaRPr lang="zh-CN" altLang="en-US" b="1" dirty="0">
              <a:solidFill>
                <a:srgbClr val="D9D9D9"/>
              </a:solidFill>
              <a:latin typeface="Arial" panose="020B0604020202020204" pitchFamily="34" charset="0"/>
              <a:cs typeface="Arial" panose="020B0604020202020204" pitchFamily="34" charset="0"/>
            </a:endParaRPr>
          </a:p>
        </p:txBody>
      </p:sp>
      <p:sp>
        <p:nvSpPr>
          <p:cNvPr id="43" name="Rectangle 2">
            <a:extLst>
              <a:ext uri="{FF2B5EF4-FFF2-40B4-BE49-F238E27FC236}">
                <a16:creationId xmlns:a16="http://schemas.microsoft.com/office/drawing/2014/main" id="{8180D4BA-F24A-48AE-BCF2-8708B3AC02ED}"/>
              </a:ext>
            </a:extLst>
          </p:cNvPr>
          <p:cNvSpPr/>
          <p:nvPr/>
        </p:nvSpPr>
        <p:spPr>
          <a:xfrm>
            <a:off x="720000" y="1331170"/>
            <a:ext cx="1440000" cy="36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44" name="文本框 43">
            <a:extLst>
              <a:ext uri="{FF2B5EF4-FFF2-40B4-BE49-F238E27FC236}">
                <a16:creationId xmlns:a16="http://schemas.microsoft.com/office/drawing/2014/main" id="{31A1FBBC-2072-4912-9629-E555725708F6}"/>
              </a:ext>
            </a:extLst>
          </p:cNvPr>
          <p:cNvSpPr txBox="1"/>
          <p:nvPr/>
        </p:nvSpPr>
        <p:spPr>
          <a:xfrm>
            <a:off x="811713" y="971170"/>
            <a:ext cx="1289844"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Overview</a:t>
            </a:r>
            <a:endParaRPr lang="zh-CN" altLang="en-US" b="1" dirty="0">
              <a:solidFill>
                <a:srgbClr val="D9D9D9"/>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1879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a:extLst>
              <a:ext uri="{FF2B5EF4-FFF2-40B4-BE49-F238E27FC236}">
                <a16:creationId xmlns:a16="http://schemas.microsoft.com/office/drawing/2014/main" id="{CC13AC99-F242-4B5D-84FE-FBC9A2DE0428}"/>
              </a:ext>
            </a:extLst>
          </p:cNvPr>
          <p:cNvSpPr/>
          <p:nvPr/>
        </p:nvSpPr>
        <p:spPr>
          <a:xfrm>
            <a:off x="2340000" y="1331170"/>
            <a:ext cx="1440000" cy="36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19" name="Rectangle 2">
            <a:extLst>
              <a:ext uri="{FF2B5EF4-FFF2-40B4-BE49-F238E27FC236}">
                <a16:creationId xmlns:a16="http://schemas.microsoft.com/office/drawing/2014/main" id="{75FE5207-5473-44A8-9D05-C5FBA48E8B81}"/>
              </a:ext>
            </a:extLst>
          </p:cNvPr>
          <p:cNvSpPr/>
          <p:nvPr/>
        </p:nvSpPr>
        <p:spPr>
          <a:xfrm>
            <a:off x="3960000" y="1331170"/>
            <a:ext cx="1440000" cy="3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0" name="Rectangle 2">
            <a:extLst>
              <a:ext uri="{FF2B5EF4-FFF2-40B4-BE49-F238E27FC236}">
                <a16:creationId xmlns:a16="http://schemas.microsoft.com/office/drawing/2014/main" id="{A2FFBBFE-C414-4BC0-84BC-F6CAD38A12E7}"/>
              </a:ext>
            </a:extLst>
          </p:cNvPr>
          <p:cNvSpPr/>
          <p:nvPr/>
        </p:nvSpPr>
        <p:spPr>
          <a:xfrm>
            <a:off x="558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1" name="Rectangle 2">
            <a:extLst>
              <a:ext uri="{FF2B5EF4-FFF2-40B4-BE49-F238E27FC236}">
                <a16:creationId xmlns:a16="http://schemas.microsoft.com/office/drawing/2014/main" id="{45647F66-44F1-412C-9396-5EB6F7EF0D2A}"/>
              </a:ext>
            </a:extLst>
          </p:cNvPr>
          <p:cNvSpPr/>
          <p:nvPr/>
        </p:nvSpPr>
        <p:spPr>
          <a:xfrm>
            <a:off x="720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2" name="文本框 21">
            <a:extLst>
              <a:ext uri="{FF2B5EF4-FFF2-40B4-BE49-F238E27FC236}">
                <a16:creationId xmlns:a16="http://schemas.microsoft.com/office/drawing/2014/main" id="{E9C40CF5-729B-4A33-B78A-E9F4CF549B49}"/>
              </a:ext>
            </a:extLst>
          </p:cNvPr>
          <p:cNvSpPr txBox="1"/>
          <p:nvPr/>
        </p:nvSpPr>
        <p:spPr>
          <a:xfrm>
            <a:off x="2670156" y="971170"/>
            <a:ext cx="779688"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Data</a:t>
            </a:r>
            <a:endParaRPr lang="zh-CN" altLang="en-US" b="1" dirty="0">
              <a:solidFill>
                <a:srgbClr val="D9D9D9"/>
              </a:solidFill>
              <a:latin typeface="Arial" panose="020B0604020202020204" pitchFamily="34" charset="0"/>
              <a:cs typeface="Arial" panose="020B0604020202020204" pitchFamily="34" charset="0"/>
            </a:endParaRPr>
          </a:p>
        </p:txBody>
      </p:sp>
      <p:sp>
        <p:nvSpPr>
          <p:cNvPr id="23" name="文本框 22">
            <a:extLst>
              <a:ext uri="{FF2B5EF4-FFF2-40B4-BE49-F238E27FC236}">
                <a16:creationId xmlns:a16="http://schemas.microsoft.com/office/drawing/2014/main" id="{B5AEB088-2BB6-477B-8E2E-65D232167B9C}"/>
              </a:ext>
            </a:extLst>
          </p:cNvPr>
          <p:cNvSpPr txBox="1"/>
          <p:nvPr/>
        </p:nvSpPr>
        <p:spPr>
          <a:xfrm>
            <a:off x="4067620" y="971170"/>
            <a:ext cx="1257301" cy="369332"/>
          </a:xfrm>
          <a:prstGeom prst="rect">
            <a:avLst/>
          </a:prstGeom>
          <a:noFill/>
        </p:spPr>
        <p:txBody>
          <a:bodyPr wrap="square" rtlCol="0">
            <a:spAutoFit/>
          </a:bodyPr>
          <a:lstStyle/>
          <a:p>
            <a:pPr algn="ctr"/>
            <a:r>
              <a:rPr lang="en-US" altLang="zh-CN" b="1" dirty="0">
                <a:latin typeface="Arial" panose="020B0604020202020204" pitchFamily="34" charset="0"/>
                <a:cs typeface="Arial" panose="020B0604020202020204" pitchFamily="34" charset="0"/>
              </a:rPr>
              <a:t>Features</a:t>
            </a:r>
            <a:endParaRPr lang="zh-CN" altLang="en-US" b="1" dirty="0">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64A2FC2D-7F5E-41B8-A98B-B59DEEADD862}"/>
              </a:ext>
            </a:extLst>
          </p:cNvPr>
          <p:cNvSpPr txBox="1"/>
          <p:nvPr/>
        </p:nvSpPr>
        <p:spPr>
          <a:xfrm>
            <a:off x="5450261" y="971170"/>
            <a:ext cx="1699477"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Architectures</a:t>
            </a:r>
            <a:endParaRPr lang="zh-CN" altLang="en-US" b="1" dirty="0">
              <a:solidFill>
                <a:srgbClr val="D9D9D9"/>
              </a:solidFill>
              <a:latin typeface="Arial" panose="020B0604020202020204" pitchFamily="34" charset="0"/>
              <a:cs typeface="Arial" panose="020B0604020202020204" pitchFamily="34" charset="0"/>
            </a:endParaRPr>
          </a:p>
        </p:txBody>
      </p:sp>
      <p:sp>
        <p:nvSpPr>
          <p:cNvPr id="25" name="文本框 24">
            <a:extLst>
              <a:ext uri="{FF2B5EF4-FFF2-40B4-BE49-F238E27FC236}">
                <a16:creationId xmlns:a16="http://schemas.microsoft.com/office/drawing/2014/main" id="{0866C245-A4E2-4310-88F1-392B47759ED1}"/>
              </a:ext>
            </a:extLst>
          </p:cNvPr>
          <p:cNvSpPr txBox="1"/>
          <p:nvPr/>
        </p:nvSpPr>
        <p:spPr>
          <a:xfrm>
            <a:off x="7291349" y="979838"/>
            <a:ext cx="1257301"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Metrics</a:t>
            </a:r>
            <a:endParaRPr lang="zh-CN" altLang="en-US" b="1" dirty="0">
              <a:solidFill>
                <a:srgbClr val="D9D9D9"/>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10923EE9-3B3B-49C5-AF52-3A2A0239A362}"/>
              </a:ext>
            </a:extLst>
          </p:cNvPr>
          <p:cNvSpPr/>
          <p:nvPr/>
        </p:nvSpPr>
        <p:spPr>
          <a:xfrm>
            <a:off x="720000" y="1331170"/>
            <a:ext cx="1440000" cy="36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8" name="文本框 27">
            <a:extLst>
              <a:ext uri="{FF2B5EF4-FFF2-40B4-BE49-F238E27FC236}">
                <a16:creationId xmlns:a16="http://schemas.microsoft.com/office/drawing/2014/main" id="{EC4B3610-0F7F-4F5D-A5BB-1A86238B6467}"/>
              </a:ext>
            </a:extLst>
          </p:cNvPr>
          <p:cNvSpPr txBox="1"/>
          <p:nvPr/>
        </p:nvSpPr>
        <p:spPr>
          <a:xfrm>
            <a:off x="811713" y="971170"/>
            <a:ext cx="1289844"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Overview</a:t>
            </a:r>
            <a:endParaRPr lang="zh-CN" altLang="en-US" b="1" dirty="0">
              <a:solidFill>
                <a:srgbClr val="D9D9D9"/>
              </a:solidFill>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10D29C8E-5796-4C67-A2CC-AFF11CF75132}"/>
              </a:ext>
            </a:extLst>
          </p:cNvPr>
          <p:cNvSpPr txBox="1"/>
          <p:nvPr/>
        </p:nvSpPr>
        <p:spPr>
          <a:xfrm>
            <a:off x="720000" y="1691834"/>
            <a:ext cx="7676967" cy="3146823"/>
          </a:xfrm>
          <a:prstGeom prst="rect">
            <a:avLst/>
          </a:prstGeom>
          <a:noFill/>
        </p:spPr>
        <p:txBody>
          <a:bodyPr wrap="square" rtlCol="0">
            <a:spAutoFit/>
          </a:bodyPr>
          <a:lstStyle/>
          <a:p>
            <a:pPr>
              <a:lnSpc>
                <a:spcPts val="2000"/>
              </a:lnSpc>
            </a:pPr>
            <a:r>
              <a:rPr lang="en-US" altLang="zh-CN" sz="1400" i="1" dirty="0">
                <a:latin typeface="Arial" panose="020B0604020202020204" pitchFamily="34" charset="0"/>
                <a:cs typeface="Arial" panose="020B0604020202020204" pitchFamily="34" charset="0"/>
              </a:rPr>
              <a:t>HUE FRONT: color hue assigned to the front layer</a:t>
            </a:r>
          </a:p>
          <a:p>
            <a:pPr>
              <a:lnSpc>
                <a:spcPts val="2000"/>
              </a:lnSpc>
            </a:pPr>
            <a:r>
              <a:rPr lang="en-US" altLang="zh-CN" sz="1400" i="1" dirty="0">
                <a:latin typeface="Arial" panose="020B0604020202020204" pitchFamily="34" charset="0"/>
                <a:cs typeface="Arial" panose="020B0604020202020204" pitchFamily="34" charset="0"/>
              </a:rPr>
              <a:t>HUE BACK: color hue assigned to the back layer</a:t>
            </a:r>
          </a:p>
          <a:p>
            <a:pPr>
              <a:lnSpc>
                <a:spcPts val="2000"/>
              </a:lnSpc>
            </a:pPr>
            <a:r>
              <a:rPr lang="en-US" altLang="zh-CN" sz="1400" i="1" dirty="0">
                <a:latin typeface="Arial" panose="020B0604020202020204" pitchFamily="34" charset="0"/>
                <a:cs typeface="Arial" panose="020B0604020202020204" pitchFamily="34" charset="0"/>
              </a:rPr>
              <a:t>OPACITY FRONT: opacity assigned to the front layer</a:t>
            </a:r>
          </a:p>
          <a:p>
            <a:pPr>
              <a:lnSpc>
                <a:spcPts val="2000"/>
              </a:lnSpc>
            </a:pPr>
            <a:r>
              <a:rPr lang="en-US" altLang="zh-CN" sz="1400" i="1" dirty="0">
                <a:latin typeface="Arial" panose="020B0604020202020204" pitchFamily="34" charset="0"/>
                <a:cs typeface="Arial" panose="020B0604020202020204" pitchFamily="34" charset="0"/>
              </a:rPr>
              <a:t>OPACITY BACK: opacity assigned to the back layer</a:t>
            </a:r>
          </a:p>
          <a:p>
            <a:pPr>
              <a:lnSpc>
                <a:spcPts val="2000"/>
              </a:lnSpc>
            </a:pPr>
            <a:r>
              <a:rPr lang="en-US" altLang="zh-CN" sz="1400" i="1" dirty="0">
                <a:latin typeface="Arial" panose="020B0604020202020204" pitchFamily="34" charset="0"/>
                <a:cs typeface="Arial" panose="020B0604020202020204" pitchFamily="34" charset="0"/>
              </a:rPr>
              <a:t>HUE MIN: the smaller hue value between the two layers</a:t>
            </a:r>
          </a:p>
          <a:p>
            <a:pPr>
              <a:lnSpc>
                <a:spcPts val="2000"/>
              </a:lnSpc>
            </a:pPr>
            <a:r>
              <a:rPr lang="en-US" altLang="zh-CN" sz="1400" i="1" dirty="0">
                <a:latin typeface="Arial" panose="020B0604020202020204" pitchFamily="34" charset="0"/>
                <a:cs typeface="Arial" panose="020B0604020202020204" pitchFamily="34" charset="0"/>
              </a:rPr>
              <a:t>HUE MAX: the larger hue value between the two layers</a:t>
            </a:r>
          </a:p>
          <a:p>
            <a:pPr>
              <a:lnSpc>
                <a:spcPts val="2000"/>
              </a:lnSpc>
            </a:pPr>
            <a:r>
              <a:rPr lang="en-US" altLang="zh-CN" sz="1400" i="1" dirty="0">
                <a:latin typeface="Arial" panose="020B0604020202020204" pitchFamily="34" charset="0"/>
                <a:cs typeface="Arial" panose="020B0604020202020204" pitchFamily="34" charset="0"/>
              </a:rPr>
              <a:t>HUE MEAN: the average hue value between the two layers</a:t>
            </a:r>
          </a:p>
          <a:p>
            <a:pPr>
              <a:lnSpc>
                <a:spcPts val="2000"/>
              </a:lnSpc>
            </a:pPr>
            <a:r>
              <a:rPr lang="en-US" altLang="zh-CN" sz="1400" i="1" dirty="0">
                <a:latin typeface="Arial" panose="020B0604020202020204" pitchFamily="34" charset="0"/>
                <a:cs typeface="Arial" panose="020B0604020202020204" pitchFamily="34" charset="0"/>
              </a:rPr>
              <a:t>HUE DISTANCE: the hue distance between the two layers</a:t>
            </a:r>
          </a:p>
          <a:p>
            <a:pPr>
              <a:lnSpc>
                <a:spcPts val="2000"/>
              </a:lnSpc>
            </a:pPr>
            <a:r>
              <a:rPr lang="en-US" altLang="zh-CN" sz="1400" i="1" dirty="0">
                <a:latin typeface="Arial" panose="020B0604020202020204" pitchFamily="34" charset="0"/>
                <a:cs typeface="Arial" panose="020B0604020202020204" pitchFamily="34" charset="0"/>
              </a:rPr>
              <a:t>OPACITY MIN: the smaller opacity between the two layers</a:t>
            </a:r>
          </a:p>
          <a:p>
            <a:pPr>
              <a:lnSpc>
                <a:spcPts val="2000"/>
              </a:lnSpc>
            </a:pPr>
            <a:r>
              <a:rPr lang="en-US" altLang="zh-CN" sz="1400" i="1" dirty="0">
                <a:latin typeface="Arial" panose="020B0604020202020204" pitchFamily="34" charset="0"/>
                <a:cs typeface="Arial" panose="020B0604020202020204" pitchFamily="34" charset="0"/>
              </a:rPr>
              <a:t>OPACITY MAX: the higher opacity value between the two layers</a:t>
            </a:r>
          </a:p>
          <a:p>
            <a:pPr>
              <a:lnSpc>
                <a:spcPts val="2000"/>
              </a:lnSpc>
            </a:pPr>
            <a:r>
              <a:rPr lang="en-US" altLang="zh-CN" sz="1400" i="1" dirty="0">
                <a:latin typeface="Arial" panose="020B0604020202020204" pitchFamily="34" charset="0"/>
                <a:cs typeface="Arial" panose="020B0604020202020204" pitchFamily="34" charset="0"/>
              </a:rPr>
              <a:t>OPACITY MEAN: the average opacity value between the two layers</a:t>
            </a:r>
          </a:p>
          <a:p>
            <a:pPr>
              <a:lnSpc>
                <a:spcPts val="2000"/>
              </a:lnSpc>
            </a:pPr>
            <a:r>
              <a:rPr lang="en-US" altLang="zh-CN" sz="1400" i="1" dirty="0">
                <a:latin typeface="Arial" panose="020B0604020202020204" pitchFamily="34" charset="0"/>
                <a:cs typeface="Arial" panose="020B0604020202020204" pitchFamily="34" charset="0"/>
              </a:rPr>
              <a:t>OPACITY DISTANCE: the opacity distance between the two layers</a:t>
            </a:r>
            <a:endParaRPr lang="zh-CN" altLang="en-US" sz="14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0944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9FC2DB33-6A4F-4883-9BB2-F140AC3DD948}"/>
              </a:ext>
            </a:extLst>
          </p:cNvPr>
          <p:cNvSpPr txBox="1"/>
          <p:nvPr/>
        </p:nvSpPr>
        <p:spPr>
          <a:xfrm>
            <a:off x="988747" y="1861898"/>
            <a:ext cx="5111431" cy="211852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dirty="0">
                <a:latin typeface="Arial" panose="020B0604020202020204" pitchFamily="34" charset="0"/>
                <a:cs typeface="Arial" panose="020B0604020202020204" pitchFamily="34" charset="0"/>
              </a:rPr>
              <a:t>L</a:t>
            </a:r>
            <a:r>
              <a:rPr lang="zh-CN" altLang="en-US" dirty="0">
                <a:latin typeface="Arial" panose="020B0604020202020204" pitchFamily="34" charset="0"/>
                <a:cs typeface="Arial" panose="020B0604020202020204" pitchFamily="34" charset="0"/>
              </a:rPr>
              <a:t>ogistic regressio</a:t>
            </a:r>
            <a:r>
              <a:rPr lang="en-US" altLang="zh-CN" dirty="0">
                <a:latin typeface="Arial" panose="020B0604020202020204" pitchFamily="34" charset="0"/>
                <a:cs typeface="Arial" panose="020B0604020202020204" pitchFamily="34" charset="0"/>
              </a:rPr>
              <a:t>n</a:t>
            </a:r>
          </a:p>
          <a:p>
            <a:pPr marL="285750" indent="-285750">
              <a:lnSpc>
                <a:spcPct val="150000"/>
              </a:lnSpc>
              <a:buFont typeface="Arial" panose="020B0604020202020204" pitchFamily="34" charset="0"/>
              <a:buChar char="•"/>
            </a:pPr>
            <a:r>
              <a:rPr lang="en-US" altLang="zh-CN" dirty="0">
                <a:latin typeface="Arial" panose="020B0604020202020204" pitchFamily="34" charset="0"/>
                <a:cs typeface="Arial" panose="020B0604020202020204" pitchFamily="34" charset="0"/>
              </a:rPr>
              <a:t>D</a:t>
            </a:r>
            <a:r>
              <a:rPr lang="zh-CN" altLang="en-US" dirty="0">
                <a:latin typeface="Arial" panose="020B0604020202020204" pitchFamily="34" charset="0"/>
                <a:cs typeface="Arial" panose="020B0604020202020204" pitchFamily="34" charset="0"/>
              </a:rPr>
              <a:t>ecision tree</a:t>
            </a:r>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dirty="0">
                <a:latin typeface="Arial" panose="020B0604020202020204" pitchFamily="34" charset="0"/>
                <a:cs typeface="Arial" panose="020B0604020202020204" pitchFamily="34" charset="0"/>
              </a:rPr>
              <a:t>R</a:t>
            </a:r>
            <a:r>
              <a:rPr lang="zh-CN" altLang="en-US" dirty="0">
                <a:latin typeface="Arial" panose="020B0604020202020204" pitchFamily="34" charset="0"/>
                <a:cs typeface="Arial" panose="020B0604020202020204" pitchFamily="34" charset="0"/>
              </a:rPr>
              <a:t>andom forest</a:t>
            </a:r>
          </a:p>
          <a:p>
            <a:pPr marL="285750" indent="-285750">
              <a:lnSpc>
                <a:spcPct val="150000"/>
              </a:lnSpc>
              <a:buFont typeface="Arial" panose="020B0604020202020204" pitchFamily="34" charset="0"/>
              <a:buChar char="•"/>
            </a:pPr>
            <a:r>
              <a:rPr lang="zh-CN" altLang="en-US" dirty="0">
                <a:latin typeface="Arial" panose="020B0604020202020204" pitchFamily="34" charset="0"/>
                <a:cs typeface="Arial" panose="020B0604020202020204" pitchFamily="34" charset="0"/>
              </a:rPr>
              <a:t>SVM with </a:t>
            </a:r>
            <a:r>
              <a:rPr lang="en-US" altLang="zh-CN" dirty="0">
                <a:latin typeface="Arial" panose="020B0604020202020204" pitchFamily="34" charset="0"/>
                <a:cs typeface="Arial" panose="020B0604020202020204" pitchFamily="34" charset="0"/>
              </a:rPr>
              <a:t>l</a:t>
            </a:r>
            <a:r>
              <a:rPr lang="zh-CN" altLang="en-US" dirty="0">
                <a:latin typeface="Arial" panose="020B0604020202020204" pitchFamily="34" charset="0"/>
                <a:cs typeface="Arial" panose="020B0604020202020204" pitchFamily="34" charset="0"/>
              </a:rPr>
              <a:t>inear kernels </a:t>
            </a:r>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dirty="0">
                <a:latin typeface="Arial" panose="020B0604020202020204" pitchFamily="34" charset="0"/>
                <a:cs typeface="Arial" panose="020B0604020202020204" pitchFamily="34" charset="0"/>
              </a:rPr>
              <a:t>SVM with </a:t>
            </a:r>
            <a:r>
              <a:rPr lang="zh-CN" altLang="en-US" dirty="0">
                <a:latin typeface="Arial" panose="020B0604020202020204" pitchFamily="34" charset="0"/>
                <a:cs typeface="Arial" panose="020B0604020202020204" pitchFamily="34" charset="0"/>
              </a:rPr>
              <a:t>radial basis function (RBF) kernels</a:t>
            </a:r>
          </a:p>
        </p:txBody>
      </p:sp>
      <p:sp>
        <p:nvSpPr>
          <p:cNvPr id="18" name="Rectangle 2">
            <a:extLst>
              <a:ext uri="{FF2B5EF4-FFF2-40B4-BE49-F238E27FC236}">
                <a16:creationId xmlns:a16="http://schemas.microsoft.com/office/drawing/2014/main" id="{06DF94CC-3AFC-4B48-9812-F5B38559715F}"/>
              </a:ext>
            </a:extLst>
          </p:cNvPr>
          <p:cNvSpPr/>
          <p:nvPr/>
        </p:nvSpPr>
        <p:spPr>
          <a:xfrm>
            <a:off x="2340000" y="1331170"/>
            <a:ext cx="1440000" cy="36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19" name="Rectangle 2">
            <a:extLst>
              <a:ext uri="{FF2B5EF4-FFF2-40B4-BE49-F238E27FC236}">
                <a16:creationId xmlns:a16="http://schemas.microsoft.com/office/drawing/2014/main" id="{635C7ADB-0A04-4771-B49B-62A396805B0E}"/>
              </a:ext>
            </a:extLst>
          </p:cNvPr>
          <p:cNvSpPr/>
          <p:nvPr/>
        </p:nvSpPr>
        <p:spPr>
          <a:xfrm>
            <a:off x="396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0" name="Rectangle 2">
            <a:extLst>
              <a:ext uri="{FF2B5EF4-FFF2-40B4-BE49-F238E27FC236}">
                <a16:creationId xmlns:a16="http://schemas.microsoft.com/office/drawing/2014/main" id="{E7942F8B-B198-46DD-A903-F5BCBEDD0BC0}"/>
              </a:ext>
            </a:extLst>
          </p:cNvPr>
          <p:cNvSpPr/>
          <p:nvPr/>
        </p:nvSpPr>
        <p:spPr>
          <a:xfrm>
            <a:off x="5580000" y="1331170"/>
            <a:ext cx="1440000" cy="3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1" name="Rectangle 2">
            <a:extLst>
              <a:ext uri="{FF2B5EF4-FFF2-40B4-BE49-F238E27FC236}">
                <a16:creationId xmlns:a16="http://schemas.microsoft.com/office/drawing/2014/main" id="{C4E57CCF-C981-42C5-B184-730F345E165C}"/>
              </a:ext>
            </a:extLst>
          </p:cNvPr>
          <p:cNvSpPr/>
          <p:nvPr/>
        </p:nvSpPr>
        <p:spPr>
          <a:xfrm>
            <a:off x="720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2" name="文本框 21">
            <a:extLst>
              <a:ext uri="{FF2B5EF4-FFF2-40B4-BE49-F238E27FC236}">
                <a16:creationId xmlns:a16="http://schemas.microsoft.com/office/drawing/2014/main" id="{EAA20277-A6AD-4305-86DD-9A190DC4545C}"/>
              </a:ext>
            </a:extLst>
          </p:cNvPr>
          <p:cNvSpPr txBox="1"/>
          <p:nvPr/>
        </p:nvSpPr>
        <p:spPr>
          <a:xfrm>
            <a:off x="2670156" y="971170"/>
            <a:ext cx="779688"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Data</a:t>
            </a:r>
            <a:endParaRPr lang="zh-CN" altLang="en-US" b="1" dirty="0">
              <a:solidFill>
                <a:srgbClr val="D9D9D9"/>
              </a:solidFill>
              <a:latin typeface="Arial" panose="020B0604020202020204" pitchFamily="34" charset="0"/>
              <a:cs typeface="Arial" panose="020B0604020202020204" pitchFamily="34" charset="0"/>
            </a:endParaRPr>
          </a:p>
        </p:txBody>
      </p:sp>
      <p:sp>
        <p:nvSpPr>
          <p:cNvPr id="23" name="文本框 22">
            <a:extLst>
              <a:ext uri="{FF2B5EF4-FFF2-40B4-BE49-F238E27FC236}">
                <a16:creationId xmlns:a16="http://schemas.microsoft.com/office/drawing/2014/main" id="{42C6FFFC-3CAE-4C06-AFE3-0DFD9011D00C}"/>
              </a:ext>
            </a:extLst>
          </p:cNvPr>
          <p:cNvSpPr txBox="1"/>
          <p:nvPr/>
        </p:nvSpPr>
        <p:spPr>
          <a:xfrm>
            <a:off x="4067620" y="971170"/>
            <a:ext cx="1257301"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Features</a:t>
            </a:r>
            <a:endParaRPr lang="zh-CN" altLang="en-US" b="1" dirty="0">
              <a:solidFill>
                <a:srgbClr val="D9D9D9"/>
              </a:solidFill>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10A5C776-47F3-4DFD-8D71-277E8119C861}"/>
              </a:ext>
            </a:extLst>
          </p:cNvPr>
          <p:cNvSpPr txBox="1"/>
          <p:nvPr/>
        </p:nvSpPr>
        <p:spPr>
          <a:xfrm>
            <a:off x="5450261" y="971170"/>
            <a:ext cx="1699477" cy="369332"/>
          </a:xfrm>
          <a:prstGeom prst="rect">
            <a:avLst/>
          </a:prstGeom>
          <a:noFill/>
        </p:spPr>
        <p:txBody>
          <a:bodyPr wrap="square" rtlCol="0">
            <a:spAutoFit/>
          </a:bodyPr>
          <a:lstStyle/>
          <a:p>
            <a:pPr algn="ctr"/>
            <a:r>
              <a:rPr lang="en-US" altLang="zh-CN" b="1" dirty="0">
                <a:latin typeface="Arial" panose="020B0604020202020204" pitchFamily="34" charset="0"/>
                <a:cs typeface="Arial" panose="020B0604020202020204" pitchFamily="34" charset="0"/>
              </a:rPr>
              <a:t>Architectures</a:t>
            </a:r>
            <a:endParaRPr lang="zh-CN" altLang="en-US" b="1" dirty="0">
              <a:latin typeface="Arial" panose="020B0604020202020204" pitchFamily="34" charset="0"/>
              <a:cs typeface="Arial" panose="020B0604020202020204" pitchFamily="34" charset="0"/>
            </a:endParaRPr>
          </a:p>
        </p:txBody>
      </p:sp>
      <p:sp>
        <p:nvSpPr>
          <p:cNvPr id="25" name="文本框 24">
            <a:extLst>
              <a:ext uri="{FF2B5EF4-FFF2-40B4-BE49-F238E27FC236}">
                <a16:creationId xmlns:a16="http://schemas.microsoft.com/office/drawing/2014/main" id="{5B72289A-0280-423A-99C1-F5A63EF700F4}"/>
              </a:ext>
            </a:extLst>
          </p:cNvPr>
          <p:cNvSpPr txBox="1"/>
          <p:nvPr/>
        </p:nvSpPr>
        <p:spPr>
          <a:xfrm>
            <a:off x="7291349" y="979838"/>
            <a:ext cx="1257301"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Metrics</a:t>
            </a:r>
            <a:endParaRPr lang="zh-CN" altLang="en-US" b="1" dirty="0">
              <a:solidFill>
                <a:srgbClr val="D9D9D9"/>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321698FE-002E-414B-92EF-A3ED7814BC58}"/>
              </a:ext>
            </a:extLst>
          </p:cNvPr>
          <p:cNvSpPr/>
          <p:nvPr/>
        </p:nvSpPr>
        <p:spPr>
          <a:xfrm>
            <a:off x="720000" y="1331170"/>
            <a:ext cx="1440000" cy="36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8" name="文本框 27">
            <a:extLst>
              <a:ext uri="{FF2B5EF4-FFF2-40B4-BE49-F238E27FC236}">
                <a16:creationId xmlns:a16="http://schemas.microsoft.com/office/drawing/2014/main" id="{3A878679-17F9-46ED-A7DE-0E000378BB79}"/>
              </a:ext>
            </a:extLst>
          </p:cNvPr>
          <p:cNvSpPr txBox="1"/>
          <p:nvPr/>
        </p:nvSpPr>
        <p:spPr>
          <a:xfrm>
            <a:off x="811713" y="971170"/>
            <a:ext cx="1289844"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Overview</a:t>
            </a:r>
            <a:endParaRPr lang="zh-CN" altLang="en-US" b="1" dirty="0">
              <a:solidFill>
                <a:srgbClr val="D9D9D9"/>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7815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55871FA8-6EEC-4BBC-B44B-4A924759ED84}"/>
                  </a:ext>
                </a:extLst>
              </p:cNvPr>
              <p:cNvSpPr txBox="1"/>
              <p:nvPr/>
            </p:nvSpPr>
            <p:spPr>
              <a:xfrm>
                <a:off x="1014458" y="1861898"/>
                <a:ext cx="5111431" cy="1236429"/>
              </a:xfrm>
              <a:prstGeom prst="rect">
                <a:avLst/>
              </a:prstGeom>
              <a:noFill/>
            </p:spPr>
            <p:txBody>
              <a:bodyPr wrap="square">
                <a:spAutoFit/>
              </a:bodyPr>
              <a:lstStyle/>
              <a:p>
                <a:pPr marL="285750" indent="-285750">
                  <a:lnSpc>
                    <a:spcPct val="150000"/>
                  </a:lnSpc>
                  <a:buFont typeface="Arial" panose="020B0604020202020204" pitchFamily="34" charset="0"/>
                  <a:buChar char="•"/>
                </a:pPr>
                <a14:m>
                  <m:oMath xmlns:m="http://schemas.openxmlformats.org/officeDocument/2006/math">
                    <m:r>
                      <a:rPr lang="en-US" altLang="zh-CN" sz="1800" b="0" i="1" smtClean="0">
                        <a:latin typeface="Cambria Math" panose="02040503050406030204" pitchFamily="18" charset="0"/>
                      </a:rPr>
                      <m:t>𝐴𝑐𝑐𝑢𝑟𝑎𝑐𝑦</m:t>
                    </m:r>
                    <m:r>
                      <a:rPr lang="en-US" altLang="zh-CN" sz="1800" i="1" smtClean="0">
                        <a:latin typeface="Cambria Math" panose="02040503050406030204" pitchFamily="18" charset="0"/>
                      </a:rPr>
                      <m:t>=</m:t>
                    </m:r>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𝑇𝑃</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𝑇𝑁</m:t>
                        </m:r>
                      </m:num>
                      <m:den>
                        <m:r>
                          <a:rPr lang="en-US" altLang="zh-CN" sz="1800" b="0" i="1" smtClean="0">
                            <a:latin typeface="Cambria Math" panose="02040503050406030204" pitchFamily="18" charset="0"/>
                          </a:rPr>
                          <m:t>𝑇𝑃</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𝑇𝑁</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𝐹𝑃</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𝐹𝑁</m:t>
                        </m:r>
                      </m:den>
                    </m:f>
                  </m:oMath>
                </a14:m>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14:m>
                  <m:oMath xmlns:m="http://schemas.openxmlformats.org/officeDocument/2006/math">
                    <m:r>
                      <a:rPr lang="en-US" altLang="zh-CN" sz="1800" b="0" i="1" smtClean="0">
                        <a:latin typeface="Cambria Math" panose="02040503050406030204" pitchFamily="18" charset="0"/>
                      </a:rPr>
                      <m:t>𝐹</m:t>
                    </m:r>
                    <m:r>
                      <a:rPr lang="en-US" altLang="zh-CN" sz="1800" b="0" i="1" smtClean="0">
                        <a:latin typeface="Cambria Math" panose="02040503050406030204" pitchFamily="18" charset="0"/>
                      </a:rPr>
                      <m:t>1=2 ∗</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𝑃𝑟𝑒𝑐𝑖𝑠𝑖𝑜𝑛</m:t>
                        </m:r>
                        <m:r>
                          <a:rPr lang="en-US" altLang="zh-CN" b="0" i="1" smtClean="0">
                            <a:latin typeface="Cambria Math" panose="02040503050406030204" pitchFamily="18" charset="0"/>
                          </a:rPr>
                          <m:t>∗</m:t>
                        </m:r>
                        <m:r>
                          <a:rPr lang="en-US" altLang="zh-CN" b="0" i="1" smtClean="0">
                            <a:latin typeface="Cambria Math" panose="02040503050406030204" pitchFamily="18" charset="0"/>
                          </a:rPr>
                          <m:t>𝑅𝑒𝑐𝑎𝑙𝑙</m:t>
                        </m:r>
                      </m:num>
                      <m:den>
                        <m:r>
                          <a:rPr lang="en-US" altLang="zh-CN" i="1">
                            <a:latin typeface="Cambria Math" panose="02040503050406030204" pitchFamily="18" charset="0"/>
                          </a:rPr>
                          <m:t>𝑃𝑟𝑒𝑐𝑖𝑠𝑖𝑜𝑛</m:t>
                        </m:r>
                        <m:r>
                          <a:rPr lang="en-US" altLang="zh-CN" b="0" i="1" smtClean="0">
                            <a:latin typeface="Cambria Math" panose="02040503050406030204" pitchFamily="18" charset="0"/>
                          </a:rPr>
                          <m:t>+</m:t>
                        </m:r>
                        <m:r>
                          <a:rPr lang="en-US" altLang="zh-CN" i="1">
                            <a:latin typeface="Cambria Math" panose="02040503050406030204" pitchFamily="18" charset="0"/>
                          </a:rPr>
                          <m:t>𝑅𝑒𝑐𝑎𝑙𝑙</m:t>
                        </m:r>
                      </m:den>
                    </m:f>
                    <m:r>
                      <a:rPr lang="en-US" altLang="zh-CN" sz="1800" b="0" i="1" smtClean="0">
                        <a:latin typeface="Cambria Math" panose="02040503050406030204" pitchFamily="18" charset="0"/>
                      </a:rPr>
                      <m:t>=</m:t>
                    </m:r>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2</m:t>
                        </m:r>
                        <m:r>
                          <a:rPr lang="en-US" altLang="zh-CN" sz="1800" b="0" i="1" smtClean="0">
                            <a:latin typeface="Cambria Math" panose="02040503050406030204" pitchFamily="18" charset="0"/>
                          </a:rPr>
                          <m:t>𝑇𝑃</m:t>
                        </m:r>
                      </m:num>
                      <m:den>
                        <m:r>
                          <a:rPr lang="en-US" altLang="zh-CN" sz="1800" b="0" i="1" smtClean="0">
                            <a:latin typeface="Cambria Math" panose="02040503050406030204" pitchFamily="18" charset="0"/>
                          </a:rPr>
                          <m:t>2</m:t>
                        </m:r>
                        <m:r>
                          <a:rPr lang="en-US" altLang="zh-CN" sz="1800" b="0" i="1" smtClean="0">
                            <a:latin typeface="Cambria Math" panose="02040503050406030204" pitchFamily="18" charset="0"/>
                          </a:rPr>
                          <m:t>𝑇𝑃</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𝐹𝑃</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𝐹𝑁</m:t>
                        </m:r>
                      </m:den>
                    </m:f>
                    <m:r>
                      <a:rPr lang="en-US" altLang="zh-CN" sz="1800" b="0" i="1" smtClean="0">
                        <a:latin typeface="Cambria Math" panose="02040503050406030204" pitchFamily="18" charset="0"/>
                      </a:rPr>
                      <m:t> </m:t>
                    </m:r>
                  </m:oMath>
                </a14:m>
                <a:endParaRPr lang="en-US" altLang="zh-CN" dirty="0">
                  <a:latin typeface="Arial" panose="020B0604020202020204" pitchFamily="34" charset="0"/>
                  <a:cs typeface="Arial" panose="020B0604020202020204" pitchFamily="34" charset="0"/>
                </a:endParaRPr>
              </a:p>
            </p:txBody>
          </p:sp>
        </mc:Choice>
        <mc:Fallback xmlns="">
          <p:sp>
            <p:nvSpPr>
              <p:cNvPr id="11" name="文本框 10">
                <a:extLst>
                  <a:ext uri="{FF2B5EF4-FFF2-40B4-BE49-F238E27FC236}">
                    <a16:creationId xmlns:a16="http://schemas.microsoft.com/office/drawing/2014/main" id="{55871FA8-6EEC-4BBC-B44B-4A924759ED84}"/>
                  </a:ext>
                </a:extLst>
              </p:cNvPr>
              <p:cNvSpPr txBox="1">
                <a:spLocks noRot="1" noChangeAspect="1" noMove="1" noResize="1" noEditPoints="1" noAdjustHandles="1" noChangeArrowheads="1" noChangeShapeType="1" noTextEdit="1"/>
              </p:cNvSpPr>
              <p:nvPr/>
            </p:nvSpPr>
            <p:spPr>
              <a:xfrm>
                <a:off x="1014458" y="1861898"/>
                <a:ext cx="5111431" cy="1236429"/>
              </a:xfrm>
              <a:prstGeom prst="rect">
                <a:avLst/>
              </a:prstGeom>
              <a:blipFill>
                <a:blip r:embed="rId3"/>
                <a:stretch>
                  <a:fillRect l="-715" b="-493"/>
                </a:stretch>
              </a:blipFill>
            </p:spPr>
            <p:txBody>
              <a:bodyPr/>
              <a:lstStyle/>
              <a:p>
                <a:r>
                  <a:rPr lang="zh-CN" altLang="en-US">
                    <a:noFill/>
                  </a:rPr>
                  <a:t> </a:t>
                </a:r>
              </a:p>
            </p:txBody>
          </p:sp>
        </mc:Fallback>
      </mc:AlternateContent>
      <p:sp>
        <p:nvSpPr>
          <p:cNvPr id="18" name="Rectangle 2">
            <a:extLst>
              <a:ext uri="{FF2B5EF4-FFF2-40B4-BE49-F238E27FC236}">
                <a16:creationId xmlns:a16="http://schemas.microsoft.com/office/drawing/2014/main" id="{B4285B06-CEB0-4102-B289-6CA51916703D}"/>
              </a:ext>
            </a:extLst>
          </p:cNvPr>
          <p:cNvSpPr/>
          <p:nvPr/>
        </p:nvSpPr>
        <p:spPr>
          <a:xfrm>
            <a:off x="2340000" y="1331170"/>
            <a:ext cx="1440000" cy="36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19" name="Rectangle 2">
            <a:extLst>
              <a:ext uri="{FF2B5EF4-FFF2-40B4-BE49-F238E27FC236}">
                <a16:creationId xmlns:a16="http://schemas.microsoft.com/office/drawing/2014/main" id="{93749C74-6EB1-4E90-99C5-2EBC4B441420}"/>
              </a:ext>
            </a:extLst>
          </p:cNvPr>
          <p:cNvSpPr/>
          <p:nvPr/>
        </p:nvSpPr>
        <p:spPr>
          <a:xfrm>
            <a:off x="396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0" name="Rectangle 2">
            <a:extLst>
              <a:ext uri="{FF2B5EF4-FFF2-40B4-BE49-F238E27FC236}">
                <a16:creationId xmlns:a16="http://schemas.microsoft.com/office/drawing/2014/main" id="{FCECDB25-0D20-4F01-85BF-231F68F2C544}"/>
              </a:ext>
            </a:extLst>
          </p:cNvPr>
          <p:cNvSpPr/>
          <p:nvPr/>
        </p:nvSpPr>
        <p:spPr>
          <a:xfrm>
            <a:off x="5580000" y="1331170"/>
            <a:ext cx="1440000" cy="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1" name="Rectangle 2">
            <a:extLst>
              <a:ext uri="{FF2B5EF4-FFF2-40B4-BE49-F238E27FC236}">
                <a16:creationId xmlns:a16="http://schemas.microsoft.com/office/drawing/2014/main" id="{74B55A6A-91A8-4DBB-8408-B6E85E2F8EC8}"/>
              </a:ext>
            </a:extLst>
          </p:cNvPr>
          <p:cNvSpPr/>
          <p:nvPr/>
        </p:nvSpPr>
        <p:spPr>
          <a:xfrm>
            <a:off x="7200000" y="1331170"/>
            <a:ext cx="1440000" cy="3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2" name="文本框 21">
            <a:extLst>
              <a:ext uri="{FF2B5EF4-FFF2-40B4-BE49-F238E27FC236}">
                <a16:creationId xmlns:a16="http://schemas.microsoft.com/office/drawing/2014/main" id="{CED20502-8193-4A9E-B468-8F6A2DDC7152}"/>
              </a:ext>
            </a:extLst>
          </p:cNvPr>
          <p:cNvSpPr txBox="1"/>
          <p:nvPr/>
        </p:nvSpPr>
        <p:spPr>
          <a:xfrm>
            <a:off x="2670156" y="971170"/>
            <a:ext cx="779688"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Data</a:t>
            </a:r>
            <a:endParaRPr lang="zh-CN" altLang="en-US" b="1" dirty="0">
              <a:solidFill>
                <a:srgbClr val="D9D9D9"/>
              </a:solidFill>
              <a:latin typeface="Arial" panose="020B0604020202020204" pitchFamily="34" charset="0"/>
              <a:cs typeface="Arial" panose="020B0604020202020204" pitchFamily="34" charset="0"/>
            </a:endParaRPr>
          </a:p>
        </p:txBody>
      </p:sp>
      <p:sp>
        <p:nvSpPr>
          <p:cNvPr id="23" name="文本框 22">
            <a:extLst>
              <a:ext uri="{FF2B5EF4-FFF2-40B4-BE49-F238E27FC236}">
                <a16:creationId xmlns:a16="http://schemas.microsoft.com/office/drawing/2014/main" id="{5B2DCD8B-64FF-4667-A668-C7CED188CCFD}"/>
              </a:ext>
            </a:extLst>
          </p:cNvPr>
          <p:cNvSpPr txBox="1"/>
          <p:nvPr/>
        </p:nvSpPr>
        <p:spPr>
          <a:xfrm>
            <a:off x="4067620" y="971170"/>
            <a:ext cx="1257301"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Features</a:t>
            </a:r>
            <a:endParaRPr lang="zh-CN" altLang="en-US" b="1" dirty="0">
              <a:solidFill>
                <a:srgbClr val="D9D9D9"/>
              </a:solidFill>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60499A20-F92E-4683-98D7-A85AAF9FFD59}"/>
              </a:ext>
            </a:extLst>
          </p:cNvPr>
          <p:cNvSpPr txBox="1"/>
          <p:nvPr/>
        </p:nvSpPr>
        <p:spPr>
          <a:xfrm>
            <a:off x="5450261" y="971170"/>
            <a:ext cx="1699477"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Architectures</a:t>
            </a:r>
            <a:endParaRPr lang="zh-CN" altLang="en-US" b="1" dirty="0">
              <a:solidFill>
                <a:srgbClr val="D9D9D9"/>
              </a:solidFill>
              <a:latin typeface="Arial" panose="020B0604020202020204" pitchFamily="34" charset="0"/>
              <a:cs typeface="Arial" panose="020B0604020202020204" pitchFamily="34" charset="0"/>
            </a:endParaRPr>
          </a:p>
        </p:txBody>
      </p:sp>
      <p:sp>
        <p:nvSpPr>
          <p:cNvPr id="25" name="文本框 24">
            <a:extLst>
              <a:ext uri="{FF2B5EF4-FFF2-40B4-BE49-F238E27FC236}">
                <a16:creationId xmlns:a16="http://schemas.microsoft.com/office/drawing/2014/main" id="{CE44690B-BD6D-4411-82DE-C47839A6E7F7}"/>
              </a:ext>
            </a:extLst>
          </p:cNvPr>
          <p:cNvSpPr txBox="1"/>
          <p:nvPr/>
        </p:nvSpPr>
        <p:spPr>
          <a:xfrm>
            <a:off x="7291349" y="979838"/>
            <a:ext cx="1257301" cy="369332"/>
          </a:xfrm>
          <a:prstGeom prst="rect">
            <a:avLst/>
          </a:prstGeom>
          <a:noFill/>
        </p:spPr>
        <p:txBody>
          <a:bodyPr wrap="square" rtlCol="0">
            <a:spAutoFit/>
          </a:bodyPr>
          <a:lstStyle/>
          <a:p>
            <a:pPr algn="ctr"/>
            <a:r>
              <a:rPr lang="en-US" altLang="zh-CN" b="1" dirty="0">
                <a:latin typeface="Arial" panose="020B0604020202020204" pitchFamily="34" charset="0"/>
                <a:cs typeface="Arial" panose="020B0604020202020204" pitchFamily="34" charset="0"/>
              </a:rPr>
              <a:t>Metrics</a:t>
            </a:r>
            <a:endParaRPr lang="zh-CN" altLang="en-US" b="1" dirty="0">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9BA7B149-5697-41AA-A1FC-8C8B5E6087EF}"/>
              </a:ext>
            </a:extLst>
          </p:cNvPr>
          <p:cNvSpPr/>
          <p:nvPr/>
        </p:nvSpPr>
        <p:spPr>
          <a:xfrm>
            <a:off x="720000" y="1331170"/>
            <a:ext cx="1440000" cy="36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D9D9D9"/>
              </a:solidFill>
              <a:latin typeface="思源宋体 CN Medium" panose="02020500000000000000" pitchFamily="18" charset="-122"/>
              <a:ea typeface="思源宋体 CN Medium" panose="02020500000000000000" pitchFamily="18" charset="-122"/>
              <a:sym typeface="Arial" panose="020B0604020202020204" pitchFamily="34" charset="0"/>
            </a:endParaRPr>
          </a:p>
        </p:txBody>
      </p:sp>
      <p:sp>
        <p:nvSpPr>
          <p:cNvPr id="28" name="文本框 27">
            <a:extLst>
              <a:ext uri="{FF2B5EF4-FFF2-40B4-BE49-F238E27FC236}">
                <a16:creationId xmlns:a16="http://schemas.microsoft.com/office/drawing/2014/main" id="{A4E67D20-BA8D-4707-A20C-89A8A2E42555}"/>
              </a:ext>
            </a:extLst>
          </p:cNvPr>
          <p:cNvSpPr txBox="1"/>
          <p:nvPr/>
        </p:nvSpPr>
        <p:spPr>
          <a:xfrm>
            <a:off x="811713" y="971170"/>
            <a:ext cx="1289844" cy="369332"/>
          </a:xfrm>
          <a:prstGeom prst="rect">
            <a:avLst/>
          </a:prstGeom>
          <a:noFill/>
        </p:spPr>
        <p:txBody>
          <a:bodyPr wrap="square" rtlCol="0">
            <a:spAutoFit/>
          </a:bodyPr>
          <a:lstStyle/>
          <a:p>
            <a:pPr algn="ctr"/>
            <a:r>
              <a:rPr lang="en-US" altLang="zh-CN" b="1" dirty="0">
                <a:solidFill>
                  <a:srgbClr val="D9D9D9"/>
                </a:solidFill>
                <a:latin typeface="Arial" panose="020B0604020202020204" pitchFamily="34" charset="0"/>
                <a:cs typeface="Arial" panose="020B0604020202020204" pitchFamily="34" charset="0"/>
              </a:rPr>
              <a:t>Overview</a:t>
            </a:r>
            <a:endParaRPr lang="zh-CN" altLang="en-US" b="1" dirty="0">
              <a:solidFill>
                <a:srgbClr val="D9D9D9"/>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3980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8E79AD90-44F8-49FE-A535-E1AF12BEAC63}"/>
              </a:ext>
            </a:extLst>
          </p:cNvPr>
          <p:cNvPicPr>
            <a:picLocks noChangeAspect="1"/>
          </p:cNvPicPr>
          <p:nvPr/>
        </p:nvPicPr>
        <p:blipFill rotWithShape="1">
          <a:blip r:embed="rId3"/>
          <a:srcRect t="10412" r="48167"/>
          <a:stretch/>
        </p:blipFill>
        <p:spPr>
          <a:xfrm>
            <a:off x="1164860" y="1608897"/>
            <a:ext cx="3279706" cy="1737640"/>
          </a:xfrm>
          <a:prstGeom prst="rect">
            <a:avLst/>
          </a:prstGeom>
        </p:spPr>
      </p:pic>
      <p:sp>
        <p:nvSpPr>
          <p:cNvPr id="29" name="タイトル 1">
            <a:extLst>
              <a:ext uri="{FF2B5EF4-FFF2-40B4-BE49-F238E27FC236}">
                <a16:creationId xmlns:a16="http://schemas.microsoft.com/office/drawing/2014/main" id="{5D1E7A12-15E0-413B-A2EB-88C5FECF2B7A}"/>
              </a:ext>
            </a:extLst>
          </p:cNvPr>
          <p:cNvSpPr>
            <a:spLocks noGrp="1"/>
          </p:cNvSpPr>
          <p:nvPr>
            <p:ph type="title"/>
          </p:nvPr>
        </p:nvSpPr>
        <p:spPr>
          <a:xfrm>
            <a:off x="591271" y="449669"/>
            <a:ext cx="5246821" cy="393926"/>
          </a:xfrm>
        </p:spPr>
        <p:txBody>
          <a:bodyPr>
            <a:noAutofit/>
          </a:body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Results | Performance</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
        <p:nvSpPr>
          <p:cNvPr id="16" name="文本框 15">
            <a:extLst>
              <a:ext uri="{FF2B5EF4-FFF2-40B4-BE49-F238E27FC236}">
                <a16:creationId xmlns:a16="http://schemas.microsoft.com/office/drawing/2014/main" id="{5B3E4178-3388-498D-8E05-8B46F4652D4B}"/>
              </a:ext>
            </a:extLst>
          </p:cNvPr>
          <p:cNvSpPr txBox="1"/>
          <p:nvPr/>
        </p:nvSpPr>
        <p:spPr>
          <a:xfrm>
            <a:off x="1988527" y="3438770"/>
            <a:ext cx="2657231"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(a) accuracy of 12 features</a:t>
            </a:r>
            <a:endParaRPr lang="zh-CN" altLang="en-US" sz="1200" dirty="0">
              <a:latin typeface="Arial" panose="020B0604020202020204" pitchFamily="34" charset="0"/>
              <a:cs typeface="Arial" panose="020B0604020202020204" pitchFamily="34" charset="0"/>
            </a:endParaRPr>
          </a:p>
        </p:txBody>
      </p:sp>
      <p:sp>
        <p:nvSpPr>
          <p:cNvPr id="30" name="文本框 29">
            <a:extLst>
              <a:ext uri="{FF2B5EF4-FFF2-40B4-BE49-F238E27FC236}">
                <a16:creationId xmlns:a16="http://schemas.microsoft.com/office/drawing/2014/main" id="{B5913C3F-86C0-4CB9-ADDC-BACD656B68D5}"/>
              </a:ext>
            </a:extLst>
          </p:cNvPr>
          <p:cNvSpPr txBox="1"/>
          <p:nvPr/>
        </p:nvSpPr>
        <p:spPr>
          <a:xfrm>
            <a:off x="4382514" y="3438770"/>
            <a:ext cx="2657231"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(b) F1 score of 12 features</a:t>
            </a:r>
            <a:endParaRPr lang="zh-CN" altLang="en-US" sz="1200" dirty="0">
              <a:latin typeface="Arial" panose="020B0604020202020204" pitchFamily="34" charset="0"/>
              <a:cs typeface="Arial" panose="020B0604020202020204" pitchFamily="34" charset="0"/>
            </a:endParaRPr>
          </a:p>
        </p:txBody>
      </p:sp>
      <p:pic>
        <p:nvPicPr>
          <p:cNvPr id="31" name="图片 30">
            <a:extLst>
              <a:ext uri="{FF2B5EF4-FFF2-40B4-BE49-F238E27FC236}">
                <a16:creationId xmlns:a16="http://schemas.microsoft.com/office/drawing/2014/main" id="{2342FC90-1232-427F-ADD5-5AA7BA3D42FC}"/>
              </a:ext>
            </a:extLst>
          </p:cNvPr>
          <p:cNvPicPr>
            <a:picLocks noChangeAspect="1"/>
          </p:cNvPicPr>
          <p:nvPr/>
        </p:nvPicPr>
        <p:blipFill rotWithShape="1">
          <a:blip r:embed="rId3"/>
          <a:srcRect l="51767" t="10412"/>
          <a:stretch/>
        </p:blipFill>
        <p:spPr>
          <a:xfrm>
            <a:off x="4572000" y="1617231"/>
            <a:ext cx="3051908" cy="1737640"/>
          </a:xfrm>
          <a:prstGeom prst="rect">
            <a:avLst/>
          </a:prstGeom>
        </p:spPr>
      </p:pic>
    </p:spTree>
    <p:extLst>
      <p:ext uri="{BB962C8B-B14F-4D97-AF65-F5344CB8AC3E}">
        <p14:creationId xmlns:p14="http://schemas.microsoft.com/office/powerpoint/2010/main" val="3801523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EE403C0-BAE0-4D30-9539-5DFF6E81D95A}"/>
              </a:ext>
            </a:extLst>
          </p:cNvPr>
          <p:cNvPicPr>
            <a:picLocks noChangeAspect="1"/>
          </p:cNvPicPr>
          <p:nvPr/>
        </p:nvPicPr>
        <p:blipFill rotWithShape="1">
          <a:blip r:embed="rId3"/>
          <a:srcRect t="8616" b="6798"/>
          <a:stretch/>
        </p:blipFill>
        <p:spPr>
          <a:xfrm>
            <a:off x="494982" y="1508760"/>
            <a:ext cx="8248968" cy="2288653"/>
          </a:xfrm>
          <a:prstGeom prst="rect">
            <a:avLst/>
          </a:prstGeom>
        </p:spPr>
      </p:pic>
      <p:sp>
        <p:nvSpPr>
          <p:cNvPr id="2" name="矩形 1">
            <a:extLst>
              <a:ext uri="{FF2B5EF4-FFF2-40B4-BE49-F238E27FC236}">
                <a16:creationId xmlns:a16="http://schemas.microsoft.com/office/drawing/2014/main" id="{2FE1C6BA-382C-4789-8362-FBF270BC6031}"/>
              </a:ext>
            </a:extLst>
          </p:cNvPr>
          <p:cNvSpPr/>
          <p:nvPr/>
        </p:nvSpPr>
        <p:spPr>
          <a:xfrm>
            <a:off x="472440" y="1935480"/>
            <a:ext cx="8397240" cy="191061"/>
          </a:xfrm>
          <a:prstGeom prst="rect">
            <a:avLst/>
          </a:prstGeom>
          <a:noFill/>
          <a:ln>
            <a:solidFill>
              <a:srgbClr val="1933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タイトル 1">
            <a:extLst>
              <a:ext uri="{FF2B5EF4-FFF2-40B4-BE49-F238E27FC236}">
                <a16:creationId xmlns:a16="http://schemas.microsoft.com/office/drawing/2014/main" id="{2DE03F50-CBC7-4088-9A11-8227111365C6}"/>
              </a:ext>
            </a:extLst>
          </p:cNvPr>
          <p:cNvSpPr>
            <a:spLocks noGrp="1"/>
          </p:cNvSpPr>
          <p:nvPr>
            <p:ph type="title"/>
          </p:nvPr>
        </p:nvSpPr>
        <p:spPr>
          <a:xfrm>
            <a:off x="591271" y="449669"/>
            <a:ext cx="5246821" cy="393926"/>
          </a:xfrm>
        </p:spPr>
        <p:txBody>
          <a:bodyPr>
            <a:noAutofit/>
          </a:body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Results | Feature importance</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a:extLst>
              <a:ext uri="{FF2B5EF4-FFF2-40B4-BE49-F238E27FC236}">
                <a16:creationId xmlns:a16="http://schemas.microsoft.com/office/drawing/2014/main" id="{115C340D-027C-4C46-9B91-F69BCEA70CFA}"/>
              </a:ext>
            </a:extLst>
          </p:cNvPr>
          <p:cNvSpPr txBox="1"/>
          <p:nvPr/>
        </p:nvSpPr>
        <p:spPr>
          <a:xfrm>
            <a:off x="1234440" y="3797413"/>
            <a:ext cx="154686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Logistic regression</a:t>
            </a:r>
            <a:endParaRPr lang="zh-CN" altLang="en-US" sz="1200"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5B1D1C4A-E1C5-4238-BD45-7441DB11A35A}"/>
              </a:ext>
            </a:extLst>
          </p:cNvPr>
          <p:cNvSpPr txBox="1"/>
          <p:nvPr/>
        </p:nvSpPr>
        <p:spPr>
          <a:xfrm>
            <a:off x="2781300" y="3797413"/>
            <a:ext cx="154686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Decision tree</a:t>
            </a:r>
            <a:endParaRPr lang="zh-CN" altLang="en-US" sz="1200"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C3E9091E-16C2-4135-8FAF-1D19CAC9D8E2}"/>
              </a:ext>
            </a:extLst>
          </p:cNvPr>
          <p:cNvSpPr txBox="1"/>
          <p:nvPr/>
        </p:nvSpPr>
        <p:spPr>
          <a:xfrm>
            <a:off x="4328160" y="3797412"/>
            <a:ext cx="154686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Random forest</a:t>
            </a:r>
            <a:endParaRPr lang="zh-CN" altLang="en-US" sz="1200" dirty="0">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74F80B9D-406C-4049-940C-DCC33BBA2FC9}"/>
              </a:ext>
            </a:extLst>
          </p:cNvPr>
          <p:cNvSpPr txBox="1"/>
          <p:nvPr/>
        </p:nvSpPr>
        <p:spPr>
          <a:xfrm>
            <a:off x="5810250" y="3797411"/>
            <a:ext cx="154686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SVM (Linear)</a:t>
            </a:r>
            <a:endParaRPr lang="zh-CN" altLang="en-US" sz="1200"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981CD2B6-24EC-496E-AC93-E99C9957F2D0}"/>
              </a:ext>
            </a:extLst>
          </p:cNvPr>
          <p:cNvSpPr txBox="1"/>
          <p:nvPr/>
        </p:nvSpPr>
        <p:spPr>
          <a:xfrm>
            <a:off x="7357110" y="3797411"/>
            <a:ext cx="154686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SVM (RBF)</a:t>
            </a:r>
            <a:endParaRPr lang="zh-CN"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577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0C27012-FA70-4E7B-BB87-4D48E7529B33}"/>
              </a:ext>
            </a:extLst>
          </p:cNvPr>
          <p:cNvPicPr>
            <a:picLocks noChangeAspect="1"/>
          </p:cNvPicPr>
          <p:nvPr/>
        </p:nvPicPr>
        <p:blipFill rotWithShape="1">
          <a:blip r:embed="rId3">
            <a:clrChange>
              <a:clrFrom>
                <a:srgbClr val="FEFEFE"/>
              </a:clrFrom>
              <a:clrTo>
                <a:srgbClr val="FEFEFE">
                  <a:alpha val="0"/>
                </a:srgbClr>
              </a:clrTo>
            </a:clrChange>
          </a:blip>
          <a:srcRect t="10537"/>
          <a:stretch/>
        </p:blipFill>
        <p:spPr>
          <a:xfrm>
            <a:off x="767434" y="1433243"/>
            <a:ext cx="7523163" cy="1991957"/>
          </a:xfrm>
          <a:prstGeom prst="rect">
            <a:avLst/>
          </a:prstGeom>
        </p:spPr>
      </p:pic>
      <p:sp>
        <p:nvSpPr>
          <p:cNvPr id="6" name="タイトル 1">
            <a:extLst>
              <a:ext uri="{FF2B5EF4-FFF2-40B4-BE49-F238E27FC236}">
                <a16:creationId xmlns:a16="http://schemas.microsoft.com/office/drawing/2014/main" id="{970CA905-EB6B-4BDC-A48C-288310147866}"/>
              </a:ext>
            </a:extLst>
          </p:cNvPr>
          <p:cNvSpPr>
            <a:spLocks noGrp="1"/>
          </p:cNvSpPr>
          <p:nvPr>
            <p:ph type="title"/>
          </p:nvPr>
        </p:nvSpPr>
        <p:spPr>
          <a:xfrm>
            <a:off x="591271" y="449669"/>
            <a:ext cx="5246821" cy="393926"/>
          </a:xfrm>
        </p:spPr>
        <p:txBody>
          <a:bodyPr>
            <a:noAutofit/>
          </a:body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Results | Sensitivity Analysis</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
        <p:nvSpPr>
          <p:cNvPr id="7" name="文本框 6">
            <a:extLst>
              <a:ext uri="{FF2B5EF4-FFF2-40B4-BE49-F238E27FC236}">
                <a16:creationId xmlns:a16="http://schemas.microsoft.com/office/drawing/2014/main" id="{B460421B-234E-4CB4-A09C-1519AB2E1711}"/>
              </a:ext>
            </a:extLst>
          </p:cNvPr>
          <p:cNvSpPr txBox="1"/>
          <p:nvPr/>
        </p:nvSpPr>
        <p:spPr>
          <a:xfrm>
            <a:off x="1339753" y="3511544"/>
            <a:ext cx="2657231"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(a) accuracy changes</a:t>
            </a:r>
            <a:endParaRPr lang="zh-CN" altLang="en-US" sz="1200" dirty="0">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1C76EA26-2F8B-4D56-847A-D095EC5A8F7E}"/>
              </a:ext>
            </a:extLst>
          </p:cNvPr>
          <p:cNvSpPr txBox="1"/>
          <p:nvPr/>
        </p:nvSpPr>
        <p:spPr>
          <a:xfrm>
            <a:off x="4529015" y="3511544"/>
            <a:ext cx="2657231"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(b) F1 score changes</a:t>
            </a:r>
            <a:endParaRPr lang="zh-CN" altLang="en-US" sz="1200"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4710FC72-1C2F-45BD-BADA-906B3A6AF4CC}"/>
              </a:ext>
            </a:extLst>
          </p:cNvPr>
          <p:cNvSpPr txBox="1"/>
          <p:nvPr/>
        </p:nvSpPr>
        <p:spPr>
          <a:xfrm>
            <a:off x="816867" y="4014848"/>
            <a:ext cx="7721601" cy="615553"/>
          </a:xfrm>
          <a:prstGeom prst="rect">
            <a:avLst/>
          </a:prstGeom>
          <a:noFill/>
        </p:spPr>
        <p:txBody>
          <a:bodyPr wrap="square">
            <a:spAutoFit/>
          </a:bodyPr>
          <a:lstStyle/>
          <a:p>
            <a:r>
              <a:rPr lang="en-US" altLang="zh-CN" b="1" dirty="0">
                <a:latin typeface="Arial" panose="020B0604020202020204" pitchFamily="34" charset="0"/>
                <a:cs typeface="Arial" panose="020B0604020202020204" pitchFamily="34" charset="0"/>
              </a:rPr>
              <a:t>Best performance model</a:t>
            </a:r>
            <a:r>
              <a:rPr lang="en-US" altLang="zh-CN" dirty="0">
                <a:latin typeface="Arial" panose="020B0604020202020204" pitchFamily="34" charset="0"/>
                <a:cs typeface="Arial" panose="020B0604020202020204" pitchFamily="34" charset="0"/>
              </a:rPr>
              <a:t>: random forest with four features </a:t>
            </a:r>
          </a:p>
          <a:p>
            <a:r>
              <a:rPr lang="en-US" altLang="zh-CN" sz="1600" dirty="0">
                <a:latin typeface="Arial" panose="020B0604020202020204" pitchFamily="34" charset="0"/>
                <a:cs typeface="Arial" panose="020B0604020202020204" pitchFamily="34" charset="0"/>
              </a:rPr>
              <a:t>(opacity front, hue front, hue back, opacity back)</a:t>
            </a:r>
            <a:endParaRPr lang="zh-CN"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001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EE1B150-9CEA-45DC-AD27-EA0E07B4D678}"/>
              </a:ext>
            </a:extLst>
          </p:cNvPr>
          <p:cNvPicPr>
            <a:picLocks noChangeAspect="1"/>
          </p:cNvPicPr>
          <p:nvPr/>
        </p:nvPicPr>
        <p:blipFill>
          <a:blip r:embed="rId5"/>
          <a:stretch>
            <a:fillRect/>
          </a:stretch>
        </p:blipFill>
        <p:spPr>
          <a:xfrm>
            <a:off x="3952044" y="1547430"/>
            <a:ext cx="4823537" cy="1578935"/>
          </a:xfrm>
          <a:prstGeom prst="rect">
            <a:avLst/>
          </a:prstGeom>
        </p:spPr>
      </p:pic>
      <p:pic>
        <p:nvPicPr>
          <p:cNvPr id="2" name="v1">
            <a:hlinkClick r:id="" action="ppaction://media"/>
            <a:extLst>
              <a:ext uri="{FF2B5EF4-FFF2-40B4-BE49-F238E27FC236}">
                <a16:creationId xmlns:a16="http://schemas.microsoft.com/office/drawing/2014/main" id="{93D7B9CB-4DF8-4298-8011-36B6B49873D7}"/>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65872" y="1306601"/>
            <a:ext cx="2891493" cy="2312624"/>
          </a:xfrm>
          <a:prstGeom prst="rect">
            <a:avLst/>
          </a:prstGeom>
          <a:ln>
            <a:solidFill>
              <a:schemeClr val="bg1">
                <a:lumMod val="85000"/>
              </a:schemeClr>
            </a:solidFill>
          </a:ln>
        </p:spPr>
      </p:pic>
      <p:sp>
        <p:nvSpPr>
          <p:cNvPr id="7" name="タイトル 1">
            <a:extLst>
              <a:ext uri="{FF2B5EF4-FFF2-40B4-BE49-F238E27FC236}">
                <a16:creationId xmlns:a16="http://schemas.microsoft.com/office/drawing/2014/main" id="{47874ED8-2447-478A-ABC2-806B92660756}"/>
              </a:ext>
            </a:extLst>
          </p:cNvPr>
          <p:cNvSpPr>
            <a:spLocks noGrp="1"/>
          </p:cNvSpPr>
          <p:nvPr>
            <p:ph type="title"/>
          </p:nvPr>
        </p:nvSpPr>
        <p:spPr>
          <a:xfrm>
            <a:off x="591271" y="449669"/>
            <a:ext cx="5246821" cy="393926"/>
          </a:xfrm>
        </p:spPr>
        <p:txBody>
          <a:bodyPr>
            <a:noAutofit/>
          </a:body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Results | </a:t>
            </a:r>
            <a:r>
              <a:rPr lang="en-US" altLang="zh-CN" sz="2400" b="1" dirty="0">
                <a:latin typeface="Arial" panose="020B0604020202020204" pitchFamily="34" charset="0"/>
                <a:cs typeface="Arial" panose="020B0604020202020204" pitchFamily="34" charset="0"/>
              </a:rPr>
              <a:t>Design Tool</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672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13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730B93-1CA2-42B5-9C81-C5F9B678B32E}"/>
              </a:ext>
            </a:extLst>
          </p:cNvPr>
          <p:cNvSpPr>
            <a:spLocks noGrp="1"/>
          </p:cNvSpPr>
          <p:nvPr>
            <p:ph idx="1"/>
          </p:nvPr>
        </p:nvSpPr>
        <p:spPr>
          <a:xfrm>
            <a:off x="718527" y="1357494"/>
            <a:ext cx="7886700" cy="3499767"/>
          </a:xfrm>
        </p:spPr>
        <p:txBody>
          <a:bodyPr/>
          <a:lstStyle/>
          <a:p>
            <a:pPr>
              <a:lnSpc>
                <a:spcPct val="200000"/>
              </a:lnSpc>
            </a:pPr>
            <a:r>
              <a:rPr lang="en-US" altLang="zh-CN" b="1" dirty="0">
                <a:solidFill>
                  <a:schemeClr val="bg1">
                    <a:lumMod val="65000"/>
                  </a:schemeClr>
                </a:solidFill>
                <a:latin typeface="Arial" panose="020B0604020202020204" pitchFamily="34" charset="0"/>
                <a:cs typeface="Arial" panose="020B0604020202020204" pitchFamily="34" charset="0"/>
              </a:rPr>
              <a:t>Inferential Analyses</a:t>
            </a:r>
          </a:p>
          <a:p>
            <a:pPr>
              <a:lnSpc>
                <a:spcPct val="200000"/>
              </a:lnSpc>
            </a:pPr>
            <a:r>
              <a:rPr lang="en-US" altLang="zh-CN" b="1" dirty="0">
                <a:solidFill>
                  <a:schemeClr val="bg1">
                    <a:lumMod val="65000"/>
                  </a:schemeClr>
                </a:solidFill>
                <a:latin typeface="Arial" panose="020B0604020202020204" pitchFamily="34" charset="0"/>
                <a:cs typeface="Arial" panose="020B0604020202020204" pitchFamily="34" charset="0"/>
              </a:rPr>
              <a:t>Predictive Analyses</a:t>
            </a:r>
          </a:p>
          <a:p>
            <a:pPr>
              <a:lnSpc>
                <a:spcPct val="200000"/>
              </a:lnSpc>
            </a:pPr>
            <a:r>
              <a:rPr lang="en-US" altLang="zh-CN" sz="2000" b="1" dirty="0">
                <a:latin typeface="Arial" panose="020B0604020202020204" pitchFamily="34" charset="0"/>
                <a:cs typeface="Arial" panose="020B0604020202020204" pitchFamily="34" charset="0"/>
              </a:rPr>
              <a:t>Exploratory</a:t>
            </a:r>
            <a:r>
              <a:rPr lang="en-US" altLang="zh-CN" b="1" dirty="0">
                <a:latin typeface="Arial" panose="020B0604020202020204" pitchFamily="34" charset="0"/>
                <a:cs typeface="Arial" panose="020B0604020202020204" pitchFamily="34" charset="0"/>
              </a:rPr>
              <a:t> Analyses</a:t>
            </a:r>
          </a:p>
        </p:txBody>
      </p:sp>
    </p:spTree>
    <p:extLst>
      <p:ext uri="{BB962C8B-B14F-4D97-AF65-F5344CB8AC3E}">
        <p14:creationId xmlns:p14="http://schemas.microsoft.com/office/powerpoint/2010/main" val="185640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4663277-263C-4D55-B488-12D5FA05DFBA}"/>
              </a:ext>
            </a:extLst>
          </p:cNvPr>
          <p:cNvPicPr>
            <a:picLocks noChangeAspect="1"/>
          </p:cNvPicPr>
          <p:nvPr/>
        </p:nvPicPr>
        <p:blipFill>
          <a:blip r:embed="rId3">
            <a:clrChange>
              <a:clrFrom>
                <a:srgbClr val="FEFEFE"/>
              </a:clrFrom>
              <a:clrTo>
                <a:srgbClr val="FEFEFE">
                  <a:alpha val="0"/>
                </a:srgbClr>
              </a:clrTo>
            </a:clrChange>
          </a:blip>
          <a:stretch>
            <a:fillRect/>
          </a:stretch>
        </p:blipFill>
        <p:spPr>
          <a:xfrm>
            <a:off x="726915" y="949662"/>
            <a:ext cx="5259444" cy="1911397"/>
          </a:xfrm>
          <a:prstGeom prst="rect">
            <a:avLst/>
          </a:prstGeom>
        </p:spPr>
      </p:pic>
      <p:pic>
        <p:nvPicPr>
          <p:cNvPr id="9" name="图片 8">
            <a:extLst>
              <a:ext uri="{FF2B5EF4-FFF2-40B4-BE49-F238E27FC236}">
                <a16:creationId xmlns:a16="http://schemas.microsoft.com/office/drawing/2014/main" id="{0A56C1BE-D3DD-411A-BD4E-A0E68C121CF2}"/>
              </a:ext>
            </a:extLst>
          </p:cNvPr>
          <p:cNvPicPr>
            <a:picLocks noChangeAspect="1"/>
          </p:cNvPicPr>
          <p:nvPr/>
        </p:nvPicPr>
        <p:blipFill>
          <a:blip r:embed="rId4">
            <a:clrChange>
              <a:clrFrom>
                <a:srgbClr val="FEFEFE"/>
              </a:clrFrom>
              <a:clrTo>
                <a:srgbClr val="FEFEFE">
                  <a:alpha val="0"/>
                </a:srgbClr>
              </a:clrTo>
            </a:clrChange>
          </a:blip>
          <a:stretch>
            <a:fillRect/>
          </a:stretch>
        </p:blipFill>
        <p:spPr>
          <a:xfrm>
            <a:off x="726915" y="3003662"/>
            <a:ext cx="5259414" cy="1861078"/>
          </a:xfrm>
          <a:prstGeom prst="rect">
            <a:avLst/>
          </a:prstGeom>
        </p:spPr>
      </p:pic>
      <p:sp>
        <p:nvSpPr>
          <p:cNvPr id="11" name="文本框 10">
            <a:extLst>
              <a:ext uri="{FF2B5EF4-FFF2-40B4-BE49-F238E27FC236}">
                <a16:creationId xmlns:a16="http://schemas.microsoft.com/office/drawing/2014/main" id="{07824B4B-F2D7-4EB9-98C0-D3F12C158E9A}"/>
              </a:ext>
            </a:extLst>
          </p:cNvPr>
          <p:cNvSpPr txBox="1"/>
          <p:nvPr/>
        </p:nvSpPr>
        <p:spPr>
          <a:xfrm>
            <a:off x="6483029" y="1548949"/>
            <a:ext cx="2009707" cy="584775"/>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Lightness has minimal influence</a:t>
            </a:r>
          </a:p>
        </p:txBody>
      </p:sp>
      <p:sp>
        <p:nvSpPr>
          <p:cNvPr id="12" name="文本框 11">
            <a:extLst>
              <a:ext uri="{FF2B5EF4-FFF2-40B4-BE49-F238E27FC236}">
                <a16:creationId xmlns:a16="http://schemas.microsoft.com/office/drawing/2014/main" id="{53A616D9-ED94-407F-BE48-099594CBD4CD}"/>
              </a:ext>
            </a:extLst>
          </p:cNvPr>
          <p:cNvSpPr txBox="1"/>
          <p:nvPr/>
        </p:nvSpPr>
        <p:spPr>
          <a:xfrm>
            <a:off x="6483029" y="3322662"/>
            <a:ext cx="2009707" cy="584775"/>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Saturation has minimal influence</a:t>
            </a:r>
          </a:p>
        </p:txBody>
      </p:sp>
    </p:spTree>
    <p:extLst>
      <p:ext uri="{BB962C8B-B14F-4D97-AF65-F5344CB8AC3E}">
        <p14:creationId xmlns:p14="http://schemas.microsoft.com/office/powerpoint/2010/main" val="3557845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705B139-43A6-454A-B4CC-30FBC34519B9}"/>
              </a:ext>
            </a:extLst>
          </p:cNvPr>
          <p:cNvSpPr txBox="1"/>
          <p:nvPr/>
        </p:nvSpPr>
        <p:spPr>
          <a:xfrm>
            <a:off x="692150" y="1135787"/>
            <a:ext cx="7419975" cy="2719847"/>
          </a:xfrm>
          <a:prstGeom prst="rect">
            <a:avLst/>
          </a:prstGeom>
          <a:noFill/>
        </p:spPr>
        <p:txBody>
          <a:bodyPr wrap="square">
            <a:spAutoFit/>
          </a:bodyPr>
          <a:lstStyle/>
          <a:p>
            <a:pPr marL="342900" indent="-342900">
              <a:lnSpc>
                <a:spcPts val="2300"/>
              </a:lnSpc>
              <a:buClr>
                <a:schemeClr val="tx1"/>
              </a:buClr>
              <a:buFont typeface="+mj-lt"/>
              <a:buAutoNum type="arabicPeriod"/>
            </a:pPr>
            <a:r>
              <a:rPr lang="en-US" altLang="zh-CN" sz="1600" b="1" dirty="0">
                <a:solidFill>
                  <a:srgbClr val="0059FF"/>
                </a:solidFill>
                <a:latin typeface="Calibri" panose="020F0502020204030204" pitchFamily="34" charset="0"/>
                <a:ea typeface="Calibri" panose="020F0502020204030204" pitchFamily="34" charset="0"/>
                <a:cs typeface="Calibri" panose="020F0502020204030204" pitchFamily="34" charset="0"/>
              </a:rPr>
              <a:t>B</a:t>
            </a:r>
            <a:r>
              <a:rPr lang="zh-CN" altLang="en-US" sz="1600" b="1" dirty="0">
                <a:solidFill>
                  <a:srgbClr val="0059FF"/>
                </a:solidFill>
                <a:latin typeface="Calibri" panose="020F0502020204030204" pitchFamily="34" charset="0"/>
                <a:cs typeface="Calibri" panose="020F0502020204030204" pitchFamily="34" charset="0"/>
              </a:rPr>
              <a:t>lue</a:t>
            </a:r>
            <a:r>
              <a:rPr lang="zh-CN" altLang="en-US" sz="1600" dirty="0">
                <a:solidFill>
                  <a:srgbClr val="0059FF"/>
                </a:solidFill>
                <a:latin typeface="Calibri" panose="020F0502020204030204" pitchFamily="34" charset="0"/>
                <a:cs typeface="Calibri" panose="020F0502020204030204" pitchFamily="34" charset="0"/>
              </a:rPr>
              <a:t> </a:t>
            </a:r>
            <a:r>
              <a:rPr lang="zh-CN" altLang="en-US" sz="1600" dirty="0">
                <a:latin typeface="Calibri" panose="020F0502020204030204" pitchFamily="34" charset="0"/>
                <a:cs typeface="Calibri" panose="020F0502020204030204" pitchFamily="34" charset="0"/>
              </a:rPr>
              <a:t>and </a:t>
            </a:r>
            <a:r>
              <a:rPr lang="zh-CN" altLang="en-US" sz="1600" b="1" dirty="0">
                <a:solidFill>
                  <a:srgbClr val="FFAAD1"/>
                </a:solidFill>
                <a:latin typeface="Calibri" panose="020F0502020204030204" pitchFamily="34" charset="0"/>
                <a:cs typeface="Calibri" panose="020F0502020204030204" pitchFamily="34" charset="0"/>
              </a:rPr>
              <a:t>pink</a:t>
            </a:r>
            <a:r>
              <a:rPr lang="zh-CN" altLang="en-US" sz="1600" dirty="0">
                <a:latin typeface="Calibri" panose="020F0502020204030204" pitchFamily="34" charset="0"/>
                <a:cs typeface="Calibri" panose="020F0502020204030204" pitchFamily="34" charset="0"/>
              </a:rPr>
              <a:t> (or </a:t>
            </a:r>
            <a:r>
              <a:rPr lang="zh-CN" altLang="en-US" sz="1600" b="1" dirty="0">
                <a:solidFill>
                  <a:srgbClr val="FFF500"/>
                </a:solidFill>
                <a:latin typeface="Calibri" panose="020F0502020204030204" pitchFamily="34" charset="0"/>
                <a:cs typeface="Calibri" panose="020F0502020204030204" pitchFamily="34" charset="0"/>
              </a:rPr>
              <a:t>yellow</a:t>
            </a:r>
            <a:r>
              <a:rPr lang="zh-CN" altLang="en-US" sz="1600" dirty="0">
                <a:latin typeface="Calibri" panose="020F0502020204030204" pitchFamily="34" charset="0"/>
                <a:cs typeface="Calibri" panose="020F0502020204030204" pitchFamily="34" charset="0"/>
              </a:rPr>
              <a:t>) can be considered a priority in selecting colors for depth order perception tasks in the </a:t>
            </a:r>
            <a:r>
              <a:rPr lang="zh-CN" altLang="en-US" sz="1600" b="1" dirty="0">
                <a:latin typeface="Calibri" panose="020F0502020204030204" pitchFamily="34" charset="0"/>
                <a:cs typeface="Calibri" panose="020F0502020204030204" pitchFamily="34" charset="0"/>
              </a:rPr>
              <a:t>front</a:t>
            </a:r>
            <a:r>
              <a:rPr lang="zh-CN" altLang="en-US" sz="1600" dirty="0">
                <a:latin typeface="Calibri" panose="020F0502020204030204" pitchFamily="34" charset="0"/>
                <a:cs typeface="Calibri" panose="020F0502020204030204" pitchFamily="34" charset="0"/>
              </a:rPr>
              <a:t> and </a:t>
            </a:r>
            <a:r>
              <a:rPr lang="zh-CN" altLang="en-US" sz="1600" b="1" dirty="0">
                <a:latin typeface="Calibri" panose="020F0502020204030204" pitchFamily="34" charset="0"/>
                <a:cs typeface="Calibri" panose="020F0502020204030204" pitchFamily="34" charset="0"/>
              </a:rPr>
              <a:t>back</a:t>
            </a:r>
            <a:r>
              <a:rPr lang="zh-CN" altLang="en-US" sz="1600" dirty="0">
                <a:latin typeface="Calibri" panose="020F0502020204030204" pitchFamily="34" charset="0"/>
                <a:cs typeface="Calibri" panose="020F0502020204030204" pitchFamily="34" charset="0"/>
              </a:rPr>
              <a:t> layers, respectively.</a:t>
            </a:r>
            <a:endParaRPr lang="en-US" altLang="zh-CN" sz="1600" dirty="0">
              <a:latin typeface="Calibri" panose="020F0502020204030204" pitchFamily="34" charset="0"/>
              <a:ea typeface="Calibri" panose="020F0502020204030204" pitchFamily="34" charset="0"/>
              <a:cs typeface="Calibri" panose="020F0502020204030204" pitchFamily="34" charset="0"/>
            </a:endParaRPr>
          </a:p>
          <a:p>
            <a:pPr marL="342900" indent="-342900">
              <a:lnSpc>
                <a:spcPts val="2300"/>
              </a:lnSpc>
              <a:buClr>
                <a:schemeClr val="tx1"/>
              </a:buClr>
              <a:buFont typeface="+mj-lt"/>
              <a:buAutoNum type="arabicPeriod"/>
            </a:pPr>
            <a:r>
              <a:rPr lang="en-US" altLang="zh-CN" sz="1600" b="1" dirty="0">
                <a:solidFill>
                  <a:srgbClr val="1933F7"/>
                </a:solidFill>
                <a:latin typeface="Calibri" panose="020F0502020204030204" pitchFamily="34" charset="0"/>
                <a:ea typeface="Calibri" panose="020F0502020204030204" pitchFamily="34" charset="0"/>
                <a:cs typeface="Calibri" panose="020F0502020204030204" pitchFamily="34" charset="0"/>
              </a:rPr>
              <a:t>Cold</a:t>
            </a:r>
            <a:r>
              <a:rPr lang="en-US" altLang="zh-CN" sz="1600" dirty="0">
                <a:latin typeface="Calibri" panose="020F0502020204030204" pitchFamily="34" charset="0"/>
                <a:ea typeface="Calibri" panose="020F0502020204030204" pitchFamily="34" charset="0"/>
                <a:cs typeface="Calibri" panose="020F0502020204030204" pitchFamily="34" charset="0"/>
              </a:rPr>
              <a:t> colors can be used for the front layer and </a:t>
            </a:r>
            <a:r>
              <a:rPr lang="en-US" altLang="zh-CN" sz="1600" b="1" dirty="0">
                <a:solidFill>
                  <a:srgbClr val="FF3300"/>
                </a:solidFill>
                <a:latin typeface="Calibri" panose="020F0502020204030204" pitchFamily="34" charset="0"/>
                <a:ea typeface="Calibri" panose="020F0502020204030204" pitchFamily="34" charset="0"/>
                <a:cs typeface="Calibri" panose="020F0502020204030204" pitchFamily="34" charset="0"/>
              </a:rPr>
              <a:t>warm</a:t>
            </a:r>
            <a:r>
              <a:rPr lang="en-US" altLang="zh-CN" sz="1600" dirty="0">
                <a:latin typeface="Calibri" panose="020F0502020204030204" pitchFamily="34" charset="0"/>
                <a:ea typeface="Calibri" panose="020F0502020204030204" pitchFamily="34" charset="0"/>
                <a:cs typeface="Calibri" panose="020F0502020204030204" pitchFamily="34" charset="0"/>
              </a:rPr>
              <a:t> colors for the back layer, except </a:t>
            </a:r>
            <a:r>
              <a:rPr lang="en-US" altLang="zh-CN" sz="1600" b="1" dirty="0">
                <a:solidFill>
                  <a:srgbClr val="FF150F"/>
                </a:solidFill>
                <a:latin typeface="Calibri" panose="020F0502020204030204" pitchFamily="34" charset="0"/>
                <a:ea typeface="Calibri" panose="020F0502020204030204" pitchFamily="34" charset="0"/>
                <a:cs typeface="Calibri" panose="020F0502020204030204" pitchFamily="34" charset="0"/>
              </a:rPr>
              <a:t>red</a:t>
            </a:r>
            <a:r>
              <a:rPr lang="en-US" altLang="zh-CN" sz="1600" dirty="0">
                <a:latin typeface="Calibri" panose="020F0502020204030204" pitchFamily="34" charset="0"/>
                <a:ea typeface="Calibri" panose="020F0502020204030204" pitchFamily="34" charset="0"/>
                <a:cs typeface="Calibri" panose="020F0502020204030204" pitchFamily="34" charset="0"/>
              </a:rPr>
              <a:t> and </a:t>
            </a:r>
            <a:r>
              <a:rPr lang="en-US" altLang="zh-CN" sz="1600" b="1" dirty="0">
                <a:solidFill>
                  <a:srgbClr val="8C3BA0"/>
                </a:solidFill>
                <a:latin typeface="Calibri" panose="020F0502020204030204" pitchFamily="34" charset="0"/>
                <a:ea typeface="Calibri" panose="020F0502020204030204" pitchFamily="34" charset="0"/>
                <a:cs typeface="Calibri" panose="020F0502020204030204" pitchFamily="34" charset="0"/>
              </a:rPr>
              <a:t>purple</a:t>
            </a:r>
            <a:r>
              <a:rPr lang="en-US" altLang="zh-CN" sz="1600" dirty="0">
                <a:latin typeface="Calibri" panose="020F0502020204030204" pitchFamily="34" charset="0"/>
                <a:ea typeface="Calibri" panose="020F0502020204030204" pitchFamily="34" charset="0"/>
                <a:cs typeface="Calibri" panose="020F0502020204030204" pitchFamily="34" charset="0"/>
              </a:rPr>
              <a:t>.</a:t>
            </a:r>
          </a:p>
          <a:p>
            <a:pPr marL="342900" indent="-342900">
              <a:lnSpc>
                <a:spcPts val="2300"/>
              </a:lnSpc>
              <a:buClr>
                <a:schemeClr val="tx1"/>
              </a:buClr>
              <a:buFont typeface="+mj-lt"/>
              <a:buAutoNum type="arabicPeriod"/>
            </a:pPr>
            <a:r>
              <a:rPr lang="en-US" altLang="zh-CN" sz="1600" b="1" dirty="0">
                <a:latin typeface="Calibri" panose="020F0502020204030204" pitchFamily="34" charset="0"/>
                <a:ea typeface="Calibri" panose="020F0502020204030204" pitchFamily="34" charset="0"/>
                <a:cs typeface="Calibri" panose="020F0502020204030204" pitchFamily="34" charset="0"/>
              </a:rPr>
              <a:t>Front</a:t>
            </a:r>
            <a:r>
              <a:rPr lang="en-US" altLang="zh-CN" sz="1600" dirty="0">
                <a:latin typeface="Calibri" panose="020F0502020204030204" pitchFamily="34" charset="0"/>
                <a:ea typeface="Calibri" panose="020F0502020204030204" pitchFamily="34" charset="0"/>
                <a:cs typeface="Calibri" panose="020F0502020204030204" pitchFamily="34" charset="0"/>
              </a:rPr>
              <a:t> layers should be assigned to </a:t>
            </a:r>
            <a:r>
              <a:rPr lang="en-US" altLang="zh-CN" sz="1600" b="1" dirty="0">
                <a:latin typeface="Calibri" panose="020F0502020204030204" pitchFamily="34" charset="0"/>
                <a:ea typeface="Calibri" panose="020F0502020204030204" pitchFamily="34" charset="0"/>
                <a:cs typeface="Calibri" panose="020F0502020204030204" pitchFamily="34" charset="0"/>
              </a:rPr>
              <a:t>higher</a:t>
            </a:r>
            <a:r>
              <a:rPr lang="en-US" altLang="zh-CN" sz="1600" dirty="0">
                <a:latin typeface="Calibri" panose="020F0502020204030204" pitchFamily="34" charset="0"/>
                <a:ea typeface="Calibri" panose="020F0502020204030204" pitchFamily="34" charset="0"/>
                <a:cs typeface="Calibri" panose="020F0502020204030204" pitchFamily="34" charset="0"/>
              </a:rPr>
              <a:t> opacity, while </a:t>
            </a:r>
            <a:r>
              <a:rPr lang="en-US" altLang="zh-CN" sz="1600" b="1" dirty="0">
                <a:latin typeface="Calibri" panose="020F0502020204030204" pitchFamily="34" charset="0"/>
                <a:ea typeface="Calibri" panose="020F0502020204030204" pitchFamily="34" charset="0"/>
                <a:cs typeface="Calibri" panose="020F0502020204030204" pitchFamily="34" charset="0"/>
              </a:rPr>
              <a:t>back</a:t>
            </a:r>
            <a:r>
              <a:rPr lang="en-US" altLang="zh-CN" sz="1600" dirty="0">
                <a:latin typeface="Calibri" panose="020F0502020204030204" pitchFamily="34" charset="0"/>
                <a:ea typeface="Calibri" panose="020F0502020204030204" pitchFamily="34" charset="0"/>
                <a:cs typeface="Calibri" panose="020F0502020204030204" pitchFamily="34" charset="0"/>
              </a:rPr>
              <a:t> layers should be assigned to </a:t>
            </a:r>
            <a:r>
              <a:rPr lang="en-US" altLang="zh-CN" sz="1600" b="1" dirty="0">
                <a:latin typeface="Calibri" panose="020F0502020204030204" pitchFamily="34" charset="0"/>
                <a:ea typeface="Calibri" panose="020F0502020204030204" pitchFamily="34" charset="0"/>
                <a:cs typeface="Calibri" panose="020F0502020204030204" pitchFamily="34" charset="0"/>
              </a:rPr>
              <a:t>lower</a:t>
            </a:r>
            <a:r>
              <a:rPr lang="en-US" altLang="zh-CN" sz="1600" dirty="0">
                <a:latin typeface="Calibri" panose="020F0502020204030204" pitchFamily="34" charset="0"/>
                <a:ea typeface="Calibri" panose="020F0502020204030204" pitchFamily="34" charset="0"/>
                <a:cs typeface="Calibri" panose="020F0502020204030204" pitchFamily="34" charset="0"/>
              </a:rPr>
              <a:t> opacity.</a:t>
            </a:r>
            <a:endParaRPr lang="en-US" altLang="zh-CN" sz="1600" b="1" dirty="0">
              <a:latin typeface="Calibri" panose="020F0502020204030204" pitchFamily="34" charset="0"/>
              <a:ea typeface="Calibri" panose="020F0502020204030204" pitchFamily="34" charset="0"/>
              <a:cs typeface="Calibri" panose="020F0502020204030204" pitchFamily="34" charset="0"/>
            </a:endParaRPr>
          </a:p>
          <a:p>
            <a:pPr marL="342900" indent="-342900">
              <a:lnSpc>
                <a:spcPts val="2300"/>
              </a:lnSpc>
              <a:buFont typeface="+mj-lt"/>
              <a:buAutoNum type="arabicPeriod"/>
            </a:pPr>
            <a:r>
              <a:rPr lang="en-US" altLang="zh-CN" sz="1600" dirty="0">
                <a:latin typeface="Calibri" panose="020F0502020204030204" pitchFamily="34" charset="0"/>
                <a:ea typeface="Calibri" panose="020F0502020204030204" pitchFamily="34" charset="0"/>
                <a:cs typeface="Calibri" panose="020F0502020204030204" pitchFamily="34" charset="0"/>
              </a:rPr>
              <a:t>In applications that require frequently adjusting opacity levels—such as medical imaging for exploring different organ structures—using colors like </a:t>
            </a:r>
            <a:r>
              <a:rPr lang="en-US" altLang="zh-CN" sz="1600" b="1" dirty="0">
                <a:solidFill>
                  <a:srgbClr val="FF150F"/>
                </a:solidFill>
                <a:latin typeface="Calibri" panose="020F0502020204030204" pitchFamily="34" charset="0"/>
                <a:ea typeface="Calibri" panose="020F0502020204030204" pitchFamily="34" charset="0"/>
                <a:cs typeface="Calibri" panose="020F0502020204030204" pitchFamily="34" charset="0"/>
              </a:rPr>
              <a:t>red</a:t>
            </a:r>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59FF"/>
                </a:solidFill>
                <a:latin typeface="Calibri" panose="020F0502020204030204" pitchFamily="34" charset="0"/>
                <a:ea typeface="Calibri" panose="020F0502020204030204" pitchFamily="34" charset="0"/>
                <a:cs typeface="Calibri" panose="020F0502020204030204" pitchFamily="34" charset="0"/>
              </a:rPr>
              <a:t>blue</a:t>
            </a:r>
            <a:r>
              <a:rPr lang="en-US" altLang="zh-CN" sz="1600" dirty="0">
                <a:latin typeface="Calibri" panose="020F0502020204030204" pitchFamily="34" charset="0"/>
                <a:ea typeface="Calibri" panose="020F0502020204030204" pitchFamily="34" charset="0"/>
                <a:cs typeface="Calibri" panose="020F0502020204030204" pitchFamily="34" charset="0"/>
              </a:rPr>
              <a:t> and </a:t>
            </a:r>
            <a:r>
              <a:rPr lang="en-US" altLang="zh-CN" sz="1600" b="1" dirty="0">
                <a:solidFill>
                  <a:srgbClr val="31B52F"/>
                </a:solidFill>
                <a:latin typeface="Calibri" panose="020F0502020204030204" pitchFamily="34" charset="0"/>
                <a:ea typeface="Calibri" panose="020F0502020204030204" pitchFamily="34" charset="0"/>
                <a:cs typeface="Calibri" panose="020F0502020204030204" pitchFamily="34" charset="0"/>
              </a:rPr>
              <a:t>green</a:t>
            </a:r>
            <a:r>
              <a:rPr lang="en-US" altLang="zh-CN" sz="1600" b="1" dirty="0">
                <a:latin typeface="Calibri" panose="020F0502020204030204" pitchFamily="34" charset="0"/>
                <a:ea typeface="Calibri" panose="020F0502020204030204" pitchFamily="34" charset="0"/>
                <a:cs typeface="Calibri" panose="020F0502020204030204" pitchFamily="34" charset="0"/>
              </a:rPr>
              <a:t> </a:t>
            </a:r>
            <a:r>
              <a:rPr lang="en-US" altLang="zh-CN" sz="1600" dirty="0">
                <a:latin typeface="Calibri" panose="020F0502020204030204" pitchFamily="34" charset="0"/>
                <a:ea typeface="Calibri" panose="020F0502020204030204" pitchFamily="34" charset="0"/>
                <a:cs typeface="Calibri" panose="020F0502020204030204" pitchFamily="34" charset="0"/>
              </a:rPr>
              <a:t>can be more effective</a:t>
            </a:r>
            <a:r>
              <a:rPr lang="en-US" altLang="zh-CN" sz="1600" dirty="0">
                <a:latin typeface="Arial" panose="020B0604020202020204" pitchFamily="34" charset="0"/>
                <a:cs typeface="Arial" panose="020B0604020202020204" pitchFamily="34" charset="0"/>
              </a:rPr>
              <a:t>.</a:t>
            </a:r>
            <a:endParaRPr lang="zh-CN" altLang="en-US" sz="1600" dirty="0">
              <a:latin typeface="Arial" panose="020B0604020202020204" pitchFamily="34" charset="0"/>
              <a:cs typeface="Arial" panose="020B0604020202020204" pitchFamily="34" charset="0"/>
            </a:endParaRPr>
          </a:p>
        </p:txBody>
      </p:sp>
      <p:sp>
        <p:nvSpPr>
          <p:cNvPr id="4" name="タイトル 1">
            <a:extLst>
              <a:ext uri="{FF2B5EF4-FFF2-40B4-BE49-F238E27FC236}">
                <a16:creationId xmlns:a16="http://schemas.microsoft.com/office/drawing/2014/main" id="{6F6A4FAA-224E-4307-A7DF-ECC31EA4B5BC}"/>
              </a:ext>
            </a:extLst>
          </p:cNvPr>
          <p:cNvSpPr>
            <a:spLocks noGrp="1"/>
          </p:cNvSpPr>
          <p:nvPr>
            <p:ph type="title"/>
          </p:nvPr>
        </p:nvSpPr>
        <p:spPr>
          <a:xfrm>
            <a:off x="591271" y="449669"/>
            <a:ext cx="5246821" cy="393926"/>
          </a:xfrm>
        </p:spPr>
        <p:txBody>
          <a:bodyPr>
            <a:noAutofit/>
          </a:body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Design Guidelines</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032045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B92BEE4-ABFE-41AF-8820-6451644B1891}"/>
              </a:ext>
            </a:extLst>
          </p:cNvPr>
          <p:cNvPicPr>
            <a:picLocks noChangeAspect="1"/>
          </p:cNvPicPr>
          <p:nvPr/>
        </p:nvPicPr>
        <p:blipFill rotWithShape="1">
          <a:blip r:embed="rId3"/>
          <a:srcRect t="9215"/>
          <a:stretch/>
        </p:blipFill>
        <p:spPr>
          <a:xfrm>
            <a:off x="695667" y="1508368"/>
            <a:ext cx="7752666" cy="2222734"/>
          </a:xfrm>
          <a:prstGeom prst="rect">
            <a:avLst/>
          </a:prstGeom>
        </p:spPr>
      </p:pic>
      <p:sp>
        <p:nvSpPr>
          <p:cNvPr id="2" name="文本框 1">
            <a:extLst>
              <a:ext uri="{FF2B5EF4-FFF2-40B4-BE49-F238E27FC236}">
                <a16:creationId xmlns:a16="http://schemas.microsoft.com/office/drawing/2014/main" id="{8A7056D5-2782-4CEC-B43C-CE22ACFF6917}"/>
              </a:ext>
            </a:extLst>
          </p:cNvPr>
          <p:cNvSpPr txBox="1"/>
          <p:nvPr/>
        </p:nvSpPr>
        <p:spPr>
          <a:xfrm>
            <a:off x="797169" y="3725539"/>
            <a:ext cx="2227385"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(a) Bad design case</a:t>
            </a:r>
            <a:endParaRPr lang="zh-CN" altLang="en-US" sz="1200"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36CD200F-DE5C-424E-9669-CA99356E4755}"/>
              </a:ext>
            </a:extLst>
          </p:cNvPr>
          <p:cNvSpPr txBox="1"/>
          <p:nvPr/>
        </p:nvSpPr>
        <p:spPr>
          <a:xfrm>
            <a:off x="3356705" y="3725539"/>
            <a:ext cx="250483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(b) Still bad after adjusting opacity</a:t>
            </a:r>
            <a:endParaRPr lang="zh-CN" altLang="en-US" sz="1200"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537E5445-88B4-4B02-901A-1ED38FD5D530}"/>
              </a:ext>
            </a:extLst>
          </p:cNvPr>
          <p:cNvSpPr txBox="1"/>
          <p:nvPr/>
        </p:nvSpPr>
        <p:spPr>
          <a:xfrm>
            <a:off x="5927969" y="3725539"/>
            <a:ext cx="2594610"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(c) Easy to see the depth order</a:t>
            </a:r>
            <a:endParaRPr lang="zh-CN" altLang="en-US" sz="1200" dirty="0">
              <a:latin typeface="Arial" panose="020B0604020202020204" pitchFamily="34" charset="0"/>
              <a:cs typeface="Arial" panose="020B0604020202020204" pitchFamily="34" charset="0"/>
            </a:endParaRPr>
          </a:p>
        </p:txBody>
      </p:sp>
      <p:sp>
        <p:nvSpPr>
          <p:cNvPr id="7" name="タイトル 1">
            <a:extLst>
              <a:ext uri="{FF2B5EF4-FFF2-40B4-BE49-F238E27FC236}">
                <a16:creationId xmlns:a16="http://schemas.microsoft.com/office/drawing/2014/main" id="{8ABB0BC5-440E-4821-BCDA-F8A8F8FFF509}"/>
              </a:ext>
            </a:extLst>
          </p:cNvPr>
          <p:cNvSpPr>
            <a:spLocks noGrp="1"/>
          </p:cNvSpPr>
          <p:nvPr>
            <p:ph type="title"/>
          </p:nvPr>
        </p:nvSpPr>
        <p:spPr>
          <a:xfrm>
            <a:off x="591271" y="449669"/>
            <a:ext cx="5246821" cy="393926"/>
          </a:xfrm>
        </p:spPr>
        <p:txBody>
          <a:bodyPr>
            <a:noAutofit/>
          </a:bodyPr>
          <a:lstStyle/>
          <a:p>
            <a:r>
              <a:rPr lang="en-US" altLang="ja-JP" sz="2400" b="1" dirty="0">
                <a:latin typeface="Arial" panose="020B0604020202020204" pitchFamily="34" charset="0"/>
                <a:ea typeface="微软雅黑" panose="020B0503020204020204" pitchFamily="34" charset="-122"/>
                <a:cs typeface="Arial" panose="020B0604020202020204" pitchFamily="34" charset="0"/>
              </a:rPr>
              <a:t>Practical Application</a:t>
            </a:r>
            <a:endParaRPr lang="ja-JP" altLang="en-US" sz="24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267724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D54A5AD-56F9-40A9-927E-7EFC3883464F}"/>
              </a:ext>
            </a:extLst>
          </p:cNvPr>
          <p:cNvSpPr txBox="1"/>
          <p:nvPr/>
        </p:nvSpPr>
        <p:spPr>
          <a:xfrm>
            <a:off x="795098" y="1626080"/>
            <a:ext cx="5729288" cy="646331"/>
          </a:xfrm>
          <a:prstGeom prst="rect">
            <a:avLst/>
          </a:prstGeom>
          <a:noFill/>
        </p:spPr>
        <p:txBody>
          <a:bodyPr wrap="square" rtlCol="0">
            <a:spAutoFit/>
          </a:bodyPr>
          <a:lstStyle/>
          <a:p>
            <a:pPr algn="ctr"/>
            <a:r>
              <a:rPr lang="en-US" altLang="zh-CN" sz="3600" b="1" dirty="0">
                <a:latin typeface="Arial" panose="020B0604020202020204" pitchFamily="34" charset="0"/>
                <a:cs typeface="Arial" panose="020B0604020202020204" pitchFamily="34" charset="0"/>
              </a:rPr>
              <a:t>Thanks for your attention!</a:t>
            </a:r>
            <a:endParaRPr lang="zh-CN" altLang="en-US" sz="3600" b="1" dirty="0">
              <a:latin typeface="Arial" panose="020B0604020202020204" pitchFamily="34" charset="0"/>
              <a:cs typeface="Arial" panose="020B0604020202020204" pitchFamily="34" charset="0"/>
            </a:endParaRPr>
          </a:p>
        </p:txBody>
      </p:sp>
      <p:pic>
        <p:nvPicPr>
          <p:cNvPr id="4" name="Picture 3" descr="图片 13">
            <a:extLst>
              <a:ext uri="{FF2B5EF4-FFF2-40B4-BE49-F238E27FC236}">
                <a16:creationId xmlns:a16="http://schemas.microsoft.com/office/drawing/2014/main" id="{CE28F082-2D58-4734-9342-F9DCF9341F5B}"/>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232"/>
          <a:stretch/>
        </p:blipFill>
        <p:spPr bwMode="auto">
          <a:xfrm>
            <a:off x="628650" y="113518"/>
            <a:ext cx="425928" cy="424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2" descr="logo">
            <a:extLst>
              <a:ext uri="{FF2B5EF4-FFF2-40B4-BE49-F238E27FC236}">
                <a16:creationId xmlns:a16="http://schemas.microsoft.com/office/drawing/2014/main" id="{255482FA-BAFE-4AC7-81F3-04F9DFC5EA7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14863" y="102393"/>
            <a:ext cx="424411" cy="4244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校徽">
            <a:extLst>
              <a:ext uri="{FF2B5EF4-FFF2-40B4-BE49-F238E27FC236}">
                <a16:creationId xmlns:a16="http://schemas.microsoft.com/office/drawing/2014/main" id="{8E68FD0D-B7A8-422E-9744-583BF8923815}"/>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9559" y="113518"/>
            <a:ext cx="424411" cy="424411"/>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179F2F60-5768-49D0-A976-0DD73185C0F0}"/>
              </a:ext>
            </a:extLst>
          </p:cNvPr>
          <p:cNvSpPr txBox="1"/>
          <p:nvPr/>
        </p:nvSpPr>
        <p:spPr>
          <a:xfrm>
            <a:off x="216301" y="2518191"/>
            <a:ext cx="6252867" cy="705962"/>
          </a:xfrm>
          <a:prstGeom prst="rect">
            <a:avLst/>
          </a:prstGeom>
          <a:noFill/>
        </p:spPr>
        <p:txBody>
          <a:bodyPr wrap="square">
            <a:spAutoFit/>
          </a:bodyPr>
          <a:lstStyle/>
          <a:p>
            <a:pPr marL="57150" indent="0" algn="ctr">
              <a:lnSpc>
                <a:spcPts val="2500"/>
              </a:lnSpc>
              <a:buNone/>
            </a:pPr>
            <a:r>
              <a:rPr lang="en-US" altLang="zh-CN" dirty="0">
                <a:latin typeface="Arial" panose="020B0604020202020204" pitchFamily="34" charset="0"/>
                <a:cs typeface="Arial" panose="020B0604020202020204" pitchFamily="34" charset="0"/>
              </a:rPr>
              <a:t>More details and source code can be found on: </a:t>
            </a:r>
          </a:p>
          <a:p>
            <a:pPr marL="57150" indent="0" algn="ctr">
              <a:lnSpc>
                <a:spcPts val="2500"/>
              </a:lnSpc>
              <a:buNone/>
            </a:pPr>
            <a:r>
              <a:rPr lang="en-US" altLang="zh-CN" i="1" dirty="0">
                <a:latin typeface="Arial" panose="020B0604020202020204" pitchFamily="34" charset="0"/>
                <a:cs typeface="Arial" panose="020B0604020202020204" pitchFamily="34" charset="0"/>
              </a:rPr>
              <a:t>https://amesholland.github.io/DepthOrderStudy/</a:t>
            </a:r>
            <a:endParaRPr lang="zh-CN" altLang="en-US" i="1" dirty="0">
              <a:latin typeface="Arial" panose="020B0604020202020204" pitchFamily="34" charset="0"/>
              <a:cs typeface="Arial" panose="020B0604020202020204" pitchFamily="34" charset="0"/>
            </a:endParaRPr>
          </a:p>
        </p:txBody>
      </p:sp>
      <p:sp>
        <p:nvSpPr>
          <p:cNvPr id="9" name="Date Placeholder 3">
            <a:extLst>
              <a:ext uri="{FF2B5EF4-FFF2-40B4-BE49-F238E27FC236}">
                <a16:creationId xmlns:a16="http://schemas.microsoft.com/office/drawing/2014/main" id="{A63A59BA-41A4-4730-BFB7-69907F91B876}"/>
              </a:ext>
            </a:extLst>
          </p:cNvPr>
          <p:cNvSpPr txBox="1">
            <a:spLocks/>
          </p:cNvSpPr>
          <p:nvPr/>
        </p:nvSpPr>
        <p:spPr>
          <a:xfrm>
            <a:off x="628650" y="4767263"/>
            <a:ext cx="2057400" cy="273844"/>
          </a:xfrm>
          <a:prstGeom prst="rect">
            <a:avLst/>
          </a:prstGeom>
        </p:spPr>
        <p:txBody>
          <a:bodyPr/>
          <a:lstStyle>
            <a:defPPr>
              <a:defRPr lang="en-US"/>
            </a:defPPr>
            <a:lvl1pPr marL="0" algn="l" defTabSz="457200" rtl="0" eaLnBrk="1" latinLnBrk="0" hangingPunct="1">
              <a:defRPr sz="1800" kern="1200">
                <a:solidFill>
                  <a:schemeClr val="tx1"/>
                </a:solidFill>
                <a:latin typeface="Roboto" panose="02000000000000000000"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AD8388-E2C6-9548-A049-F9C0FE6CD708}" type="datetimeFigureOut">
              <a:rPr kumimoji="1" lang="ja-JP" altLang="en-US" smtClean="0"/>
              <a:pPr/>
              <a:t>2025/3/10</a:t>
            </a:fld>
            <a:endParaRPr kumimoji="1" lang="ja-JP" altLang="en-US"/>
          </a:p>
        </p:txBody>
      </p:sp>
      <p:sp>
        <p:nvSpPr>
          <p:cNvPr id="10" name="Footer Placeholder 4">
            <a:extLst>
              <a:ext uri="{FF2B5EF4-FFF2-40B4-BE49-F238E27FC236}">
                <a16:creationId xmlns:a16="http://schemas.microsoft.com/office/drawing/2014/main" id="{1FE7A8B1-CF54-449E-AED1-33A7713BC951}"/>
              </a:ext>
            </a:extLst>
          </p:cNvPr>
          <p:cNvSpPr>
            <a:spLocks noGrp="1"/>
          </p:cNvSpPr>
          <p:nvPr>
            <p:ph type="ftr" sz="quarter" idx="11"/>
          </p:nvPr>
        </p:nvSpPr>
        <p:spPr>
          <a:xfrm>
            <a:off x="3028950" y="4767263"/>
            <a:ext cx="3086100" cy="273844"/>
          </a:xfrm>
        </p:spPr>
        <p:txBody>
          <a:bodyPr/>
          <a:lstStyle>
            <a:lvl1pPr>
              <a:defRPr>
                <a:latin typeface="Roboto" panose="02000000000000000000" pitchFamily="2" charset="0"/>
              </a:defRPr>
            </a:lvl1pPr>
          </a:lstStyle>
          <a:p>
            <a:endParaRPr kumimoji="1" lang="ja-JP" altLang="en-US"/>
          </a:p>
        </p:txBody>
      </p:sp>
      <p:sp>
        <p:nvSpPr>
          <p:cNvPr id="11" name="Slide Number Placeholder 5">
            <a:extLst>
              <a:ext uri="{FF2B5EF4-FFF2-40B4-BE49-F238E27FC236}">
                <a16:creationId xmlns:a16="http://schemas.microsoft.com/office/drawing/2014/main" id="{FF23C990-500F-4CC7-93E5-1961E11E2B2F}"/>
              </a:ext>
            </a:extLst>
          </p:cNvPr>
          <p:cNvSpPr txBox="1">
            <a:spLocks/>
          </p:cNvSpPr>
          <p:nvPr/>
        </p:nvSpPr>
        <p:spPr>
          <a:xfrm>
            <a:off x="6457950" y="4767263"/>
            <a:ext cx="2057400" cy="273844"/>
          </a:xfrm>
          <a:prstGeom prst="rect">
            <a:avLst/>
          </a:prstGeom>
        </p:spPr>
        <p:txBody>
          <a:bodyPr/>
          <a:lstStyle>
            <a:defPPr>
              <a:defRPr lang="en-US"/>
            </a:defPPr>
            <a:lvl1pPr marL="0" algn="l" defTabSz="457200" rtl="0" eaLnBrk="1" latinLnBrk="0" hangingPunct="1">
              <a:defRPr sz="1800" kern="1200">
                <a:solidFill>
                  <a:schemeClr val="tx1"/>
                </a:solidFill>
                <a:latin typeface="Roboto" panose="02000000000000000000"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4931BFA-6A79-4E4A-9C45-0BDD8E554429}" type="slidenum">
              <a:rPr kumimoji="1" lang="ja-JP" altLang="en-US" smtClean="0"/>
              <a:pPr/>
              <a:t>32</a:t>
            </a:fld>
            <a:endParaRPr kumimoji="1" lang="ja-JP" altLang="en-US"/>
          </a:p>
        </p:txBody>
      </p:sp>
      <p:pic>
        <p:nvPicPr>
          <p:cNvPr id="12" name="図 7" descr="赤い背景と白い文字&#10;&#10;低い精度で自動的に生成された説明">
            <a:extLst>
              <a:ext uri="{FF2B5EF4-FFF2-40B4-BE49-F238E27FC236}">
                <a16:creationId xmlns:a16="http://schemas.microsoft.com/office/drawing/2014/main" id="{0F4E09F2-C7DE-40EF-B9EB-5E8CDB4D19A7}"/>
              </a:ext>
            </a:extLst>
          </p:cNvPr>
          <p:cNvPicPr>
            <a:picLocks noChangeAspect="1"/>
          </p:cNvPicPr>
          <p:nvPr/>
        </p:nvPicPr>
        <p:blipFill>
          <a:blip r:embed="rId6"/>
          <a:stretch>
            <a:fillRect/>
          </a:stretch>
        </p:blipFill>
        <p:spPr>
          <a:xfrm>
            <a:off x="0" y="3645828"/>
            <a:ext cx="3144384" cy="1069046"/>
          </a:xfrm>
          <a:prstGeom prst="rect">
            <a:avLst/>
          </a:prstGeom>
        </p:spPr>
      </p:pic>
      <p:pic>
        <p:nvPicPr>
          <p:cNvPr id="13" name="図 8" descr="背景パターン&#10;&#10;中程度の精度で自動的に生成された説明">
            <a:extLst>
              <a:ext uri="{FF2B5EF4-FFF2-40B4-BE49-F238E27FC236}">
                <a16:creationId xmlns:a16="http://schemas.microsoft.com/office/drawing/2014/main" id="{630B595C-57B8-4194-A454-9FACCC3E259F}"/>
              </a:ext>
            </a:extLst>
          </p:cNvPr>
          <p:cNvPicPr>
            <a:picLocks noChangeAspect="1"/>
          </p:cNvPicPr>
          <p:nvPr/>
        </p:nvPicPr>
        <p:blipFill>
          <a:blip r:embed="rId7"/>
          <a:stretch>
            <a:fillRect/>
          </a:stretch>
        </p:blipFill>
        <p:spPr>
          <a:xfrm>
            <a:off x="6485038" y="3645829"/>
            <a:ext cx="2658962" cy="1069046"/>
          </a:xfrm>
          <a:prstGeom prst="rect">
            <a:avLst/>
          </a:prstGeom>
        </p:spPr>
      </p:pic>
      <p:pic>
        <p:nvPicPr>
          <p:cNvPr id="14" name="図 9">
            <a:extLst>
              <a:ext uri="{FF2B5EF4-FFF2-40B4-BE49-F238E27FC236}">
                <a16:creationId xmlns:a16="http://schemas.microsoft.com/office/drawing/2014/main" id="{4A4F13FD-B675-48DB-AAE1-65DF25AEFEB7}"/>
              </a:ext>
            </a:extLst>
          </p:cNvPr>
          <p:cNvPicPr>
            <a:picLocks noChangeAspect="1"/>
          </p:cNvPicPr>
          <p:nvPr/>
        </p:nvPicPr>
        <p:blipFill>
          <a:blip r:embed="rId8"/>
          <a:stretch>
            <a:fillRect/>
          </a:stretch>
        </p:blipFill>
        <p:spPr>
          <a:xfrm>
            <a:off x="0" y="4714875"/>
            <a:ext cx="9144000" cy="428625"/>
          </a:xfrm>
          <a:prstGeom prst="rect">
            <a:avLst/>
          </a:prstGeom>
        </p:spPr>
      </p:pic>
      <p:pic>
        <p:nvPicPr>
          <p:cNvPr id="15" name="図 10" descr="スポーツゲーム が含まれている画像&#10;&#10;自動的に生成された説明">
            <a:extLst>
              <a:ext uri="{FF2B5EF4-FFF2-40B4-BE49-F238E27FC236}">
                <a16:creationId xmlns:a16="http://schemas.microsoft.com/office/drawing/2014/main" id="{9E06DFA0-383B-4D0D-BDB3-2DD1679D8C9D}"/>
              </a:ext>
            </a:extLst>
          </p:cNvPr>
          <p:cNvPicPr>
            <a:picLocks noChangeAspect="1"/>
          </p:cNvPicPr>
          <p:nvPr/>
        </p:nvPicPr>
        <p:blipFill>
          <a:blip r:embed="rId9"/>
          <a:stretch>
            <a:fillRect/>
          </a:stretch>
        </p:blipFill>
        <p:spPr>
          <a:xfrm>
            <a:off x="5378823" y="3784973"/>
            <a:ext cx="2825803" cy="933860"/>
          </a:xfrm>
          <a:prstGeom prst="rect">
            <a:avLst/>
          </a:prstGeom>
        </p:spPr>
      </p:pic>
      <p:pic>
        <p:nvPicPr>
          <p:cNvPr id="16" name="図 11" descr="ロゴ が含まれている画像&#10;&#10;自動的に生成された説明">
            <a:extLst>
              <a:ext uri="{FF2B5EF4-FFF2-40B4-BE49-F238E27FC236}">
                <a16:creationId xmlns:a16="http://schemas.microsoft.com/office/drawing/2014/main" id="{20AA403A-DF0A-4257-A63B-BB00442BB5EE}"/>
              </a:ext>
            </a:extLst>
          </p:cNvPr>
          <p:cNvPicPr>
            <a:picLocks noChangeAspect="1"/>
          </p:cNvPicPr>
          <p:nvPr/>
        </p:nvPicPr>
        <p:blipFill>
          <a:blip r:embed="rId10"/>
          <a:stretch>
            <a:fillRect/>
          </a:stretch>
        </p:blipFill>
        <p:spPr>
          <a:xfrm>
            <a:off x="1143000" y="4139137"/>
            <a:ext cx="716038" cy="748513"/>
          </a:xfrm>
          <a:prstGeom prst="rect">
            <a:avLst/>
          </a:prstGeom>
        </p:spPr>
      </p:pic>
      <p:pic>
        <p:nvPicPr>
          <p:cNvPr id="17" name="图片 16">
            <a:extLst>
              <a:ext uri="{FF2B5EF4-FFF2-40B4-BE49-F238E27FC236}">
                <a16:creationId xmlns:a16="http://schemas.microsoft.com/office/drawing/2014/main" id="{7AF3E8AD-407B-4B24-8302-F5619775A96A}"/>
              </a:ext>
            </a:extLst>
          </p:cNvPr>
          <p:cNvPicPr>
            <a:picLocks noChangeAspect="1"/>
          </p:cNvPicPr>
          <p:nvPr/>
        </p:nvPicPr>
        <p:blipFill>
          <a:blip r:embed="rId11"/>
          <a:stretch>
            <a:fillRect/>
          </a:stretch>
        </p:blipFill>
        <p:spPr>
          <a:xfrm>
            <a:off x="6706887" y="1626080"/>
            <a:ext cx="1620899" cy="1620899"/>
          </a:xfrm>
          <a:prstGeom prst="rect">
            <a:avLst/>
          </a:prstGeom>
        </p:spPr>
      </p:pic>
    </p:spTree>
    <p:extLst>
      <p:ext uri="{BB962C8B-B14F-4D97-AF65-F5344CB8AC3E}">
        <p14:creationId xmlns:p14="http://schemas.microsoft.com/office/powerpoint/2010/main" val="39155116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5141</TotalTime>
  <Words>2069</Words>
  <Application>Microsoft Office PowerPoint</Application>
  <PresentationFormat>全屏显示(16:9)</PresentationFormat>
  <Paragraphs>293</Paragraphs>
  <Slides>32</Slides>
  <Notes>32</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LinLibertineT</vt:lpstr>
      <vt:lpstr>游ゴシック</vt:lpstr>
      <vt:lpstr>等线</vt:lpstr>
      <vt:lpstr>思源宋体 CN Medium</vt:lpstr>
      <vt:lpstr>微软雅黑</vt:lpstr>
      <vt:lpstr>Arial</vt:lpstr>
      <vt:lpstr>Calibri</vt:lpstr>
      <vt:lpstr>Cambria Math</vt:lpstr>
      <vt:lpstr>Roboto</vt:lpstr>
      <vt:lpstr>Office テーマ</vt:lpstr>
      <vt:lpstr>Seeing Through the Overlap:  The Impact of Color and Opacity on Depth Order Perception in Visualization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Results | Performance</vt:lpstr>
      <vt:lpstr>Results | Feature importance</vt:lpstr>
      <vt:lpstr>Results | Sensitivity Analysis</vt:lpstr>
      <vt:lpstr>Results | Design Tool</vt:lpstr>
      <vt:lpstr>PowerPoint 演示文稿</vt:lpstr>
      <vt:lpstr>PowerPoint 演示文稿</vt:lpstr>
      <vt:lpstr>Design Guidelines</vt:lpstr>
      <vt:lpstr>Practical Application</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祐佳 犛山</dc:creator>
  <cp:lastModifiedBy>致远 孟</cp:lastModifiedBy>
  <cp:revision>977</cp:revision>
  <dcterms:created xsi:type="dcterms:W3CDTF">2024-07-31T08:54:03Z</dcterms:created>
  <dcterms:modified xsi:type="dcterms:W3CDTF">2025-03-10T14:43:47Z</dcterms:modified>
</cp:coreProperties>
</file>